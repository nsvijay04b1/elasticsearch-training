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828800"/>
            <a:ext cx="10058400" cy="1371600"/>
          </a:xfrm>
          <a:prstGeom prst="rect">
            <a:avLst/>
          </a:prstGeom>
          <a:noFill/>
        </p:spPr>
        <p:txBody>
          <a:bodyPr wrap="none">
            <a:spAutoFit/>
          </a:bodyPr>
          <a:lstStyle/>
          <a:p>
            <a:pPr algn="ctr">
              <a:defRPr sz="4400" b="1">
                <a:solidFill>
                  <a:srgbClr val="FFFFFF"/>
                </a:solidFill>
              </a:defRPr>
            </a:pPr>
            <a:r>
              <a:t>Elasticsearch Expert Training</a:t>
            </a:r>
          </a:p>
        </p:txBody>
      </p:sp>
      <p:sp>
        <p:nvSpPr>
          <p:cNvPr id="3" name="TextBox 2"/>
          <p:cNvSpPr txBox="1"/>
          <p:nvPr/>
        </p:nvSpPr>
        <p:spPr>
          <a:xfrm>
            <a:off x="914400" y="3200400"/>
            <a:ext cx="10058400" cy="914400"/>
          </a:xfrm>
          <a:prstGeom prst="rect">
            <a:avLst/>
          </a:prstGeom>
          <a:noFill/>
        </p:spPr>
        <p:txBody>
          <a:bodyPr wrap="none">
            <a:spAutoFit/>
          </a:bodyPr>
          <a:lstStyle/>
          <a:p>
            <a:pPr algn="ctr">
              <a:defRPr sz="2400">
                <a:solidFill>
                  <a:srgbClr val="00BBD4"/>
                </a:solidFill>
              </a:defRPr>
            </a:pPr>
            <a:r>
              <a:t>Hands-On Lab Slides — Labs 1 through 21</a:t>
            </a:r>
          </a:p>
        </p:txBody>
      </p:sp>
      <p:sp>
        <p:nvSpPr>
          <p:cNvPr id="4" name="TextBox 3"/>
          <p:cNvSpPr txBox="1"/>
          <p:nvPr/>
        </p:nvSpPr>
        <p:spPr>
          <a:xfrm>
            <a:off x="914400" y="4572000"/>
            <a:ext cx="10058400" cy="457200"/>
          </a:xfrm>
          <a:prstGeom prst="rect">
            <a:avLst/>
          </a:prstGeom>
          <a:noFill/>
        </p:spPr>
        <p:txBody>
          <a:bodyPr wrap="none">
            <a:spAutoFit/>
          </a:bodyPr>
          <a:lstStyle/>
          <a:p>
            <a:pPr algn="ctr">
              <a:defRPr sz="1600" i="1">
                <a:solidFill>
                  <a:srgbClr val="BBBBBB"/>
                </a:solidFill>
              </a:defRPr>
            </a:pPr>
            <a:r>
              <a:t>github.com/nsvijay04b1/elasticsearch-training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371600"/>
            <a:ext cx="10058400" cy="1097280"/>
          </a:xfrm>
          <a:prstGeom prst="rect">
            <a:avLst/>
          </a:prstGeom>
          <a:noFill/>
        </p:spPr>
        <p:txBody>
          <a:bodyPr wrap="none">
            <a:spAutoFit/>
          </a:bodyPr>
          <a:lstStyle/>
          <a:p>
            <a:pPr algn="ctr">
              <a:defRPr sz="3600" b="1">
                <a:solidFill>
                  <a:srgbClr val="00BBD4"/>
                </a:solidFill>
              </a:defRPr>
            </a:pPr>
            <a:r>
              <a:t>Module 1: Architecture, Indices, Shards</a:t>
            </a:r>
          </a:p>
        </p:txBody>
      </p:sp>
      <p:sp>
        <p:nvSpPr>
          <p:cNvPr id="3" name="Rectangle 2"/>
          <p:cNvSpPr/>
          <p:nvPr/>
        </p:nvSpPr>
        <p:spPr>
          <a:xfrm>
            <a:off x="2743200" y="2560320"/>
            <a:ext cx="6400800" cy="381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017520"/>
            <a:ext cx="8229600" cy="365760"/>
          </a:xfrm>
          <a:prstGeom prst="rect">
            <a:avLst/>
          </a:prstGeom>
          <a:noFill/>
        </p:spPr>
        <p:txBody>
          <a:bodyPr wrap="none">
            <a:spAutoFit/>
          </a:bodyPr>
          <a:lstStyle/>
          <a:p>
            <a:pPr>
              <a:defRPr sz="2000">
                <a:solidFill>
                  <a:srgbClr val="FFFFFF"/>
                </a:solidFill>
              </a:defRPr>
            </a:pPr>
            <a:r>
              <a:t>Lab 1:  Exploring JSON and REST APIs</a:t>
            </a:r>
          </a:p>
        </p:txBody>
      </p:sp>
      <p:sp>
        <p:nvSpPr>
          <p:cNvPr id="5" name="TextBox 4"/>
          <p:cNvSpPr txBox="1"/>
          <p:nvPr/>
        </p:nvSpPr>
        <p:spPr>
          <a:xfrm>
            <a:off x="1828800" y="3474720"/>
            <a:ext cx="8229600" cy="365760"/>
          </a:xfrm>
          <a:prstGeom prst="rect">
            <a:avLst/>
          </a:prstGeom>
          <a:noFill/>
        </p:spPr>
        <p:txBody>
          <a:bodyPr wrap="none">
            <a:spAutoFit/>
          </a:bodyPr>
          <a:lstStyle/>
          <a:p>
            <a:pPr>
              <a:defRPr sz="2000">
                <a:solidFill>
                  <a:srgbClr val="FFFFFF"/>
                </a:solidFill>
              </a:defRPr>
            </a:pPr>
            <a:r>
              <a:t>Lab 2:  Starting a Dev Node via Tarball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3000" b="1">
                <a:solidFill>
                  <a:srgbClr val="00BBD4"/>
                </a:solidFill>
              </a:defRPr>
            </a:pPr>
            <a:r>
              <a:t>Lab 1: Exploring JSON and REST APIs on Ubuntu</a:t>
            </a:r>
          </a:p>
        </p:txBody>
      </p:sp>
      <p:sp>
        <p:nvSpPr>
          <p:cNvPr id="3" name="Rectangle 2"/>
          <p:cNvSpPr/>
          <p:nvPr/>
        </p:nvSpPr>
        <p:spPr>
          <a:xfrm>
            <a:off x="731520" y="1371600"/>
            <a:ext cx="10515600" cy="254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2743200" cy="365760"/>
          </a:xfrm>
          <a:prstGeom prst="rect">
            <a:avLst/>
          </a:prstGeom>
          <a:noFill/>
        </p:spPr>
        <p:txBody>
          <a:bodyPr wrap="none">
            <a:spAutoFit/>
          </a:bodyPr>
          <a:lstStyle/>
          <a:p>
            <a:pPr>
              <a:defRPr sz="2200" b="1">
                <a:solidFill>
                  <a:srgbClr val="FFA726"/>
                </a:solidFill>
              </a:defRPr>
            </a:pPr>
            <a:r>
              <a:t>🎯  Goal</a:t>
            </a:r>
          </a:p>
        </p:txBody>
      </p:sp>
      <p:sp>
        <p:nvSpPr>
          <p:cNvPr id="5" name="TextBox 4"/>
          <p:cNvSpPr txBox="1"/>
          <p:nvPr/>
        </p:nvSpPr>
        <p:spPr>
          <a:xfrm>
            <a:off x="1097280" y="2057400"/>
            <a:ext cx="10058400" cy="914400"/>
          </a:xfrm>
          <a:prstGeom prst="rect">
            <a:avLst/>
          </a:prstGeom>
          <a:noFill/>
        </p:spPr>
        <p:txBody>
          <a:bodyPr wrap="square">
            <a:spAutoFit/>
          </a:bodyPr>
          <a:lstStyle/>
          <a:p>
            <a:pPr>
              <a:defRPr sz="1600">
                <a:solidFill>
                  <a:srgbClr val="FFFFFF"/>
                </a:solidFill>
              </a:defRPr>
            </a:pPr>
            <a:r>
              <a:t>Verify the Ubuntu environment is correctly set up, ensure `curl` and `jq` are working, and practice the basic REST interactions over HTTP needed to interface with Elasticsearch.</a:t>
            </a:r>
          </a:p>
        </p:txBody>
      </p:sp>
      <p:sp>
        <p:nvSpPr>
          <p:cNvPr id="6" name="TextBox 5"/>
          <p:cNvSpPr txBox="1"/>
          <p:nvPr/>
        </p:nvSpPr>
        <p:spPr>
          <a:xfrm>
            <a:off x="731520" y="3063240"/>
            <a:ext cx="3657600" cy="365760"/>
          </a:xfrm>
          <a:prstGeom prst="rect">
            <a:avLst/>
          </a:prstGeom>
          <a:noFill/>
        </p:spPr>
        <p:txBody>
          <a:bodyPr wrap="none">
            <a:spAutoFit/>
          </a:bodyPr>
          <a:lstStyle/>
          <a:p>
            <a:pPr>
              <a:defRPr sz="2200" b="1">
                <a:solidFill>
                  <a:srgbClr val="FFA726"/>
                </a:solidFill>
              </a:defRPr>
            </a:pPr>
            <a:r>
              <a:t>📋  Scenario</a:t>
            </a:r>
          </a:p>
        </p:txBody>
      </p:sp>
      <p:sp>
        <p:nvSpPr>
          <p:cNvPr id="7" name="TextBox 6"/>
          <p:cNvSpPr txBox="1"/>
          <p:nvPr/>
        </p:nvSpPr>
        <p:spPr>
          <a:xfrm>
            <a:off x="1097280" y="3474720"/>
            <a:ext cx="10058400" cy="1828800"/>
          </a:xfrm>
          <a:prstGeom prst="rect">
            <a:avLst/>
          </a:prstGeom>
          <a:noFill/>
        </p:spPr>
        <p:txBody>
          <a:bodyPr wrap="square">
            <a:spAutoFit/>
          </a:bodyPr>
          <a:lstStyle/>
          <a:p>
            <a:pPr>
              <a:defRPr sz="1400">
                <a:solidFill>
                  <a:srgbClr val="BBBBBB"/>
                </a:solidFill>
              </a:defRPr>
            </a:pPr>
            <a:r>
              <a:t>Before beginning interaction with a live cluster, you need to understand the basic document format (JSON) and how to submit data payload via terminal using standard HTTP verbs.</a:t>
            </a:r>
          </a:p>
        </p:txBody>
      </p:sp>
      <p:sp>
        <p:nvSpPr>
          <p:cNvPr id="8" name="TextBox 7"/>
          <p:cNvSpPr txBox="1"/>
          <p:nvPr/>
        </p:nvSpPr>
        <p:spPr>
          <a:xfrm>
            <a:off x="731520" y="4846320"/>
            <a:ext cx="3657600" cy="365760"/>
          </a:xfrm>
          <a:prstGeom prst="rect">
            <a:avLst/>
          </a:prstGeom>
          <a:noFill/>
        </p:spPr>
        <p:txBody>
          <a:bodyPr wrap="none">
            <a:spAutoFit/>
          </a:bodyPr>
          <a:lstStyle/>
          <a:p>
            <a:pPr>
              <a:defRPr sz="1800" b="1">
                <a:solidFill>
                  <a:srgbClr val="66BB6A"/>
                </a:solidFill>
              </a:defRPr>
            </a:pPr>
            <a:r>
              <a:t>⚡  Prerequisites</a:t>
            </a:r>
          </a:p>
        </p:txBody>
      </p:sp>
      <p:sp>
        <p:nvSpPr>
          <p:cNvPr id="9" name="TextBox 8"/>
          <p:cNvSpPr txBox="1"/>
          <p:nvPr/>
        </p:nvSpPr>
        <p:spPr>
          <a:xfrm>
            <a:off x="1097280" y="5212080"/>
            <a:ext cx="10058400" cy="731520"/>
          </a:xfrm>
          <a:prstGeom prst="rect">
            <a:avLst/>
          </a:prstGeom>
          <a:noFill/>
        </p:spPr>
        <p:txBody>
          <a:bodyPr wrap="square">
            <a:spAutoFit/>
          </a:bodyPr>
          <a:lstStyle/>
          <a:p>
            <a:pPr>
              <a:defRPr sz="1400">
                <a:solidFill>
                  <a:srgbClr val="BBBBBB"/>
                </a:solidFill>
              </a:defRPr>
            </a:pPr>
            <a:r>
              <a:t>• You must be logged into your provided Ubuntu VM.</a:t>
            </a:r>
            <a:br/>
            <a:r>
              <a:t>• Ensure you have a working internet connection.</a:t>
            </a:r>
            <a:br/>
            <a:r>
              <a:t>• You must have administrative (`sudo`) privileges.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 Exploring JSON and REST APIs on Ubuntu</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Install Required Tools</a:t>
            </a:r>
          </a:p>
        </p:txBody>
      </p:sp>
      <p:sp>
        <p:nvSpPr>
          <p:cNvPr id="5" name="TextBox 4"/>
          <p:cNvSpPr txBox="1"/>
          <p:nvPr/>
        </p:nvSpPr>
        <p:spPr>
          <a:xfrm>
            <a:off x="914400" y="1280160"/>
            <a:ext cx="10515600" cy="292608"/>
          </a:xfrm>
          <a:prstGeom prst="rect">
            <a:avLst/>
          </a:prstGeom>
          <a:noFill/>
        </p:spPr>
        <p:txBody>
          <a:bodyPr wrap="square">
            <a:spAutoFit/>
          </a:bodyPr>
          <a:lstStyle/>
          <a:p>
            <a:pPr>
              <a:defRPr sz="1300">
                <a:solidFill>
                  <a:srgbClr val="80FF80"/>
                </a:solidFill>
                <a:latin typeface="Courier New"/>
              </a:defRPr>
            </a:pPr>
            <a:r>
              <a:t>sudo apt-get update &amp;&amp; sudo apt-get install -y curl jq</a:t>
            </a:r>
          </a:p>
        </p:txBody>
      </p:sp>
      <p:sp>
        <p:nvSpPr>
          <p:cNvPr id="6" name="TextBox 5"/>
          <p:cNvSpPr txBox="1"/>
          <p:nvPr/>
        </p:nvSpPr>
        <p:spPr>
          <a:xfrm>
            <a:off x="457200" y="1801367"/>
            <a:ext cx="10972800" cy="320040"/>
          </a:xfrm>
          <a:prstGeom prst="rect">
            <a:avLst/>
          </a:prstGeom>
          <a:noFill/>
        </p:spPr>
        <p:txBody>
          <a:bodyPr wrap="none">
            <a:spAutoFit/>
          </a:bodyPr>
          <a:lstStyle/>
          <a:p>
            <a:pPr>
              <a:defRPr sz="1700" b="1">
                <a:solidFill>
                  <a:srgbClr val="FFA726"/>
                </a:solidFill>
              </a:defRPr>
            </a:pPr>
            <a:r>
              <a:t>▸  Verify `curl` is installed</a:t>
            </a:r>
          </a:p>
        </p:txBody>
      </p:sp>
      <p:sp>
        <p:nvSpPr>
          <p:cNvPr id="7" name="TextBox 6"/>
          <p:cNvSpPr txBox="1"/>
          <p:nvPr/>
        </p:nvSpPr>
        <p:spPr>
          <a:xfrm>
            <a:off x="914400" y="2167127"/>
            <a:ext cx="10515600" cy="548640"/>
          </a:xfrm>
          <a:prstGeom prst="rect">
            <a:avLst/>
          </a:prstGeom>
          <a:noFill/>
        </p:spPr>
        <p:txBody>
          <a:bodyPr wrap="square">
            <a:spAutoFit/>
          </a:bodyPr>
          <a:lstStyle/>
          <a:p>
            <a:pPr>
              <a:defRPr sz="1300">
                <a:solidFill>
                  <a:srgbClr val="BBBBBB"/>
                </a:solidFill>
              </a:defRPr>
            </a:pPr>
            <a:r>
              <a:t>Expected Output:</a:t>
            </a:r>
          </a:p>
        </p:txBody>
      </p:sp>
      <p:sp>
        <p:nvSpPr>
          <p:cNvPr id="8" name="TextBox 7"/>
          <p:cNvSpPr txBox="1"/>
          <p:nvPr/>
        </p:nvSpPr>
        <p:spPr>
          <a:xfrm>
            <a:off x="914400" y="2624327"/>
            <a:ext cx="10515600" cy="292608"/>
          </a:xfrm>
          <a:prstGeom prst="rect">
            <a:avLst/>
          </a:prstGeom>
          <a:noFill/>
        </p:spPr>
        <p:txBody>
          <a:bodyPr wrap="square">
            <a:spAutoFit/>
          </a:bodyPr>
          <a:lstStyle/>
          <a:p>
            <a:pPr>
              <a:defRPr sz="1300">
                <a:solidFill>
                  <a:srgbClr val="80FF80"/>
                </a:solidFill>
                <a:latin typeface="Courier New"/>
              </a:defRPr>
            </a:pPr>
            <a:r>
              <a:t>curl --version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 Exploring JSON and REST APIs on Ubuntu</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Create a sample JSON document</a:t>
            </a:r>
          </a:p>
        </p:txBody>
      </p:sp>
      <p:sp>
        <p:nvSpPr>
          <p:cNvPr id="5" name="TextBox 4"/>
          <p:cNvSpPr txBox="1"/>
          <p:nvPr/>
        </p:nvSpPr>
        <p:spPr>
          <a:xfrm>
            <a:off x="914400" y="1280160"/>
            <a:ext cx="10515600" cy="292608"/>
          </a:xfrm>
          <a:prstGeom prst="rect">
            <a:avLst/>
          </a:prstGeom>
          <a:noFill/>
        </p:spPr>
        <p:txBody>
          <a:bodyPr wrap="square">
            <a:spAutoFit/>
          </a:bodyPr>
          <a:lstStyle/>
          <a:p>
            <a:pPr>
              <a:defRPr sz="1300">
                <a:solidFill>
                  <a:srgbClr val="80FF80"/>
                </a:solidFill>
                <a:latin typeface="Courier New"/>
              </a:defRPr>
            </a:pPr>
            <a:r>
              <a:t>echo '{"title": "Introduction to Elasticsearch", "author": "Trainer", "year": 2024}' &gt; doc1.json</a:t>
            </a:r>
          </a:p>
        </p:txBody>
      </p:sp>
      <p:sp>
        <p:nvSpPr>
          <p:cNvPr id="6" name="TextBox 5"/>
          <p:cNvSpPr txBox="1"/>
          <p:nvPr/>
        </p:nvSpPr>
        <p:spPr>
          <a:xfrm>
            <a:off x="457200" y="1801367"/>
            <a:ext cx="10972800" cy="320040"/>
          </a:xfrm>
          <a:prstGeom prst="rect">
            <a:avLst/>
          </a:prstGeom>
          <a:noFill/>
        </p:spPr>
        <p:txBody>
          <a:bodyPr wrap="none">
            <a:spAutoFit/>
          </a:bodyPr>
          <a:lstStyle/>
          <a:p>
            <a:pPr>
              <a:defRPr sz="1700" b="1">
                <a:solidFill>
                  <a:srgbClr val="FFA726"/>
                </a:solidFill>
              </a:defRPr>
            </a:pPr>
            <a:r>
              <a:t>▸  Use `jq` to pretty-print JSON</a:t>
            </a:r>
          </a:p>
        </p:txBody>
      </p:sp>
      <p:sp>
        <p:nvSpPr>
          <p:cNvPr id="7" name="TextBox 6"/>
          <p:cNvSpPr txBox="1"/>
          <p:nvPr/>
        </p:nvSpPr>
        <p:spPr>
          <a:xfrm>
            <a:off x="914400" y="2167127"/>
            <a:ext cx="10515600" cy="548640"/>
          </a:xfrm>
          <a:prstGeom prst="rect">
            <a:avLst/>
          </a:prstGeom>
          <a:noFill/>
        </p:spPr>
        <p:txBody>
          <a:bodyPr wrap="square">
            <a:spAutoFit/>
          </a:bodyPr>
          <a:lstStyle/>
          <a:p>
            <a:pPr>
              <a:defRPr sz="1300">
                <a:solidFill>
                  <a:srgbClr val="BBBBBB"/>
                </a:solidFill>
              </a:defRPr>
            </a:pPr>
            <a:r>
              <a:t>jq is a lightweight command-line JSON processor installed in Step 1. Expected Output:</a:t>
            </a:r>
          </a:p>
        </p:txBody>
      </p:sp>
      <p:sp>
        <p:nvSpPr>
          <p:cNvPr id="8" name="TextBox 7"/>
          <p:cNvSpPr txBox="1"/>
          <p:nvPr/>
        </p:nvSpPr>
        <p:spPr>
          <a:xfrm>
            <a:off x="914400" y="2624327"/>
            <a:ext cx="10515600" cy="292608"/>
          </a:xfrm>
          <a:prstGeom prst="rect">
            <a:avLst/>
          </a:prstGeom>
          <a:noFill/>
        </p:spPr>
        <p:txBody>
          <a:bodyPr wrap="square">
            <a:spAutoFit/>
          </a:bodyPr>
          <a:lstStyle/>
          <a:p>
            <a:pPr>
              <a:defRPr sz="1300">
                <a:solidFill>
                  <a:srgbClr val="80FF80"/>
                </a:solidFill>
                <a:latin typeface="Courier New"/>
              </a:defRPr>
            </a:pPr>
            <a:r>
              <a:t>cat doc1.json | jq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 Exploring JSON and REST APIs on Ubuntu</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Practice HTTP Verbs with a Public Test API</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Before touching Elasticsearch, let's practice the 4 core HTTP verbs against a free echo API. GET — Retrieve data: Expected Output: "https://httpbin.org/get" POST — Send data: Expected Output: PUT — Replace data: Expected</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curl -s https://httpbin.org/get | jq .url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3000" b="1">
                <a:solidFill>
                  <a:srgbClr val="00BBD4"/>
                </a:solidFill>
              </a:defRPr>
            </a:pPr>
            <a:r>
              <a:t>Lab 2: Starting a Temporary Dev Node via Tarball</a:t>
            </a:r>
          </a:p>
        </p:txBody>
      </p:sp>
      <p:sp>
        <p:nvSpPr>
          <p:cNvPr id="3" name="Rectangle 2"/>
          <p:cNvSpPr/>
          <p:nvPr/>
        </p:nvSpPr>
        <p:spPr>
          <a:xfrm>
            <a:off x="731520" y="1371600"/>
            <a:ext cx="10515600" cy="254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2743200" cy="365760"/>
          </a:xfrm>
          <a:prstGeom prst="rect">
            <a:avLst/>
          </a:prstGeom>
          <a:noFill/>
        </p:spPr>
        <p:txBody>
          <a:bodyPr wrap="none">
            <a:spAutoFit/>
          </a:bodyPr>
          <a:lstStyle/>
          <a:p>
            <a:pPr>
              <a:defRPr sz="2200" b="1">
                <a:solidFill>
                  <a:srgbClr val="FFA726"/>
                </a:solidFill>
              </a:defRPr>
            </a:pPr>
            <a:r>
              <a:t>🎯  Goal</a:t>
            </a:r>
          </a:p>
        </p:txBody>
      </p:sp>
      <p:sp>
        <p:nvSpPr>
          <p:cNvPr id="5" name="TextBox 4"/>
          <p:cNvSpPr txBox="1"/>
          <p:nvPr/>
        </p:nvSpPr>
        <p:spPr>
          <a:xfrm>
            <a:off x="1097280" y="2057400"/>
            <a:ext cx="10058400" cy="914400"/>
          </a:xfrm>
          <a:prstGeom prst="rect">
            <a:avLst/>
          </a:prstGeom>
          <a:noFill/>
        </p:spPr>
        <p:txBody>
          <a:bodyPr wrap="square">
            <a:spAutoFit/>
          </a:bodyPr>
          <a:lstStyle/>
          <a:p>
            <a:pPr>
              <a:defRPr sz="1600">
                <a:solidFill>
                  <a:srgbClr val="FFFFFF"/>
                </a:solidFill>
              </a:defRPr>
            </a:pPr>
            <a:r>
              <a:t>Run a temporary single-node development cluster on your Ubuntu machine without performing a system-wide installation.</a:t>
            </a:r>
          </a:p>
        </p:txBody>
      </p:sp>
      <p:sp>
        <p:nvSpPr>
          <p:cNvPr id="6" name="TextBox 5"/>
          <p:cNvSpPr txBox="1"/>
          <p:nvPr/>
        </p:nvSpPr>
        <p:spPr>
          <a:xfrm>
            <a:off x="731520" y="3063240"/>
            <a:ext cx="3657600" cy="365760"/>
          </a:xfrm>
          <a:prstGeom prst="rect">
            <a:avLst/>
          </a:prstGeom>
          <a:noFill/>
        </p:spPr>
        <p:txBody>
          <a:bodyPr wrap="none">
            <a:spAutoFit/>
          </a:bodyPr>
          <a:lstStyle/>
          <a:p>
            <a:pPr>
              <a:defRPr sz="2200" b="1">
                <a:solidFill>
                  <a:srgbClr val="FFA726"/>
                </a:solidFill>
              </a:defRPr>
            </a:pPr>
            <a:r>
              <a:t>📋  Scenario</a:t>
            </a:r>
          </a:p>
        </p:txBody>
      </p:sp>
      <p:sp>
        <p:nvSpPr>
          <p:cNvPr id="7" name="TextBox 6"/>
          <p:cNvSpPr txBox="1"/>
          <p:nvPr/>
        </p:nvSpPr>
        <p:spPr>
          <a:xfrm>
            <a:off x="1097280" y="3474720"/>
            <a:ext cx="10058400" cy="1828800"/>
          </a:xfrm>
          <a:prstGeom prst="rect">
            <a:avLst/>
          </a:prstGeom>
          <a:noFill/>
        </p:spPr>
        <p:txBody>
          <a:bodyPr wrap="square">
            <a:spAutoFit/>
          </a:bodyPr>
          <a:lstStyle/>
          <a:p>
            <a:pPr>
              <a:defRPr sz="1400">
                <a:solidFill>
                  <a:srgbClr val="BBBBBB"/>
                </a:solidFill>
              </a:defRPr>
            </a:pPr>
            <a:r>
              <a:t>Why are we doing this? Before committing to installing Elasticsearch as a background `systemctl` service (which we will do properly in Lab 3), it is highly educational to quickly spin up a node in the foreground via a Tarball. This allows you to directly observe its startup logs, thread creation, and architecture bootstrapping happen locally before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2: Starting a Temporary Dev Node via Tarball</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Download the Linux Tar Archive</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For standard x86/Intel/AMD machines:        For ARM-based machines (e.g., Apple Silicon Mac M1/M2/M3 running an Ubuntu VM):</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wget https://artifacts.elastic.co/downloads/elasticsearch/elasticsearch-8.10.4-linux-x86_64.tar.gz</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Extract the archive and enter the directory</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(Make sure to change the filename below if you downloaded the aarch64 version instead!)</a:t>
            </a:r>
          </a:p>
        </p:txBody>
      </p:sp>
      <p:sp>
        <p:nvSpPr>
          <p:cNvPr id="9" name="TextBox 8"/>
          <p:cNvSpPr txBox="1"/>
          <p:nvPr/>
        </p:nvSpPr>
        <p:spPr>
          <a:xfrm>
            <a:off x="914400" y="3081527"/>
            <a:ext cx="10515600" cy="493776"/>
          </a:xfrm>
          <a:prstGeom prst="rect">
            <a:avLst/>
          </a:prstGeom>
          <a:noFill/>
        </p:spPr>
        <p:txBody>
          <a:bodyPr wrap="square">
            <a:spAutoFit/>
          </a:bodyPr>
          <a:lstStyle/>
          <a:p>
            <a:pPr>
              <a:defRPr sz="1300">
                <a:solidFill>
                  <a:srgbClr val="80FF80"/>
                </a:solidFill>
                <a:latin typeface="Courier New"/>
              </a:defRPr>
            </a:pPr>
            <a:r>
              <a:t>tar -xzf elasticsearch-8.10.4-linux-x86_64.tar.gz</a:t>
            </a:r>
          </a:p>
          <a:p>
            <a:pPr>
              <a:defRPr sz="1300">
                <a:solidFill>
                  <a:srgbClr val="80FF80"/>
                </a:solidFill>
                <a:latin typeface="Courier New"/>
              </a:defRPr>
            </a:pPr>
            <a:r>
              <a:t>   cd elasticsearch-8.10.4/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2: Starting a Temporary Dev Node via Tarball</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Start the node in the foreground</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By running the binary directly, all logs will print directly to your terminal screen.</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./bin/elasticsearch</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Open a second terminal window (or tab)** on your Ubuntu VM.</a:t>
            </a:r>
            <a:br/>
            <a:r>
              <a:t>   *Leave the first terminal running Elasticsearch in the foreground!*</a:t>
            </a:r>
            <a:br/>
            <a:br/>
            <a:r>
              <a:t>5. **Create an Index</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Since security is enabled by default in 8.x, we must use curl with the generated elastic password. (Replace &lt;PASSWORD&gt; with the password printed in terminal 1).</a:t>
            </a:r>
          </a:p>
        </p:txBody>
      </p:sp>
      <p:sp>
        <p:nvSpPr>
          <p:cNvPr id="9" name="TextBox 8"/>
          <p:cNvSpPr txBox="1"/>
          <p:nvPr/>
        </p:nvSpPr>
        <p:spPr>
          <a:xfrm>
            <a:off x="914400" y="3081527"/>
            <a:ext cx="10515600" cy="292608"/>
          </a:xfrm>
          <a:prstGeom prst="rect">
            <a:avLst/>
          </a:prstGeom>
          <a:noFill/>
        </p:spPr>
        <p:txBody>
          <a:bodyPr wrap="square">
            <a:spAutoFit/>
          </a:bodyPr>
          <a:lstStyle/>
          <a:p>
            <a:pPr>
              <a:defRPr sz="1300">
                <a:solidFill>
                  <a:srgbClr val="80FF80"/>
                </a:solidFill>
                <a:latin typeface="Courier New"/>
              </a:defRPr>
            </a:pPr>
            <a:r>
              <a:t>curl -X PUT "https://localhost:9200/my_test_index" --insecure -u elastic:&lt;PASSWORD&gt;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2: Starting a Temporary Dev Node via Tarball</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Query the Index</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Verify the index exists and check its settings.</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curl -X GET "https://localhost:9200/my_test_index" --insecure -u elastic:&lt;PASSWORD&gt;</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Check Shards and Replicas</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Get a visual readout of the shards allocated to your new index via the _cat/shards API.        Note: Because you only have 1 node, the Primary shard will display as STARTED, but the Replica shard will display as UNASSIGN</a:t>
            </a:r>
          </a:p>
        </p:txBody>
      </p:sp>
      <p:sp>
        <p:nvSpPr>
          <p:cNvPr id="9" name="TextBox 8"/>
          <p:cNvSpPr txBox="1"/>
          <p:nvPr/>
        </p:nvSpPr>
        <p:spPr>
          <a:xfrm>
            <a:off x="914400" y="3081527"/>
            <a:ext cx="10515600" cy="292608"/>
          </a:xfrm>
          <a:prstGeom prst="rect">
            <a:avLst/>
          </a:prstGeom>
          <a:noFill/>
        </p:spPr>
        <p:txBody>
          <a:bodyPr wrap="square">
            <a:spAutoFit/>
          </a:bodyPr>
          <a:lstStyle/>
          <a:p>
            <a:pPr>
              <a:defRPr sz="1300">
                <a:solidFill>
                  <a:srgbClr val="80FF80"/>
                </a:solidFill>
                <a:latin typeface="Courier New"/>
              </a:defRPr>
            </a:pPr>
            <a:r>
              <a:t>curl -X GET "https://localhost:9200/_cat/shards/my_test_index?v" --insecure -u elastic:&lt;PASSWORD&gt;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2: Starting a Temporary Dev Node via Tarball</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Stop the node</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Return to your FIRST terminal window and press CTRL+C to gracefully shut down Elasticsearch.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371600"/>
            <a:ext cx="10058400" cy="1097280"/>
          </a:xfrm>
          <a:prstGeom prst="rect">
            <a:avLst/>
          </a:prstGeom>
          <a:noFill/>
        </p:spPr>
        <p:txBody>
          <a:bodyPr wrap="none">
            <a:spAutoFit/>
          </a:bodyPr>
          <a:lstStyle/>
          <a:p>
            <a:pPr algn="ctr">
              <a:defRPr sz="3600" b="1">
                <a:solidFill>
                  <a:srgbClr val="00BBD4"/>
                </a:solidFill>
              </a:defRPr>
            </a:pPr>
            <a:r>
              <a:t>Module 2: HA Clusters, Troubleshooting, Upgrading</a:t>
            </a:r>
          </a:p>
        </p:txBody>
      </p:sp>
      <p:sp>
        <p:nvSpPr>
          <p:cNvPr id="3" name="Rectangle 2"/>
          <p:cNvSpPr/>
          <p:nvPr/>
        </p:nvSpPr>
        <p:spPr>
          <a:xfrm>
            <a:off x="2743200" y="2560320"/>
            <a:ext cx="6400800" cy="381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017520"/>
            <a:ext cx="8229600" cy="365760"/>
          </a:xfrm>
          <a:prstGeom prst="rect">
            <a:avLst/>
          </a:prstGeom>
          <a:noFill/>
        </p:spPr>
        <p:txBody>
          <a:bodyPr wrap="none">
            <a:spAutoFit/>
          </a:bodyPr>
          <a:lstStyle/>
          <a:p>
            <a:pPr>
              <a:defRPr sz="2000">
                <a:solidFill>
                  <a:srgbClr val="FFFFFF"/>
                </a:solidFill>
              </a:defRPr>
            </a:pPr>
            <a:r>
              <a:t>Lab 3:  Installing Elasticsearch &amp; Kibana</a:t>
            </a:r>
          </a:p>
        </p:txBody>
      </p:sp>
      <p:sp>
        <p:nvSpPr>
          <p:cNvPr id="5" name="TextBox 4"/>
          <p:cNvSpPr txBox="1"/>
          <p:nvPr/>
        </p:nvSpPr>
        <p:spPr>
          <a:xfrm>
            <a:off x="1828800" y="3474720"/>
            <a:ext cx="8229600" cy="365760"/>
          </a:xfrm>
          <a:prstGeom prst="rect">
            <a:avLst/>
          </a:prstGeom>
          <a:noFill/>
        </p:spPr>
        <p:txBody>
          <a:bodyPr wrap="none">
            <a:spAutoFit/>
          </a:bodyPr>
          <a:lstStyle/>
          <a:p>
            <a:pPr>
              <a:defRPr sz="2000">
                <a:solidFill>
                  <a:srgbClr val="FFFFFF"/>
                </a:solidFill>
              </a:defRPr>
            </a:pPr>
            <a:r>
              <a:t>Lab 4:  Configuring Security &amp; Kibana</a:t>
            </a:r>
          </a:p>
        </p:txBody>
      </p:sp>
      <p:sp>
        <p:nvSpPr>
          <p:cNvPr id="6" name="TextBox 5"/>
          <p:cNvSpPr txBox="1"/>
          <p:nvPr/>
        </p:nvSpPr>
        <p:spPr>
          <a:xfrm>
            <a:off x="1828800" y="3931920"/>
            <a:ext cx="8229600" cy="365760"/>
          </a:xfrm>
          <a:prstGeom prst="rect">
            <a:avLst/>
          </a:prstGeom>
          <a:noFill/>
        </p:spPr>
        <p:txBody>
          <a:bodyPr wrap="none">
            <a:spAutoFit/>
          </a:bodyPr>
          <a:lstStyle/>
          <a:p>
            <a:pPr>
              <a:defRPr sz="2000">
                <a:solidFill>
                  <a:srgbClr val="FFFFFF"/>
                </a:solidFill>
              </a:defRPr>
            </a:pPr>
            <a:r>
              <a:t>Lab 5:  Simulating &amp; Troubleshooting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3000" b="1">
                <a:solidFill>
                  <a:srgbClr val="00BBD4"/>
                </a:solidFill>
              </a:defRPr>
            </a:pPr>
            <a:r>
              <a:t>Lab 3: Installing Elasticsearch &amp; Kibana on Ubuntu</a:t>
            </a:r>
          </a:p>
        </p:txBody>
      </p:sp>
      <p:sp>
        <p:nvSpPr>
          <p:cNvPr id="3" name="Rectangle 2"/>
          <p:cNvSpPr/>
          <p:nvPr/>
        </p:nvSpPr>
        <p:spPr>
          <a:xfrm>
            <a:off x="731520" y="1371600"/>
            <a:ext cx="10515600" cy="254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2743200" cy="365760"/>
          </a:xfrm>
          <a:prstGeom prst="rect">
            <a:avLst/>
          </a:prstGeom>
          <a:noFill/>
        </p:spPr>
        <p:txBody>
          <a:bodyPr wrap="none">
            <a:spAutoFit/>
          </a:bodyPr>
          <a:lstStyle/>
          <a:p>
            <a:pPr>
              <a:defRPr sz="2200" b="1">
                <a:solidFill>
                  <a:srgbClr val="FFA726"/>
                </a:solidFill>
              </a:defRPr>
            </a:pPr>
            <a:r>
              <a:t>🎯  Goal</a:t>
            </a:r>
          </a:p>
        </p:txBody>
      </p:sp>
      <p:sp>
        <p:nvSpPr>
          <p:cNvPr id="5" name="TextBox 4"/>
          <p:cNvSpPr txBox="1"/>
          <p:nvPr/>
        </p:nvSpPr>
        <p:spPr>
          <a:xfrm>
            <a:off x="1097280" y="2057400"/>
            <a:ext cx="10058400" cy="914400"/>
          </a:xfrm>
          <a:prstGeom prst="rect">
            <a:avLst/>
          </a:prstGeom>
          <a:noFill/>
        </p:spPr>
        <p:txBody>
          <a:bodyPr wrap="square">
            <a:spAutoFit/>
          </a:bodyPr>
          <a:lstStyle/>
          <a:p>
            <a:pPr>
              <a:defRPr sz="1600">
                <a:solidFill>
                  <a:srgbClr val="FFFFFF"/>
                </a:solidFill>
              </a:defRPr>
            </a:pPr>
            <a:r>
              <a:t>Install and start a single-node development Elasticsearch cluster alongside its visualization engine, Kibana.</a:t>
            </a:r>
          </a:p>
        </p:txBody>
      </p:sp>
      <p:sp>
        <p:nvSpPr>
          <p:cNvPr id="6" name="TextBox 5"/>
          <p:cNvSpPr txBox="1"/>
          <p:nvPr/>
        </p:nvSpPr>
        <p:spPr>
          <a:xfrm>
            <a:off x="731520" y="3063240"/>
            <a:ext cx="3657600" cy="365760"/>
          </a:xfrm>
          <a:prstGeom prst="rect">
            <a:avLst/>
          </a:prstGeom>
          <a:noFill/>
        </p:spPr>
        <p:txBody>
          <a:bodyPr wrap="none">
            <a:spAutoFit/>
          </a:bodyPr>
          <a:lstStyle/>
          <a:p>
            <a:pPr>
              <a:defRPr sz="2200" b="1">
                <a:solidFill>
                  <a:srgbClr val="FFA726"/>
                </a:solidFill>
              </a:defRPr>
            </a:pPr>
            <a:r>
              <a:t>📋  Scenario</a:t>
            </a:r>
          </a:p>
        </p:txBody>
      </p:sp>
      <p:sp>
        <p:nvSpPr>
          <p:cNvPr id="7" name="TextBox 6"/>
          <p:cNvSpPr txBox="1"/>
          <p:nvPr/>
        </p:nvSpPr>
        <p:spPr>
          <a:xfrm>
            <a:off x="1097280" y="3474720"/>
            <a:ext cx="10058400" cy="1828800"/>
          </a:xfrm>
          <a:prstGeom prst="rect">
            <a:avLst/>
          </a:prstGeom>
          <a:noFill/>
        </p:spPr>
        <p:txBody>
          <a:bodyPr wrap="square">
            <a:spAutoFit/>
          </a:bodyPr>
          <a:lstStyle/>
          <a:p>
            <a:pPr>
              <a:defRPr sz="1400">
                <a:solidFill>
                  <a:srgbClr val="BBBBBB"/>
                </a:solidFill>
              </a:defRPr>
            </a:pPr>
            <a:r>
              <a:t>In Lab 2, we downloaded the tarball and ran Elasticsearch in the foreground just to observe the bootstrapping logs temporarily. </a:t>
            </a:r>
            <a:br/>
            <a:r>
              <a:t>Now, we need a permanent, production-ready installation that runs in the background. We will use the APT package manager to securely install Elasticsearch as a permanent `systemd` service, which is the standard mechanism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3: Installing Elasticsearch &amp; Kibana on Ubuntu</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Install dependencies</a:t>
            </a:r>
          </a:p>
        </p:txBody>
      </p:sp>
      <p:sp>
        <p:nvSpPr>
          <p:cNvPr id="5" name="TextBox 4"/>
          <p:cNvSpPr txBox="1"/>
          <p:nvPr/>
        </p:nvSpPr>
        <p:spPr>
          <a:xfrm>
            <a:off x="914400" y="1280160"/>
            <a:ext cx="10515600" cy="292608"/>
          </a:xfrm>
          <a:prstGeom prst="rect">
            <a:avLst/>
          </a:prstGeom>
          <a:noFill/>
        </p:spPr>
        <p:txBody>
          <a:bodyPr wrap="square">
            <a:spAutoFit/>
          </a:bodyPr>
          <a:lstStyle/>
          <a:p>
            <a:pPr>
              <a:defRPr sz="1300">
                <a:solidFill>
                  <a:srgbClr val="80FF80"/>
                </a:solidFill>
                <a:latin typeface="Courier New"/>
              </a:defRPr>
            </a:pPr>
            <a:r>
              <a:t>sudo apt-get update &amp;&amp; sudo apt-get install apt-transport-https wget</a:t>
            </a:r>
          </a:p>
        </p:txBody>
      </p:sp>
      <p:sp>
        <p:nvSpPr>
          <p:cNvPr id="6" name="TextBox 5"/>
          <p:cNvSpPr txBox="1"/>
          <p:nvPr/>
        </p:nvSpPr>
        <p:spPr>
          <a:xfrm>
            <a:off x="457200" y="1801367"/>
            <a:ext cx="10972800" cy="320040"/>
          </a:xfrm>
          <a:prstGeom prst="rect">
            <a:avLst/>
          </a:prstGeom>
          <a:noFill/>
        </p:spPr>
        <p:txBody>
          <a:bodyPr wrap="none">
            <a:spAutoFit/>
          </a:bodyPr>
          <a:lstStyle/>
          <a:p>
            <a:pPr>
              <a:defRPr sz="1700" b="1">
                <a:solidFill>
                  <a:srgbClr val="FFA726"/>
                </a:solidFill>
              </a:defRPr>
            </a:pPr>
            <a:r>
              <a:t>▸  Import the Elastic PGP Key</a:t>
            </a:r>
          </a:p>
        </p:txBody>
      </p:sp>
      <p:sp>
        <p:nvSpPr>
          <p:cNvPr id="7" name="TextBox 6"/>
          <p:cNvSpPr txBox="1"/>
          <p:nvPr/>
        </p:nvSpPr>
        <p:spPr>
          <a:xfrm>
            <a:off x="914400" y="2167127"/>
            <a:ext cx="10515600" cy="292608"/>
          </a:xfrm>
          <a:prstGeom prst="rect">
            <a:avLst/>
          </a:prstGeom>
          <a:noFill/>
        </p:spPr>
        <p:txBody>
          <a:bodyPr wrap="square">
            <a:spAutoFit/>
          </a:bodyPr>
          <a:lstStyle/>
          <a:p>
            <a:pPr>
              <a:defRPr sz="1300">
                <a:solidFill>
                  <a:srgbClr val="80FF80"/>
                </a:solidFill>
                <a:latin typeface="Courier New"/>
              </a:defRPr>
            </a:pPr>
            <a:r>
              <a:t>wget -qO - https://artifacts.elastic.co/GPG-KEY-elasticsearch | sudo gpg --dearmor -o /usr/share/keyrings/elasticsearch-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3: Installing Elasticsearch &amp; Kibana on Ubuntu</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Add the repository definition to Ubuntu</a:t>
            </a:r>
          </a:p>
        </p:txBody>
      </p:sp>
      <p:sp>
        <p:nvSpPr>
          <p:cNvPr id="5" name="TextBox 4"/>
          <p:cNvSpPr txBox="1"/>
          <p:nvPr/>
        </p:nvSpPr>
        <p:spPr>
          <a:xfrm>
            <a:off x="914400" y="1280160"/>
            <a:ext cx="10515600" cy="292608"/>
          </a:xfrm>
          <a:prstGeom prst="rect">
            <a:avLst/>
          </a:prstGeom>
          <a:noFill/>
        </p:spPr>
        <p:txBody>
          <a:bodyPr wrap="square">
            <a:spAutoFit/>
          </a:bodyPr>
          <a:lstStyle/>
          <a:p>
            <a:pPr>
              <a:defRPr sz="1300">
                <a:solidFill>
                  <a:srgbClr val="80FF80"/>
                </a:solidFill>
                <a:latin typeface="Courier New"/>
              </a:defRPr>
            </a:pPr>
            <a:r>
              <a:t>echo "deb [signed-by=/usr/share/keyrings/elasticsearch-keyring.gpg] https://artifacts.elastic.co/packages/8.x/apt stable</a:t>
            </a:r>
          </a:p>
        </p:txBody>
      </p:sp>
      <p:sp>
        <p:nvSpPr>
          <p:cNvPr id="6" name="TextBox 5"/>
          <p:cNvSpPr txBox="1"/>
          <p:nvPr/>
        </p:nvSpPr>
        <p:spPr>
          <a:xfrm>
            <a:off x="457200" y="1801367"/>
            <a:ext cx="10972800" cy="320040"/>
          </a:xfrm>
          <a:prstGeom prst="rect">
            <a:avLst/>
          </a:prstGeom>
          <a:noFill/>
        </p:spPr>
        <p:txBody>
          <a:bodyPr wrap="none">
            <a:spAutoFit/>
          </a:bodyPr>
          <a:lstStyle/>
          <a:p>
            <a:pPr>
              <a:defRPr sz="1700" b="1">
                <a:solidFill>
                  <a:srgbClr val="FFA726"/>
                </a:solidFill>
              </a:defRPr>
            </a:pPr>
            <a:r>
              <a:t>▸  Install Elasticsearch and Kibana</a:t>
            </a:r>
          </a:p>
        </p:txBody>
      </p:sp>
      <p:sp>
        <p:nvSpPr>
          <p:cNvPr id="7" name="TextBox 6"/>
          <p:cNvSpPr txBox="1"/>
          <p:nvPr/>
        </p:nvSpPr>
        <p:spPr>
          <a:xfrm>
            <a:off x="914400" y="2167127"/>
            <a:ext cx="10515600" cy="548640"/>
          </a:xfrm>
          <a:prstGeom prst="rect">
            <a:avLst/>
          </a:prstGeom>
          <a:noFill/>
        </p:spPr>
        <p:txBody>
          <a:bodyPr wrap="square">
            <a:spAutoFit/>
          </a:bodyPr>
          <a:lstStyle/>
          <a:p>
            <a:pPr>
              <a:defRPr sz="1300">
                <a:solidFill>
                  <a:srgbClr val="BBBBBB"/>
                </a:solidFill>
              </a:defRPr>
            </a:pPr>
            <a:r>
              <a:t>Note: During installation, Elasticsearch automatically generates an elastic built-in superuser password. Write this down immediately if you see it in the terminal output!</a:t>
            </a:r>
          </a:p>
        </p:txBody>
      </p:sp>
      <p:sp>
        <p:nvSpPr>
          <p:cNvPr id="8" name="TextBox 7"/>
          <p:cNvSpPr txBox="1"/>
          <p:nvPr/>
        </p:nvSpPr>
        <p:spPr>
          <a:xfrm>
            <a:off x="914400" y="2624327"/>
            <a:ext cx="10515600" cy="292608"/>
          </a:xfrm>
          <a:prstGeom prst="rect">
            <a:avLst/>
          </a:prstGeom>
          <a:noFill/>
        </p:spPr>
        <p:txBody>
          <a:bodyPr wrap="square">
            <a:spAutoFit/>
          </a:bodyPr>
          <a:lstStyle/>
          <a:p>
            <a:pPr>
              <a:defRPr sz="1300">
                <a:solidFill>
                  <a:srgbClr val="80FF80"/>
                </a:solidFill>
                <a:latin typeface="Courier New"/>
              </a:defRPr>
            </a:pPr>
            <a:r>
              <a:t>sudo apt-get update &amp;&amp; sudo apt-get install elasticsearch kibana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3: Installing Elasticsearch &amp; Kibana on Ubuntu</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(For MacBook Virtual Machine Users Only): Configure Interface Binding</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If you are running Ubuntu as a VM on top of a Mac via a hypervisor (e.g. Parallels, UTM, UTM/QEMU), the default localhost bindings will prevent your host Mac's browser from reaching the VM. You must explicitly configure </a:t>
            </a:r>
          </a:p>
        </p:txBody>
      </p:sp>
      <p:sp>
        <p:nvSpPr>
          <p:cNvPr id="6" name="TextBox 5"/>
          <p:cNvSpPr txBox="1"/>
          <p:nvPr/>
        </p:nvSpPr>
        <p:spPr>
          <a:xfrm>
            <a:off x="457200" y="1874519"/>
            <a:ext cx="10972800" cy="320040"/>
          </a:xfrm>
          <a:prstGeom prst="rect">
            <a:avLst/>
          </a:prstGeom>
          <a:noFill/>
        </p:spPr>
        <p:txBody>
          <a:bodyPr wrap="none">
            <a:spAutoFit/>
          </a:bodyPr>
          <a:lstStyle/>
          <a:p>
            <a:pPr>
              <a:defRPr sz="1700" b="1">
                <a:solidFill>
                  <a:srgbClr val="FFA726"/>
                </a:solidFill>
              </a:defRPr>
            </a:pPr>
            <a:r>
              <a:t>▸  Start the Elasticsearch Service</a:t>
            </a:r>
          </a:p>
        </p:txBody>
      </p:sp>
      <p:sp>
        <p:nvSpPr>
          <p:cNvPr id="7" name="TextBox 6"/>
          <p:cNvSpPr txBox="1"/>
          <p:nvPr/>
        </p:nvSpPr>
        <p:spPr>
          <a:xfrm>
            <a:off x="914400" y="2240279"/>
            <a:ext cx="10515600" cy="694944"/>
          </a:xfrm>
          <a:prstGeom prst="rect">
            <a:avLst/>
          </a:prstGeom>
          <a:noFill/>
        </p:spPr>
        <p:txBody>
          <a:bodyPr wrap="square">
            <a:spAutoFit/>
          </a:bodyPr>
          <a:lstStyle/>
          <a:p>
            <a:pPr>
              <a:defRPr sz="1300">
                <a:solidFill>
                  <a:srgbClr val="80FF80"/>
                </a:solidFill>
                <a:latin typeface="Courier New"/>
              </a:defRPr>
            </a:pPr>
            <a:r>
              <a:t>sudo systemctl daemon-reload</a:t>
            </a:r>
          </a:p>
          <a:p>
            <a:pPr>
              <a:defRPr sz="1300">
                <a:solidFill>
                  <a:srgbClr val="80FF80"/>
                </a:solidFill>
                <a:latin typeface="Courier New"/>
              </a:defRPr>
            </a:pPr>
            <a:r>
              <a:t>   sudo systemctl enable elasticsearch.service</a:t>
            </a:r>
          </a:p>
          <a:p>
            <a:pPr>
              <a:defRPr sz="1300">
                <a:solidFill>
                  <a:srgbClr val="80FF80"/>
                </a:solidFill>
                <a:latin typeface="Courier New"/>
              </a:defRPr>
            </a:pPr>
            <a:r>
              <a:t>   sudo systemctl start elasticsearch.service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3: Installing Elasticsearch &amp; Kibana on Ubuntu</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Verify the installation</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Since v8.x, security is enabled by default. We must pass the self-signed certificate path and the elastic user credentials.        (A successful response is a JSON payload displaying the cluster name and Elasticsearch ve</a:t>
            </a:r>
          </a:p>
        </p:txBody>
      </p:sp>
      <p:sp>
        <p:nvSpPr>
          <p:cNvPr id="6" name="TextBox 5"/>
          <p:cNvSpPr txBox="1"/>
          <p:nvPr/>
        </p:nvSpPr>
        <p:spPr>
          <a:xfrm>
            <a:off x="914400" y="1737360"/>
            <a:ext cx="10515600" cy="493776"/>
          </a:xfrm>
          <a:prstGeom prst="rect">
            <a:avLst/>
          </a:prstGeom>
          <a:noFill/>
        </p:spPr>
        <p:txBody>
          <a:bodyPr wrap="square">
            <a:spAutoFit/>
          </a:bodyPr>
          <a:lstStyle/>
          <a:p>
            <a:pPr>
              <a:defRPr sz="1300">
                <a:solidFill>
                  <a:srgbClr val="80FF80"/>
                </a:solidFill>
                <a:latin typeface="Courier New"/>
              </a:defRPr>
            </a:pPr>
            <a:r>
              <a:t># You will be prompted for your password:</a:t>
            </a:r>
          </a:p>
          <a:p>
            <a:pPr>
              <a:defRPr sz="1300">
                <a:solidFill>
                  <a:srgbClr val="80FF80"/>
                </a:solidFill>
                <a:latin typeface="Courier New"/>
              </a:defRPr>
            </a:pPr>
            <a:r>
              <a:t>   curl --cacert /etc/elasticsearch/certs/http_ca.crt -u elastic https://localhost:9200</a:t>
            </a:r>
          </a:p>
        </p:txBody>
      </p:sp>
      <p:sp>
        <p:nvSpPr>
          <p:cNvPr id="7" name="TextBox 6"/>
          <p:cNvSpPr txBox="1"/>
          <p:nvPr/>
        </p:nvSpPr>
        <p:spPr>
          <a:xfrm>
            <a:off x="457200" y="2459736"/>
            <a:ext cx="10972800" cy="320040"/>
          </a:xfrm>
          <a:prstGeom prst="rect">
            <a:avLst/>
          </a:prstGeom>
          <a:noFill/>
        </p:spPr>
        <p:txBody>
          <a:bodyPr wrap="none">
            <a:spAutoFit/>
          </a:bodyPr>
          <a:lstStyle/>
          <a:p>
            <a:pPr>
              <a:defRPr sz="1700" b="1">
                <a:solidFill>
                  <a:srgbClr val="FFA726"/>
                </a:solidFill>
              </a:defRPr>
            </a:pPr>
            <a:r>
              <a:t>▸  Resetting the `elastic` superuser password</a:t>
            </a:r>
          </a:p>
        </p:txBody>
      </p:sp>
      <p:sp>
        <p:nvSpPr>
          <p:cNvPr id="8" name="TextBox 7"/>
          <p:cNvSpPr txBox="1"/>
          <p:nvPr/>
        </p:nvSpPr>
        <p:spPr>
          <a:xfrm>
            <a:off x="914400" y="2825496"/>
            <a:ext cx="10515600" cy="548640"/>
          </a:xfrm>
          <a:prstGeom prst="rect">
            <a:avLst/>
          </a:prstGeom>
          <a:noFill/>
        </p:spPr>
        <p:txBody>
          <a:bodyPr wrap="square">
            <a:spAutoFit/>
          </a:bodyPr>
          <a:lstStyle/>
          <a:p>
            <a:pPr>
              <a:defRPr sz="1300">
                <a:solidFill>
                  <a:srgbClr val="BBBBBB"/>
                </a:solidFill>
              </a:defRPr>
            </a:pPr>
            <a:r>
              <a:t>If you missed or forgot the auto-generated password from Step 4, you should reset it now before proceeding. You have two approaches:    Method A: Auto-generate a new random password using the CLI tool:        (The -i fla</a:t>
            </a:r>
          </a:p>
        </p:txBody>
      </p:sp>
      <p:sp>
        <p:nvSpPr>
          <p:cNvPr id="9" name="TextBox 8"/>
          <p:cNvSpPr txBox="1"/>
          <p:nvPr/>
        </p:nvSpPr>
        <p:spPr>
          <a:xfrm>
            <a:off x="914400" y="3282696"/>
            <a:ext cx="10515600" cy="292608"/>
          </a:xfrm>
          <a:prstGeom prst="rect">
            <a:avLst/>
          </a:prstGeom>
          <a:noFill/>
        </p:spPr>
        <p:txBody>
          <a:bodyPr wrap="square">
            <a:spAutoFit/>
          </a:bodyPr>
          <a:lstStyle/>
          <a:p>
            <a:pPr>
              <a:defRPr sz="1300">
                <a:solidFill>
                  <a:srgbClr val="80FF80"/>
                </a:solidFill>
                <a:latin typeface="Courier New"/>
              </a:defRPr>
            </a:pPr>
            <a:r>
              <a:t>sudo /usr/share/elasticsearch/bin/elasticsearch-reset-password -u elastic -i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3000" b="1">
                <a:solidFill>
                  <a:srgbClr val="00BBD4"/>
                </a:solidFill>
              </a:defRPr>
            </a:pPr>
            <a:r>
              <a:t>Lab 4: Configuring Basic Security &amp; Kibana Setup</a:t>
            </a:r>
          </a:p>
        </p:txBody>
      </p:sp>
      <p:sp>
        <p:nvSpPr>
          <p:cNvPr id="3" name="Rectangle 2"/>
          <p:cNvSpPr/>
          <p:nvPr/>
        </p:nvSpPr>
        <p:spPr>
          <a:xfrm>
            <a:off x="731520" y="1371600"/>
            <a:ext cx="10515600" cy="254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2743200" cy="365760"/>
          </a:xfrm>
          <a:prstGeom prst="rect">
            <a:avLst/>
          </a:prstGeom>
          <a:noFill/>
        </p:spPr>
        <p:txBody>
          <a:bodyPr wrap="none">
            <a:spAutoFit/>
          </a:bodyPr>
          <a:lstStyle/>
          <a:p>
            <a:pPr>
              <a:defRPr sz="2200" b="1">
                <a:solidFill>
                  <a:srgbClr val="FFA726"/>
                </a:solidFill>
              </a:defRPr>
            </a:pPr>
            <a:r>
              <a:t>🎯  Goal</a:t>
            </a:r>
          </a:p>
        </p:txBody>
      </p:sp>
      <p:sp>
        <p:nvSpPr>
          <p:cNvPr id="5" name="TextBox 4"/>
          <p:cNvSpPr txBox="1"/>
          <p:nvPr/>
        </p:nvSpPr>
        <p:spPr>
          <a:xfrm>
            <a:off x="1097280" y="2057400"/>
            <a:ext cx="10058400" cy="914400"/>
          </a:xfrm>
          <a:prstGeom prst="rect">
            <a:avLst/>
          </a:prstGeom>
          <a:noFill/>
        </p:spPr>
        <p:txBody>
          <a:bodyPr wrap="square">
            <a:spAutoFit/>
          </a:bodyPr>
          <a:lstStyle/>
          <a:p>
            <a:pPr>
              <a:defRPr sz="1600">
                <a:solidFill>
                  <a:srgbClr val="FFFFFF"/>
                </a:solidFill>
              </a:defRPr>
            </a:pPr>
            <a:r>
              <a:t>Establish secure interaction parameters by resetting the default superuser password and generating the security tokens required to link Kibana to the Elasticsearch node.</a:t>
            </a:r>
          </a:p>
        </p:txBody>
      </p:sp>
      <p:sp>
        <p:nvSpPr>
          <p:cNvPr id="6" name="TextBox 5"/>
          <p:cNvSpPr txBox="1"/>
          <p:nvPr/>
        </p:nvSpPr>
        <p:spPr>
          <a:xfrm>
            <a:off x="731520" y="3063240"/>
            <a:ext cx="3657600" cy="365760"/>
          </a:xfrm>
          <a:prstGeom prst="rect">
            <a:avLst/>
          </a:prstGeom>
          <a:noFill/>
        </p:spPr>
        <p:txBody>
          <a:bodyPr wrap="none">
            <a:spAutoFit/>
          </a:bodyPr>
          <a:lstStyle/>
          <a:p>
            <a:pPr>
              <a:defRPr sz="2200" b="1">
                <a:solidFill>
                  <a:srgbClr val="FFA726"/>
                </a:solidFill>
              </a:defRPr>
            </a:pPr>
            <a:r>
              <a:t>📋  Scenario</a:t>
            </a:r>
          </a:p>
        </p:txBody>
      </p:sp>
      <p:sp>
        <p:nvSpPr>
          <p:cNvPr id="7" name="TextBox 6"/>
          <p:cNvSpPr txBox="1"/>
          <p:nvPr/>
        </p:nvSpPr>
        <p:spPr>
          <a:xfrm>
            <a:off x="1097280" y="3474720"/>
            <a:ext cx="10058400" cy="1828800"/>
          </a:xfrm>
          <a:prstGeom prst="rect">
            <a:avLst/>
          </a:prstGeom>
          <a:noFill/>
        </p:spPr>
        <p:txBody>
          <a:bodyPr wrap="square">
            <a:spAutoFit/>
          </a:bodyPr>
          <a:lstStyle/>
          <a:p>
            <a:pPr>
              <a:defRPr sz="1400">
                <a:solidFill>
                  <a:srgbClr val="BBBBBB"/>
                </a:solidFill>
              </a:defRPr>
            </a:pPr>
            <a:r>
              <a:t>Kibana needs an enrollment token to securely pair with the database.</a:t>
            </a:r>
          </a:p>
        </p:txBody>
      </p:sp>
      <p:sp>
        <p:nvSpPr>
          <p:cNvPr id="8" name="TextBox 7"/>
          <p:cNvSpPr txBox="1"/>
          <p:nvPr/>
        </p:nvSpPr>
        <p:spPr>
          <a:xfrm>
            <a:off x="731520" y="4846320"/>
            <a:ext cx="3657600" cy="365760"/>
          </a:xfrm>
          <a:prstGeom prst="rect">
            <a:avLst/>
          </a:prstGeom>
          <a:noFill/>
        </p:spPr>
        <p:txBody>
          <a:bodyPr wrap="none">
            <a:spAutoFit/>
          </a:bodyPr>
          <a:lstStyle/>
          <a:p>
            <a:pPr>
              <a:defRPr sz="1800" b="1">
                <a:solidFill>
                  <a:srgbClr val="66BB6A"/>
                </a:solidFill>
              </a:defRPr>
            </a:pPr>
            <a:r>
              <a:t>⚡  Prerequisites</a:t>
            </a:r>
          </a:p>
        </p:txBody>
      </p:sp>
      <p:sp>
        <p:nvSpPr>
          <p:cNvPr id="9" name="TextBox 8"/>
          <p:cNvSpPr txBox="1"/>
          <p:nvPr/>
        </p:nvSpPr>
        <p:spPr>
          <a:xfrm>
            <a:off x="1097280" y="5212080"/>
            <a:ext cx="10058400" cy="731520"/>
          </a:xfrm>
          <a:prstGeom prst="rect">
            <a:avLst/>
          </a:prstGeom>
          <a:noFill/>
        </p:spPr>
        <p:txBody>
          <a:bodyPr wrap="square">
            <a:spAutoFit/>
          </a:bodyPr>
          <a:lstStyle/>
          <a:p>
            <a:pPr>
              <a:defRPr sz="1400">
                <a:solidFill>
                  <a:srgbClr val="BBBBBB"/>
                </a:solidFill>
              </a:defRPr>
            </a:pPr>
            <a:r>
              <a:t>• Completion of Lab 3.</a:t>
            </a:r>
            <a:br/>
            <a:r>
              <a:t>• Elasticsearch and Kibana MUST be installed on your Ubuntu VM.</a:t>
            </a:r>
            <a:br/>
            <a:r>
              <a:t>• A modern web browser installed on your Ubuntu VM (e.g., Firefox, Chrome) or accessible from your host machine 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4: Configuring Basic Security &amp; Kibana Setup</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Start the Kibana Service</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Tip: Kibana takes between 1-3 minutes to fully initialize.</a:t>
            </a:r>
          </a:p>
        </p:txBody>
      </p:sp>
      <p:sp>
        <p:nvSpPr>
          <p:cNvPr id="6" name="TextBox 5"/>
          <p:cNvSpPr txBox="1"/>
          <p:nvPr/>
        </p:nvSpPr>
        <p:spPr>
          <a:xfrm>
            <a:off x="914400" y="1737360"/>
            <a:ext cx="10515600" cy="493776"/>
          </a:xfrm>
          <a:prstGeom prst="rect">
            <a:avLst/>
          </a:prstGeom>
          <a:noFill/>
        </p:spPr>
        <p:txBody>
          <a:bodyPr wrap="square">
            <a:spAutoFit/>
          </a:bodyPr>
          <a:lstStyle/>
          <a:p>
            <a:pPr>
              <a:defRPr sz="1300">
                <a:solidFill>
                  <a:srgbClr val="80FF80"/>
                </a:solidFill>
                <a:latin typeface="Courier New"/>
              </a:defRPr>
            </a:pPr>
            <a:r>
              <a:t>sudo systemctl enable kibana.service</a:t>
            </a:r>
          </a:p>
          <a:p>
            <a:pPr>
              <a:defRPr sz="1300">
                <a:solidFill>
                  <a:srgbClr val="80FF80"/>
                </a:solidFill>
                <a:latin typeface="Courier New"/>
              </a:defRPr>
            </a:pPr>
            <a:r>
              <a:t>   sudo systemctl start kibana.service</a:t>
            </a:r>
          </a:p>
        </p:txBody>
      </p:sp>
      <p:sp>
        <p:nvSpPr>
          <p:cNvPr id="7" name="TextBox 6"/>
          <p:cNvSpPr txBox="1"/>
          <p:nvPr/>
        </p:nvSpPr>
        <p:spPr>
          <a:xfrm>
            <a:off x="457200" y="2459736"/>
            <a:ext cx="10972800" cy="320040"/>
          </a:xfrm>
          <a:prstGeom prst="rect">
            <a:avLst/>
          </a:prstGeom>
          <a:noFill/>
        </p:spPr>
        <p:txBody>
          <a:bodyPr wrap="none">
            <a:spAutoFit/>
          </a:bodyPr>
          <a:lstStyle/>
          <a:p>
            <a:pPr>
              <a:defRPr sz="1700" b="1">
                <a:solidFill>
                  <a:srgbClr val="FFA726"/>
                </a:solidFill>
              </a:defRPr>
            </a:pPr>
            <a:r>
              <a:t>▸  Generate a Kibana enrollment token</a:t>
            </a:r>
          </a:p>
        </p:txBody>
      </p:sp>
      <p:sp>
        <p:nvSpPr>
          <p:cNvPr id="8" name="TextBox 7"/>
          <p:cNvSpPr txBox="1"/>
          <p:nvPr/>
        </p:nvSpPr>
        <p:spPr>
          <a:xfrm>
            <a:off x="914400" y="2825496"/>
            <a:ext cx="10515600" cy="548640"/>
          </a:xfrm>
          <a:prstGeom prst="rect">
            <a:avLst/>
          </a:prstGeom>
          <a:noFill/>
        </p:spPr>
        <p:txBody>
          <a:bodyPr wrap="square">
            <a:spAutoFit/>
          </a:bodyPr>
          <a:lstStyle/>
          <a:p>
            <a:pPr>
              <a:defRPr sz="1300">
                <a:solidFill>
                  <a:srgbClr val="BBBBBB"/>
                </a:solidFill>
              </a:defRPr>
            </a:pPr>
            <a:r>
              <a:t>(Copy this long string; you'll need it in the browser).</a:t>
            </a:r>
          </a:p>
        </p:txBody>
      </p:sp>
      <p:sp>
        <p:nvSpPr>
          <p:cNvPr id="9" name="TextBox 8"/>
          <p:cNvSpPr txBox="1"/>
          <p:nvPr/>
        </p:nvSpPr>
        <p:spPr>
          <a:xfrm>
            <a:off x="914400" y="3282696"/>
            <a:ext cx="10515600" cy="292608"/>
          </a:xfrm>
          <a:prstGeom prst="rect">
            <a:avLst/>
          </a:prstGeom>
          <a:noFill/>
        </p:spPr>
        <p:txBody>
          <a:bodyPr wrap="square">
            <a:spAutoFit/>
          </a:bodyPr>
          <a:lstStyle/>
          <a:p>
            <a:pPr>
              <a:defRPr sz="1300">
                <a:solidFill>
                  <a:srgbClr val="80FF80"/>
                </a:solidFill>
                <a:latin typeface="Courier New"/>
              </a:defRPr>
            </a:pPr>
            <a:r>
              <a:t>sudo /usr/share/elasticsearch/bin/elasticsearch-create-enrollment-token -s kibana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4: Configuring Basic Security &amp; Kibana Setup</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Retrieve the verification code</a:t>
            </a:r>
          </a:p>
        </p:txBody>
      </p:sp>
      <p:sp>
        <p:nvSpPr>
          <p:cNvPr id="5" name="TextBox 4"/>
          <p:cNvSpPr txBox="1"/>
          <p:nvPr/>
        </p:nvSpPr>
        <p:spPr>
          <a:xfrm>
            <a:off x="914400" y="1280160"/>
            <a:ext cx="10515600" cy="292608"/>
          </a:xfrm>
          <a:prstGeom prst="rect">
            <a:avLst/>
          </a:prstGeom>
          <a:noFill/>
        </p:spPr>
        <p:txBody>
          <a:bodyPr wrap="square">
            <a:spAutoFit/>
          </a:bodyPr>
          <a:lstStyle/>
          <a:p>
            <a:pPr>
              <a:defRPr sz="1300">
                <a:solidFill>
                  <a:srgbClr val="80FF80"/>
                </a:solidFill>
                <a:latin typeface="Courier New"/>
              </a:defRPr>
            </a:pPr>
            <a:r>
              <a:t>sudo /usr/share/kibana/bin/kibana-verification-code</a:t>
            </a:r>
          </a:p>
        </p:txBody>
      </p:sp>
      <p:sp>
        <p:nvSpPr>
          <p:cNvPr id="6" name="TextBox 5"/>
          <p:cNvSpPr txBox="1"/>
          <p:nvPr/>
        </p:nvSpPr>
        <p:spPr>
          <a:xfrm>
            <a:off x="457200" y="1801367"/>
            <a:ext cx="10972800" cy="320040"/>
          </a:xfrm>
          <a:prstGeom prst="rect">
            <a:avLst/>
          </a:prstGeom>
          <a:noFill/>
        </p:spPr>
        <p:txBody>
          <a:bodyPr wrap="none">
            <a:spAutoFit/>
          </a:bodyPr>
          <a:lstStyle/>
          <a:p>
            <a:pPr>
              <a:defRPr sz="1700" b="1">
                <a:solidFill>
                  <a:srgbClr val="FFA726"/>
                </a:solidFill>
              </a:defRPr>
            </a:pPr>
            <a:r>
              <a:t>▸  Access the Kibana Web UI</a:t>
            </a:r>
          </a:p>
        </p:txBody>
      </p:sp>
      <p:sp>
        <p:nvSpPr>
          <p:cNvPr id="7" name="TextBox 6"/>
          <p:cNvSpPr txBox="1"/>
          <p:nvPr/>
        </p:nvSpPr>
        <p:spPr>
          <a:xfrm>
            <a:off x="914400" y="2167127"/>
            <a:ext cx="10515600" cy="548640"/>
          </a:xfrm>
          <a:prstGeom prst="rect">
            <a:avLst/>
          </a:prstGeom>
          <a:noFill/>
        </p:spPr>
        <p:txBody>
          <a:bodyPr wrap="square">
            <a:spAutoFit/>
          </a:bodyPr>
          <a:lstStyle/>
          <a:p>
            <a:pPr>
              <a:defRPr sz="1300">
                <a:solidFill>
                  <a:srgbClr val="BBBBBB"/>
                </a:solidFill>
              </a:defRPr>
            </a:pPr>
            <a:r>
              <a:t>- Open a browser on your Ubuntu machine and navigate to: http://localhost:5601    - Paste the enrollment token from Step 2 when prompted.    - Enter the verification code from Step 3.    - Log in using the username elast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3000" b="1">
                <a:solidFill>
                  <a:srgbClr val="00BBD4"/>
                </a:solidFill>
              </a:defRPr>
            </a:pPr>
            <a:r>
              <a:t>Lab 5: Simulating &amp; Advanced Troubleshooting</a:t>
            </a:r>
          </a:p>
        </p:txBody>
      </p:sp>
      <p:sp>
        <p:nvSpPr>
          <p:cNvPr id="3" name="Rectangle 2"/>
          <p:cNvSpPr/>
          <p:nvPr/>
        </p:nvSpPr>
        <p:spPr>
          <a:xfrm>
            <a:off x="731520" y="1371600"/>
            <a:ext cx="10515600" cy="254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2743200" cy="365760"/>
          </a:xfrm>
          <a:prstGeom prst="rect">
            <a:avLst/>
          </a:prstGeom>
          <a:noFill/>
        </p:spPr>
        <p:txBody>
          <a:bodyPr wrap="none">
            <a:spAutoFit/>
          </a:bodyPr>
          <a:lstStyle/>
          <a:p>
            <a:pPr>
              <a:defRPr sz="2200" b="1">
                <a:solidFill>
                  <a:srgbClr val="FFA726"/>
                </a:solidFill>
              </a:defRPr>
            </a:pPr>
            <a:r>
              <a:t>🎯  Goal</a:t>
            </a:r>
          </a:p>
        </p:txBody>
      </p:sp>
      <p:sp>
        <p:nvSpPr>
          <p:cNvPr id="5" name="TextBox 4"/>
          <p:cNvSpPr txBox="1"/>
          <p:nvPr/>
        </p:nvSpPr>
        <p:spPr>
          <a:xfrm>
            <a:off x="1097280" y="2057400"/>
            <a:ext cx="10058400" cy="914400"/>
          </a:xfrm>
          <a:prstGeom prst="rect">
            <a:avLst/>
          </a:prstGeom>
          <a:noFill/>
        </p:spPr>
        <p:txBody>
          <a:bodyPr wrap="square">
            <a:spAutoFit/>
          </a:bodyPr>
          <a:lstStyle/>
          <a:p>
            <a:pPr>
              <a:defRPr sz="1600">
                <a:solidFill>
                  <a:srgbClr val="FFFFFF"/>
                </a:solidFill>
              </a:defRPr>
            </a:pPr>
            <a:r>
              <a:t>Learn to navigate Kibana Dev Tools to intentionally break allocation rules, understand cluster status colors, and use APIs to diagnose node resources and thread pool rejections.</a:t>
            </a:r>
          </a:p>
        </p:txBody>
      </p:sp>
      <p:sp>
        <p:nvSpPr>
          <p:cNvPr id="6" name="TextBox 5"/>
          <p:cNvSpPr txBox="1"/>
          <p:nvPr/>
        </p:nvSpPr>
        <p:spPr>
          <a:xfrm>
            <a:off x="731520" y="3063240"/>
            <a:ext cx="3657600" cy="365760"/>
          </a:xfrm>
          <a:prstGeom prst="rect">
            <a:avLst/>
          </a:prstGeom>
          <a:noFill/>
        </p:spPr>
        <p:txBody>
          <a:bodyPr wrap="none">
            <a:spAutoFit/>
          </a:bodyPr>
          <a:lstStyle/>
          <a:p>
            <a:pPr>
              <a:defRPr sz="2200" b="1">
                <a:solidFill>
                  <a:srgbClr val="FFA726"/>
                </a:solidFill>
              </a:defRPr>
            </a:pPr>
            <a:r>
              <a:t>📋  Scenario</a:t>
            </a:r>
          </a:p>
        </p:txBody>
      </p:sp>
      <p:sp>
        <p:nvSpPr>
          <p:cNvPr id="7" name="TextBox 6"/>
          <p:cNvSpPr txBox="1"/>
          <p:nvPr/>
        </p:nvSpPr>
        <p:spPr>
          <a:xfrm>
            <a:off x="1097280" y="3474720"/>
            <a:ext cx="10058400" cy="1828800"/>
          </a:xfrm>
          <a:prstGeom prst="rect">
            <a:avLst/>
          </a:prstGeom>
          <a:noFill/>
        </p:spPr>
        <p:txBody>
          <a:bodyPr wrap="square">
            <a:spAutoFit/>
          </a:bodyPr>
          <a:lstStyle/>
          <a:p>
            <a:pPr>
              <a:defRPr sz="1400">
                <a:solidFill>
                  <a:srgbClr val="BBBBBB"/>
                </a:solidFill>
              </a:defRPr>
            </a:pPr>
            <a:r>
              <a:t>At 3:00 AM, the monitoring dashboard turns yellow, indicating the cluster is degraded. You need to identify exactly why shards are unassigned and ensure your node isn't running out of memory.</a:t>
            </a:r>
          </a:p>
        </p:txBody>
      </p:sp>
      <p:sp>
        <p:nvSpPr>
          <p:cNvPr id="8" name="TextBox 7"/>
          <p:cNvSpPr txBox="1"/>
          <p:nvPr/>
        </p:nvSpPr>
        <p:spPr>
          <a:xfrm>
            <a:off x="731520" y="4846320"/>
            <a:ext cx="3657600" cy="365760"/>
          </a:xfrm>
          <a:prstGeom prst="rect">
            <a:avLst/>
          </a:prstGeom>
          <a:noFill/>
        </p:spPr>
        <p:txBody>
          <a:bodyPr wrap="none">
            <a:spAutoFit/>
          </a:bodyPr>
          <a:lstStyle/>
          <a:p>
            <a:pPr>
              <a:defRPr sz="1800" b="1">
                <a:solidFill>
                  <a:srgbClr val="66BB6A"/>
                </a:solidFill>
              </a:defRPr>
            </a:pPr>
            <a:r>
              <a:t>⚡  Prerequisites</a:t>
            </a:r>
          </a:p>
        </p:txBody>
      </p:sp>
      <p:sp>
        <p:nvSpPr>
          <p:cNvPr id="9" name="TextBox 8"/>
          <p:cNvSpPr txBox="1"/>
          <p:nvPr/>
        </p:nvSpPr>
        <p:spPr>
          <a:xfrm>
            <a:off x="1097280" y="5212080"/>
            <a:ext cx="10058400" cy="731520"/>
          </a:xfrm>
          <a:prstGeom prst="rect">
            <a:avLst/>
          </a:prstGeom>
          <a:noFill/>
        </p:spPr>
        <p:txBody>
          <a:bodyPr wrap="square">
            <a:spAutoFit/>
          </a:bodyPr>
          <a:lstStyle/>
          <a:p>
            <a:pPr>
              <a:defRPr sz="1400">
                <a:solidFill>
                  <a:srgbClr val="BBBBBB"/>
                </a:solidFill>
              </a:defRPr>
            </a:pPr>
            <a:r>
              <a:t>• Completion of Lab 4.</a:t>
            </a:r>
            <a:br/>
            <a:r>
              <a:t>• Kibana must be running and accessible via your web browser.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5: Simulating &amp; Advanced Troubleshooting</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Access Dev Tools</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 Open Kibana in your browser (http://localhost:5601). - Open the left navigation menu (the "hamburger" icon ☰). - Scroll down to the Management section and click Dev Tools. ![Kibana Dev Tools UI](images/kibana_console_u</a:t>
            </a:r>
          </a:p>
        </p:txBody>
      </p:sp>
      <p:sp>
        <p:nvSpPr>
          <p:cNvPr id="6" name="TextBox 5"/>
          <p:cNvSpPr txBox="1"/>
          <p:nvPr/>
        </p:nvSpPr>
        <p:spPr>
          <a:xfrm>
            <a:off x="457200" y="1874519"/>
            <a:ext cx="10972800" cy="320040"/>
          </a:xfrm>
          <a:prstGeom prst="rect">
            <a:avLst/>
          </a:prstGeom>
          <a:noFill/>
        </p:spPr>
        <p:txBody>
          <a:bodyPr wrap="none">
            <a:spAutoFit/>
          </a:bodyPr>
          <a:lstStyle/>
          <a:p>
            <a:pPr>
              <a:defRPr sz="1700" b="1">
                <a:solidFill>
                  <a:srgbClr val="FFA726"/>
                </a:solidFill>
              </a:defRPr>
            </a:pPr>
            <a:r>
              <a:t>▸  How to Execute Commands</a:t>
            </a:r>
          </a:p>
        </p:txBody>
      </p:sp>
      <p:sp>
        <p:nvSpPr>
          <p:cNvPr id="7" name="TextBox 6"/>
          <p:cNvSpPr txBox="1"/>
          <p:nvPr/>
        </p:nvSpPr>
        <p:spPr>
          <a:xfrm>
            <a:off x="914400" y="2240279"/>
            <a:ext cx="10515600" cy="548640"/>
          </a:xfrm>
          <a:prstGeom prst="rect">
            <a:avLst/>
          </a:prstGeom>
          <a:noFill/>
        </p:spPr>
        <p:txBody>
          <a:bodyPr wrap="square">
            <a:spAutoFit/>
          </a:bodyPr>
          <a:lstStyle/>
          <a:p>
            <a:pPr>
              <a:defRPr sz="1300">
                <a:solidFill>
                  <a:srgbClr val="BBBBBB"/>
                </a:solidFill>
              </a:defRPr>
            </a:pPr>
            <a:r>
              <a:t>1. Type a command in the left pane (e.g., GET _cluster/health). 2. Place your text cursor anywhere on that line. 3. Click the green Play (▶) button that appears to the right of the command, or press Ctrl + Enter (Cmd + 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5: Simulating &amp; Advanced Troubleshooting</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Check baseline health</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Review the "status" field. It should currently be "green" since we have no complex indices yet. Command: Expected Output:</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GET _cluster/health</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Break the rules</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Create an index demanding 1 Replica. Since you only have 1 Node, Elasticsearch cannot safely assign the duplicate data. The cluster will accept the request and create the primary shard. Command: Expected Output:</a:t>
            </a:r>
          </a:p>
        </p:txBody>
      </p:sp>
      <p:sp>
        <p:nvSpPr>
          <p:cNvPr id="9" name="TextBox 8"/>
          <p:cNvSpPr txBox="1"/>
          <p:nvPr/>
        </p:nvSpPr>
        <p:spPr>
          <a:xfrm>
            <a:off x="914400" y="3081527"/>
            <a:ext cx="10515600" cy="1298448"/>
          </a:xfrm>
          <a:prstGeom prst="rect">
            <a:avLst/>
          </a:prstGeom>
          <a:noFill/>
        </p:spPr>
        <p:txBody>
          <a:bodyPr wrap="square">
            <a:spAutoFit/>
          </a:bodyPr>
          <a:lstStyle/>
          <a:p>
            <a:pPr>
              <a:defRPr sz="1300">
                <a:solidFill>
                  <a:srgbClr val="80FF80"/>
                </a:solidFill>
                <a:latin typeface="Courier New"/>
              </a:defRPr>
            </a:pPr>
            <a:r>
              <a:t>PUT /troubleshoot_index</a:t>
            </a:r>
          </a:p>
          <a:p>
            <a:pPr>
              <a:defRPr sz="1300">
                <a:solidFill>
                  <a:srgbClr val="80FF80"/>
                </a:solidFill>
                <a:latin typeface="Courier New"/>
              </a:defRPr>
            </a:pPr>
            <a:r>
              <a:t>{ </a:t>
            </a:r>
          </a:p>
          <a:p>
            <a:pPr>
              <a:defRPr sz="1300">
                <a:solidFill>
                  <a:srgbClr val="80FF80"/>
                </a:solidFill>
                <a:latin typeface="Courier New"/>
              </a:defRPr>
            </a:pPr>
            <a:r>
              <a:t>  "settings": {</a:t>
            </a:r>
          </a:p>
          <a:p>
            <a:pPr>
              <a:defRPr sz="1300">
                <a:solidFill>
                  <a:srgbClr val="80FF80"/>
                </a:solidFill>
                <a:latin typeface="Courier New"/>
              </a:defRPr>
            </a:pPr>
            <a:r>
              <a:t>    "number_of_replicas": 1 </a:t>
            </a:r>
          </a:p>
          <a:p>
            <a:pPr>
              <a:defRPr sz="1300">
                <a:solidFill>
                  <a:srgbClr val="80FF80"/>
                </a:solidFill>
                <a:latin typeface="Courier New"/>
              </a:defRPr>
            </a:pPr>
            <a:r>
              <a:t>  } </a:t>
            </a:r>
          </a:p>
          <a:p>
            <a:pPr>
              <a:defRPr sz="1300">
                <a:solidFill>
                  <a:srgbClr val="80FF80"/>
                </a:solidFill>
                <a:latin typeface="Courier New"/>
              </a:defRPr>
            </a:pPr>
            <a:r>
              <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5: Simulating &amp; Advanced Troubleshooting</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Check degraded health</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The cluster is now degraded because the replica couldn't be placed. Command: Expected Output:</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GET _cluster/health</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Diagnose specifically WHY</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Ask the Allocation Explain API why the shard is unassigned. Look inside the "decisions" array. You will see an explicit rejection reason. Command: Expected Output:</a:t>
            </a:r>
          </a:p>
        </p:txBody>
      </p:sp>
      <p:sp>
        <p:nvSpPr>
          <p:cNvPr id="9" name="TextBox 8"/>
          <p:cNvSpPr txBox="1"/>
          <p:nvPr/>
        </p:nvSpPr>
        <p:spPr>
          <a:xfrm>
            <a:off x="914400" y="3081527"/>
            <a:ext cx="10515600" cy="292608"/>
          </a:xfrm>
          <a:prstGeom prst="rect">
            <a:avLst/>
          </a:prstGeom>
          <a:noFill/>
        </p:spPr>
        <p:txBody>
          <a:bodyPr wrap="square">
            <a:spAutoFit/>
          </a:bodyPr>
          <a:lstStyle/>
          <a:p>
            <a:pPr>
              <a:defRPr sz="1300">
                <a:solidFill>
                  <a:srgbClr val="80FF80"/>
                </a:solidFill>
                <a:latin typeface="Courier New"/>
              </a:defRPr>
            </a:pPr>
            <a:r>
              <a:t>GET _cluster/allocation/explain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5: Simulating &amp; Advanced Troubleshooting</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Check Node Resources</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Verify if your VM is running out of Heap Memory or Disk Space. A tabular output will show your current resource utilization. Command: Expected Output:</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GET _cat/nodes?v&amp;h=name,heap.percent,ram.percent,cpu,disk.used_percent</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Verify Thread Pools</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If the UI is slow, check if the internal queues are rejecting tasks. A tabular output tracking active threads and dropped/rejected operations. Command: Expected Output:</a:t>
            </a:r>
          </a:p>
        </p:txBody>
      </p:sp>
      <p:sp>
        <p:nvSpPr>
          <p:cNvPr id="9" name="TextBox 8"/>
          <p:cNvSpPr txBox="1"/>
          <p:nvPr/>
        </p:nvSpPr>
        <p:spPr>
          <a:xfrm>
            <a:off x="914400" y="3081527"/>
            <a:ext cx="10515600" cy="292608"/>
          </a:xfrm>
          <a:prstGeom prst="rect">
            <a:avLst/>
          </a:prstGeom>
          <a:noFill/>
        </p:spPr>
        <p:txBody>
          <a:bodyPr wrap="square">
            <a:spAutoFit/>
          </a:bodyPr>
          <a:lstStyle/>
          <a:p>
            <a:pPr>
              <a:defRPr sz="1300">
                <a:solidFill>
                  <a:srgbClr val="80FF80"/>
                </a:solidFill>
                <a:latin typeface="Courier New"/>
              </a:defRPr>
            </a:pPr>
            <a:r>
              <a:t>GET _cat/thread_pool/search,write?v&amp;h=node_name,name,active,queue,rejected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371600"/>
            <a:ext cx="10058400" cy="1097280"/>
          </a:xfrm>
          <a:prstGeom prst="rect">
            <a:avLst/>
          </a:prstGeom>
          <a:noFill/>
        </p:spPr>
        <p:txBody>
          <a:bodyPr wrap="none">
            <a:spAutoFit/>
          </a:bodyPr>
          <a:lstStyle/>
          <a:p>
            <a:pPr algn="ctr">
              <a:defRPr sz="3600" b="1">
                <a:solidFill>
                  <a:srgbClr val="00BBD4"/>
                </a:solidFill>
              </a:defRPr>
            </a:pPr>
            <a:r>
              <a:t>Module 3: Data Ingestion, Logstash, Beats</a:t>
            </a:r>
          </a:p>
        </p:txBody>
      </p:sp>
      <p:sp>
        <p:nvSpPr>
          <p:cNvPr id="3" name="Rectangle 2"/>
          <p:cNvSpPr/>
          <p:nvPr/>
        </p:nvSpPr>
        <p:spPr>
          <a:xfrm>
            <a:off x="2743200" y="2560320"/>
            <a:ext cx="6400800" cy="381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017520"/>
            <a:ext cx="8229600" cy="365760"/>
          </a:xfrm>
          <a:prstGeom prst="rect">
            <a:avLst/>
          </a:prstGeom>
          <a:noFill/>
        </p:spPr>
        <p:txBody>
          <a:bodyPr wrap="none">
            <a:spAutoFit/>
          </a:bodyPr>
          <a:lstStyle/>
          <a:p>
            <a:pPr>
              <a:defRPr sz="2000">
                <a:solidFill>
                  <a:srgbClr val="FFFFFF"/>
                </a:solidFill>
              </a:defRPr>
            </a:pPr>
            <a:r>
              <a:t>Lab 6:  Indexing via Bulk API</a:t>
            </a:r>
          </a:p>
        </p:txBody>
      </p:sp>
      <p:sp>
        <p:nvSpPr>
          <p:cNvPr id="5" name="TextBox 4"/>
          <p:cNvSpPr txBox="1"/>
          <p:nvPr/>
        </p:nvSpPr>
        <p:spPr>
          <a:xfrm>
            <a:off x="1828800" y="3474720"/>
            <a:ext cx="8229600" cy="365760"/>
          </a:xfrm>
          <a:prstGeom prst="rect">
            <a:avLst/>
          </a:prstGeom>
          <a:noFill/>
        </p:spPr>
        <p:txBody>
          <a:bodyPr wrap="none">
            <a:spAutoFit/>
          </a:bodyPr>
          <a:lstStyle/>
          <a:p>
            <a:pPr>
              <a:defRPr sz="2000">
                <a:solidFill>
                  <a:srgbClr val="FFFFFF"/>
                </a:solidFill>
              </a:defRPr>
            </a:pPr>
            <a:r>
              <a:t>Lab 7:  Installing Filebeat</a:t>
            </a:r>
          </a:p>
        </p:txBody>
      </p:sp>
      <p:sp>
        <p:nvSpPr>
          <p:cNvPr id="6" name="TextBox 5"/>
          <p:cNvSpPr txBox="1"/>
          <p:nvPr/>
        </p:nvSpPr>
        <p:spPr>
          <a:xfrm>
            <a:off x="1828800" y="3931920"/>
            <a:ext cx="8229600" cy="365760"/>
          </a:xfrm>
          <a:prstGeom prst="rect">
            <a:avLst/>
          </a:prstGeom>
          <a:noFill/>
        </p:spPr>
        <p:txBody>
          <a:bodyPr wrap="none">
            <a:spAutoFit/>
          </a:bodyPr>
          <a:lstStyle/>
          <a:p>
            <a:pPr>
              <a:defRPr sz="2000">
                <a:solidFill>
                  <a:srgbClr val="FFFFFF"/>
                </a:solidFill>
              </a:defRPr>
            </a:pPr>
            <a:r>
              <a:t>Lab 8:  Installing Logstash</a:t>
            </a:r>
          </a:p>
        </p:txBody>
      </p:sp>
      <p:sp>
        <p:nvSpPr>
          <p:cNvPr id="7" name="TextBox 6"/>
          <p:cNvSpPr txBox="1"/>
          <p:nvPr/>
        </p:nvSpPr>
        <p:spPr>
          <a:xfrm>
            <a:off x="1828800" y="4389120"/>
            <a:ext cx="8229600" cy="365760"/>
          </a:xfrm>
          <a:prstGeom prst="rect">
            <a:avLst/>
          </a:prstGeom>
          <a:noFill/>
        </p:spPr>
        <p:txBody>
          <a:bodyPr wrap="none">
            <a:spAutoFit/>
          </a:bodyPr>
          <a:lstStyle/>
          <a:p>
            <a:pPr>
              <a:defRPr sz="2000">
                <a:solidFill>
                  <a:srgbClr val="FFFFFF"/>
                </a:solidFill>
              </a:defRPr>
            </a:pPr>
            <a:r>
              <a:t>Lab 9:  Mappings &amp; Ingest Pipelines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3000" b="1">
                <a:solidFill>
                  <a:srgbClr val="00BBD4"/>
                </a:solidFill>
              </a:defRPr>
            </a:pPr>
            <a:r>
              <a:t>Lab 6: Indexing Data via Bulk API</a:t>
            </a:r>
          </a:p>
        </p:txBody>
      </p:sp>
      <p:sp>
        <p:nvSpPr>
          <p:cNvPr id="3" name="Rectangle 2"/>
          <p:cNvSpPr/>
          <p:nvPr/>
        </p:nvSpPr>
        <p:spPr>
          <a:xfrm>
            <a:off x="731520" y="1371600"/>
            <a:ext cx="10515600" cy="254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2743200" cy="365760"/>
          </a:xfrm>
          <a:prstGeom prst="rect">
            <a:avLst/>
          </a:prstGeom>
          <a:noFill/>
        </p:spPr>
        <p:txBody>
          <a:bodyPr wrap="none">
            <a:spAutoFit/>
          </a:bodyPr>
          <a:lstStyle/>
          <a:p>
            <a:pPr>
              <a:defRPr sz="2200" b="1">
                <a:solidFill>
                  <a:srgbClr val="FFA726"/>
                </a:solidFill>
              </a:defRPr>
            </a:pPr>
            <a:r>
              <a:t>🎯  Goal</a:t>
            </a:r>
          </a:p>
        </p:txBody>
      </p:sp>
      <p:sp>
        <p:nvSpPr>
          <p:cNvPr id="5" name="TextBox 4"/>
          <p:cNvSpPr txBox="1"/>
          <p:nvPr/>
        </p:nvSpPr>
        <p:spPr>
          <a:xfrm>
            <a:off x="1097280" y="2057400"/>
            <a:ext cx="10058400" cy="914400"/>
          </a:xfrm>
          <a:prstGeom prst="rect">
            <a:avLst/>
          </a:prstGeom>
          <a:noFill/>
        </p:spPr>
        <p:txBody>
          <a:bodyPr wrap="square">
            <a:spAutoFit/>
          </a:bodyPr>
          <a:lstStyle/>
          <a:p>
            <a:pPr>
              <a:defRPr sz="1600">
                <a:solidFill>
                  <a:srgbClr val="FFFFFF"/>
                </a:solidFill>
              </a:defRPr>
            </a:pPr>
            <a:r>
              <a:t>Learn how to use the high-throughput Bulk API endpoint to index multiple documents in a single HTTP request using `curl`.</a:t>
            </a:r>
          </a:p>
        </p:txBody>
      </p:sp>
      <p:sp>
        <p:nvSpPr>
          <p:cNvPr id="6" name="TextBox 5"/>
          <p:cNvSpPr txBox="1"/>
          <p:nvPr/>
        </p:nvSpPr>
        <p:spPr>
          <a:xfrm>
            <a:off x="731520" y="3063240"/>
            <a:ext cx="3657600" cy="365760"/>
          </a:xfrm>
          <a:prstGeom prst="rect">
            <a:avLst/>
          </a:prstGeom>
          <a:noFill/>
        </p:spPr>
        <p:txBody>
          <a:bodyPr wrap="none">
            <a:spAutoFit/>
          </a:bodyPr>
          <a:lstStyle/>
          <a:p>
            <a:pPr>
              <a:defRPr sz="2200" b="1">
                <a:solidFill>
                  <a:srgbClr val="FFA726"/>
                </a:solidFill>
              </a:defRPr>
            </a:pPr>
            <a:r>
              <a:t>📋  Scenario</a:t>
            </a:r>
          </a:p>
        </p:txBody>
      </p:sp>
      <p:sp>
        <p:nvSpPr>
          <p:cNvPr id="7" name="TextBox 6"/>
          <p:cNvSpPr txBox="1"/>
          <p:nvPr/>
        </p:nvSpPr>
        <p:spPr>
          <a:xfrm>
            <a:off x="1097280" y="3474720"/>
            <a:ext cx="10058400" cy="1828800"/>
          </a:xfrm>
          <a:prstGeom prst="rect">
            <a:avLst/>
          </a:prstGeom>
          <a:noFill/>
        </p:spPr>
        <p:txBody>
          <a:bodyPr wrap="square">
            <a:spAutoFit/>
          </a:bodyPr>
          <a:lstStyle/>
          <a:p>
            <a:pPr>
              <a:defRPr sz="1400">
                <a:solidFill>
                  <a:srgbClr val="BBBBBB"/>
                </a:solidFill>
              </a:defRPr>
            </a:pPr>
            <a:r>
              <a:t>Instead of sending 10,000 separate `curl` commands to insert your product catalog, you format them into a single file to bypass network latency and HTTP header overhead.</a:t>
            </a:r>
          </a:p>
        </p:txBody>
      </p:sp>
      <p:sp>
        <p:nvSpPr>
          <p:cNvPr id="8" name="TextBox 7"/>
          <p:cNvSpPr txBox="1"/>
          <p:nvPr/>
        </p:nvSpPr>
        <p:spPr>
          <a:xfrm>
            <a:off x="731520" y="4846320"/>
            <a:ext cx="3657600" cy="365760"/>
          </a:xfrm>
          <a:prstGeom prst="rect">
            <a:avLst/>
          </a:prstGeom>
          <a:noFill/>
        </p:spPr>
        <p:txBody>
          <a:bodyPr wrap="none">
            <a:spAutoFit/>
          </a:bodyPr>
          <a:lstStyle/>
          <a:p>
            <a:pPr>
              <a:defRPr sz="1800" b="1">
                <a:solidFill>
                  <a:srgbClr val="66BB6A"/>
                </a:solidFill>
              </a:defRPr>
            </a:pPr>
            <a:r>
              <a:t>⚡  Prerequisites</a:t>
            </a:r>
          </a:p>
        </p:txBody>
      </p:sp>
      <p:sp>
        <p:nvSpPr>
          <p:cNvPr id="9" name="TextBox 8"/>
          <p:cNvSpPr txBox="1"/>
          <p:nvPr/>
        </p:nvSpPr>
        <p:spPr>
          <a:xfrm>
            <a:off x="1097280" y="5212080"/>
            <a:ext cx="10058400" cy="731520"/>
          </a:xfrm>
          <a:prstGeom prst="rect">
            <a:avLst/>
          </a:prstGeom>
          <a:noFill/>
        </p:spPr>
        <p:txBody>
          <a:bodyPr wrap="square">
            <a:spAutoFit/>
          </a:bodyPr>
          <a:lstStyle/>
          <a:p>
            <a:pPr>
              <a:defRPr sz="1400">
                <a:solidFill>
                  <a:srgbClr val="BBBBBB"/>
                </a:solidFill>
              </a:defRPr>
            </a:pPr>
            <a:r>
              <a:t>• Completion of Lab 4.</a:t>
            </a:r>
            <a:br/>
            <a:r>
              <a:t>• Elasticsearch must be running securely.</a:t>
            </a:r>
            <a:br/>
            <a:r>
              <a:t>• You must have your `elastic` superuser password handy.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6: Indexing Data via Bulk API</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Create a Bulk formatted file</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The Bulk API requires a specific newline-delimited format (NDJSON), where an action instruction line is immediately followed by the document payload line. Note: Ensure there is a trailing newline at the end of the file!</a:t>
            </a:r>
          </a:p>
        </p:txBody>
      </p:sp>
      <p:sp>
        <p:nvSpPr>
          <p:cNvPr id="6" name="TextBox 5"/>
          <p:cNvSpPr txBox="1"/>
          <p:nvPr/>
        </p:nvSpPr>
        <p:spPr>
          <a:xfrm>
            <a:off x="914400" y="1737360"/>
            <a:ext cx="10515600" cy="2103120"/>
          </a:xfrm>
          <a:prstGeom prst="rect">
            <a:avLst/>
          </a:prstGeom>
          <a:noFill/>
        </p:spPr>
        <p:txBody>
          <a:bodyPr wrap="square">
            <a:spAutoFit/>
          </a:bodyPr>
          <a:lstStyle/>
          <a:p>
            <a:pPr>
              <a:defRPr sz="1300">
                <a:solidFill>
                  <a:srgbClr val="80FF80"/>
                </a:solidFill>
                <a:latin typeface="Courier New"/>
              </a:defRPr>
            </a:pPr>
            <a:r>
              <a:t>cat &lt;&lt;EOF &gt; requests.json</a:t>
            </a:r>
          </a:p>
          <a:p>
            <a:pPr>
              <a:defRPr sz="1300">
                <a:solidFill>
                  <a:srgbClr val="80FF80"/>
                </a:solidFill>
                <a:latin typeface="Courier New"/>
              </a:defRPr>
            </a:pPr>
            <a:r>
              <a:t>{ "index" : { "_index" : "products", "_id" : "1" } }</a:t>
            </a:r>
          </a:p>
          <a:p>
            <a:pPr>
              <a:defRPr sz="1300">
                <a:solidFill>
                  <a:srgbClr val="80FF80"/>
                </a:solidFill>
                <a:latin typeface="Courier New"/>
              </a:defRPr>
            </a:pPr>
            <a:r>
              <a:t>{ "name": "Running Shoe", "price": 95, "category": "Footwear", "in_stock": true }</a:t>
            </a:r>
          </a:p>
          <a:p>
            <a:pPr>
              <a:defRPr sz="1300">
                <a:solidFill>
                  <a:srgbClr val="80FF80"/>
                </a:solidFill>
                <a:latin typeface="Courier New"/>
              </a:defRPr>
            </a:pPr>
            <a:r>
              <a:t>{ "index" : { "_index" : "products", "_id" : "2" } }</a:t>
            </a:r>
          </a:p>
          <a:p>
            <a:pPr>
              <a:defRPr sz="1300">
                <a:solidFill>
                  <a:srgbClr val="80FF80"/>
                </a:solidFill>
                <a:latin typeface="Courier New"/>
              </a:defRPr>
            </a:pPr>
            <a:r>
              <a:t>{ "name": "Winter Hat", "price": 25, "category": "Accessories", "in_stock": true }</a:t>
            </a:r>
          </a:p>
          <a:p>
            <a:pPr>
              <a:defRPr sz="1300">
                <a:solidFill>
                  <a:srgbClr val="80FF80"/>
                </a:solidFill>
                <a:latin typeface="Courier New"/>
              </a:defRPr>
            </a:pPr>
            <a:r>
              <a:t>{ "index" : { "_index" : "products", "_id" : "3" } }</a:t>
            </a:r>
          </a:p>
          <a:p>
            <a:pPr>
              <a:defRPr sz="1300">
                <a:solidFill>
                  <a:srgbClr val="80FF80"/>
                </a:solidFill>
                <a:latin typeface="Courier New"/>
              </a:defRPr>
            </a:pPr>
            <a:r>
              <a:t>{ "name": "Leather Belt", "price": 45, "category": "Accessories", "in_stock": false }</a:t>
            </a:r>
          </a:p>
          <a:p>
            <a:pPr>
              <a:defRPr sz="1300">
                <a:solidFill>
                  <a:srgbClr val="80FF80"/>
                </a:solidFill>
                <a:latin typeface="Courier New"/>
              </a:defRPr>
            </a:pPr>
            <a:r>
              <a:t>{ "index" : { "_index" : "products", "_id" : "4" } }</a:t>
            </a:r>
          </a:p>
          <a:p>
            <a:pPr>
              <a:defRPr sz="1300">
                <a:solidFill>
                  <a:srgbClr val="80FF80"/>
                </a:solidFill>
                <a:latin typeface="Courier New"/>
              </a:defRPr>
            </a:pPr>
            <a:r>
              <a:t>{ "name": "Walking Shoe", "price": 120, "category": "Footwear", "in_stock": true }</a:t>
            </a:r>
          </a:p>
          <a:p>
            <a:pPr>
              <a:defRPr sz="1300">
                <a:solidFill>
                  <a:srgbClr val="80FF80"/>
                </a:solidFill>
                <a:latin typeface="Courier New"/>
              </a:defRPr>
            </a:pPr>
            <a:r>
              <a:t>{ "index" : { "_index" : "products", "_id" : "5" } }</a:t>
            </a:r>
          </a:p>
        </p:txBody>
      </p:sp>
      <p:sp>
        <p:nvSpPr>
          <p:cNvPr id="7" name="TextBox 6"/>
          <p:cNvSpPr txBox="1"/>
          <p:nvPr/>
        </p:nvSpPr>
        <p:spPr>
          <a:xfrm>
            <a:off x="457200" y="4069080"/>
            <a:ext cx="10972800" cy="320040"/>
          </a:xfrm>
          <a:prstGeom prst="rect">
            <a:avLst/>
          </a:prstGeom>
          <a:noFill/>
        </p:spPr>
        <p:txBody>
          <a:bodyPr wrap="none">
            <a:spAutoFit/>
          </a:bodyPr>
          <a:lstStyle/>
          <a:p>
            <a:pPr>
              <a:defRPr sz="1700" b="1">
                <a:solidFill>
                  <a:srgbClr val="FFA726"/>
                </a:solidFill>
              </a:defRPr>
            </a:pPr>
            <a:r>
              <a:t>▸  Execute the Bulk API Request</a:t>
            </a:r>
          </a:p>
        </p:txBody>
      </p:sp>
      <p:sp>
        <p:nvSpPr>
          <p:cNvPr id="8" name="TextBox 7"/>
          <p:cNvSpPr txBox="1"/>
          <p:nvPr/>
        </p:nvSpPr>
        <p:spPr>
          <a:xfrm>
            <a:off x="914400" y="4434840"/>
            <a:ext cx="10515600" cy="548640"/>
          </a:xfrm>
          <a:prstGeom prst="rect">
            <a:avLst/>
          </a:prstGeom>
          <a:noFill/>
        </p:spPr>
        <p:txBody>
          <a:bodyPr wrap="square">
            <a:spAutoFit/>
          </a:bodyPr>
          <a:lstStyle/>
          <a:p>
            <a:pPr>
              <a:defRPr sz="1300">
                <a:solidFill>
                  <a:srgbClr val="BBBBBB"/>
                </a:solidFill>
              </a:defRPr>
            </a:pPr>
            <a:r>
              <a:t>Pass the file to curl using the --data-binary flag. Expected Output (truncated): Key check: "errors": false means every document was indexed successfully.</a:t>
            </a:r>
          </a:p>
        </p:txBody>
      </p:sp>
      <p:sp>
        <p:nvSpPr>
          <p:cNvPr id="9" name="TextBox 8"/>
          <p:cNvSpPr txBox="1"/>
          <p:nvPr/>
        </p:nvSpPr>
        <p:spPr>
          <a:xfrm>
            <a:off x="914400" y="4892040"/>
            <a:ext cx="10515600" cy="1097280"/>
          </a:xfrm>
          <a:prstGeom prst="rect">
            <a:avLst/>
          </a:prstGeom>
          <a:noFill/>
        </p:spPr>
        <p:txBody>
          <a:bodyPr wrap="square">
            <a:spAutoFit/>
          </a:bodyPr>
          <a:lstStyle/>
          <a:p>
            <a:pPr>
              <a:defRPr sz="1300">
                <a:solidFill>
                  <a:srgbClr val="80FF80"/>
                </a:solidFill>
                <a:latin typeface="Courier New"/>
              </a:defRPr>
            </a:pPr>
            <a:r>
              <a:t>curl -X POST "https://localhost:9200/_bulk" \</a:t>
            </a:r>
          </a:p>
          <a:p>
            <a:pPr>
              <a:defRPr sz="1300">
                <a:solidFill>
                  <a:srgbClr val="80FF80"/>
                </a:solidFill>
                <a:latin typeface="Courier New"/>
              </a:defRPr>
            </a:pPr>
            <a:r>
              <a:t>  -H 'Content-Type: application/json' \</a:t>
            </a:r>
          </a:p>
          <a:p>
            <a:pPr>
              <a:defRPr sz="1300">
                <a:solidFill>
                  <a:srgbClr val="80FF80"/>
                </a:solidFill>
                <a:latin typeface="Courier New"/>
              </a:defRPr>
            </a:pPr>
            <a:r>
              <a:t>  --cacert /etc/elasticsearch/certs/http_ca.crt \</a:t>
            </a:r>
          </a:p>
          <a:p>
            <a:pPr>
              <a:defRPr sz="1300">
                <a:solidFill>
                  <a:srgbClr val="80FF80"/>
                </a:solidFill>
                <a:latin typeface="Courier New"/>
              </a:defRPr>
            </a:pPr>
            <a:r>
              <a:t>  -u elastic \</a:t>
            </a:r>
          </a:p>
          <a:p>
            <a:pPr>
              <a:defRPr sz="1300">
                <a:solidFill>
                  <a:srgbClr val="80FF80"/>
                </a:solidFill>
                <a:latin typeface="Courier New"/>
              </a:defRPr>
            </a:pPr>
            <a:r>
              <a:t>  --data-binary @requests.json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6: Indexing Data via Bulk API</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Verify Insertion</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Expected Output:</a:t>
            </a:r>
          </a:p>
        </p:txBody>
      </p:sp>
      <p:sp>
        <p:nvSpPr>
          <p:cNvPr id="6" name="TextBox 5"/>
          <p:cNvSpPr txBox="1"/>
          <p:nvPr/>
        </p:nvSpPr>
        <p:spPr>
          <a:xfrm>
            <a:off x="914400" y="1737360"/>
            <a:ext cx="10515600" cy="694944"/>
          </a:xfrm>
          <a:prstGeom prst="rect">
            <a:avLst/>
          </a:prstGeom>
          <a:noFill/>
        </p:spPr>
        <p:txBody>
          <a:bodyPr wrap="square">
            <a:spAutoFit/>
          </a:bodyPr>
          <a:lstStyle/>
          <a:p>
            <a:pPr>
              <a:defRPr sz="1300">
                <a:solidFill>
                  <a:srgbClr val="80FF80"/>
                </a:solidFill>
                <a:latin typeface="Courier New"/>
              </a:defRPr>
            </a:pPr>
            <a:r>
              <a:t>curl -X GET "https://localhost:9200/products/_count" \</a:t>
            </a:r>
          </a:p>
          <a:p>
            <a:pPr>
              <a:defRPr sz="1300">
                <a:solidFill>
                  <a:srgbClr val="80FF80"/>
                </a:solidFill>
                <a:latin typeface="Courier New"/>
              </a:defRPr>
            </a:pPr>
            <a:r>
              <a:t>  --cacert /etc/elasticsearch/certs/http_ca.crt \</a:t>
            </a:r>
          </a:p>
          <a:p>
            <a:pPr>
              <a:defRPr sz="1300">
                <a:solidFill>
                  <a:srgbClr val="80FF80"/>
                </a:solidFill>
                <a:latin typeface="Courier New"/>
              </a:defRPr>
            </a:pPr>
            <a:r>
              <a:t>  -u elastic</a:t>
            </a:r>
          </a:p>
        </p:txBody>
      </p:sp>
      <p:sp>
        <p:nvSpPr>
          <p:cNvPr id="7" name="TextBox 6"/>
          <p:cNvSpPr txBox="1"/>
          <p:nvPr/>
        </p:nvSpPr>
        <p:spPr>
          <a:xfrm>
            <a:off x="457200" y="2660903"/>
            <a:ext cx="10972800" cy="320040"/>
          </a:xfrm>
          <a:prstGeom prst="rect">
            <a:avLst/>
          </a:prstGeom>
          <a:noFill/>
        </p:spPr>
        <p:txBody>
          <a:bodyPr wrap="none">
            <a:spAutoFit/>
          </a:bodyPr>
          <a:lstStyle/>
          <a:p>
            <a:pPr>
              <a:defRPr sz="1700" b="1">
                <a:solidFill>
                  <a:srgbClr val="FFA726"/>
                </a:solidFill>
              </a:defRPr>
            </a:pPr>
            <a:r>
              <a:t>▸  Verify a Single Document</a:t>
            </a:r>
          </a:p>
        </p:txBody>
      </p:sp>
      <p:sp>
        <p:nvSpPr>
          <p:cNvPr id="8" name="TextBox 7"/>
          <p:cNvSpPr txBox="1"/>
          <p:nvPr/>
        </p:nvSpPr>
        <p:spPr>
          <a:xfrm>
            <a:off x="914400" y="3026663"/>
            <a:ext cx="10515600" cy="548640"/>
          </a:xfrm>
          <a:prstGeom prst="rect">
            <a:avLst/>
          </a:prstGeom>
          <a:noFill/>
        </p:spPr>
        <p:txBody>
          <a:bodyPr wrap="square">
            <a:spAutoFit/>
          </a:bodyPr>
          <a:lstStyle/>
          <a:p>
            <a:pPr>
              <a:defRPr sz="1300">
                <a:solidFill>
                  <a:srgbClr val="BBBBBB"/>
                </a:solidFill>
              </a:defRPr>
            </a:pPr>
            <a:r>
              <a:t>Expected Output:</a:t>
            </a:r>
          </a:p>
        </p:txBody>
      </p:sp>
      <p:sp>
        <p:nvSpPr>
          <p:cNvPr id="9" name="TextBox 8"/>
          <p:cNvSpPr txBox="1"/>
          <p:nvPr/>
        </p:nvSpPr>
        <p:spPr>
          <a:xfrm>
            <a:off x="914400" y="3483863"/>
            <a:ext cx="10515600" cy="694944"/>
          </a:xfrm>
          <a:prstGeom prst="rect">
            <a:avLst/>
          </a:prstGeom>
          <a:noFill/>
        </p:spPr>
        <p:txBody>
          <a:bodyPr wrap="square">
            <a:spAutoFit/>
          </a:bodyPr>
          <a:lstStyle/>
          <a:p>
            <a:pPr>
              <a:defRPr sz="1300">
                <a:solidFill>
                  <a:srgbClr val="80FF80"/>
                </a:solidFill>
                <a:latin typeface="Courier New"/>
              </a:defRPr>
            </a:pPr>
            <a:r>
              <a:t>curl -X GET "https://localhost:9200/products/_doc/1" \</a:t>
            </a:r>
          </a:p>
          <a:p>
            <a:pPr>
              <a:defRPr sz="1300">
                <a:solidFill>
                  <a:srgbClr val="80FF80"/>
                </a:solidFill>
                <a:latin typeface="Courier New"/>
              </a:defRPr>
            </a:pPr>
            <a:r>
              <a:t>  --cacert /etc/elasticsearch/certs/http_ca.crt \</a:t>
            </a:r>
          </a:p>
          <a:p>
            <a:pPr>
              <a:defRPr sz="1300">
                <a:solidFill>
                  <a:srgbClr val="80FF80"/>
                </a:solidFill>
                <a:latin typeface="Courier New"/>
              </a:defRPr>
            </a:pPr>
            <a:r>
              <a:t>  -u elastic | jq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3000" b="1">
                <a:solidFill>
                  <a:srgbClr val="00BBD4"/>
                </a:solidFill>
              </a:defRPr>
            </a:pPr>
            <a:r>
              <a:t>Lab 7: Installing and Configuring Filebeat</a:t>
            </a:r>
          </a:p>
        </p:txBody>
      </p:sp>
      <p:sp>
        <p:nvSpPr>
          <p:cNvPr id="3" name="Rectangle 2"/>
          <p:cNvSpPr/>
          <p:nvPr/>
        </p:nvSpPr>
        <p:spPr>
          <a:xfrm>
            <a:off x="731520" y="1371600"/>
            <a:ext cx="10515600" cy="254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2743200" cy="365760"/>
          </a:xfrm>
          <a:prstGeom prst="rect">
            <a:avLst/>
          </a:prstGeom>
          <a:noFill/>
        </p:spPr>
        <p:txBody>
          <a:bodyPr wrap="none">
            <a:spAutoFit/>
          </a:bodyPr>
          <a:lstStyle/>
          <a:p>
            <a:pPr>
              <a:defRPr sz="2200" b="1">
                <a:solidFill>
                  <a:srgbClr val="FFA726"/>
                </a:solidFill>
              </a:defRPr>
            </a:pPr>
            <a:r>
              <a:t>🎯  Goal</a:t>
            </a:r>
          </a:p>
        </p:txBody>
      </p:sp>
      <p:sp>
        <p:nvSpPr>
          <p:cNvPr id="5" name="TextBox 4"/>
          <p:cNvSpPr txBox="1"/>
          <p:nvPr/>
        </p:nvSpPr>
        <p:spPr>
          <a:xfrm>
            <a:off x="1097280" y="2057400"/>
            <a:ext cx="10058400" cy="914400"/>
          </a:xfrm>
          <a:prstGeom prst="rect">
            <a:avLst/>
          </a:prstGeom>
          <a:noFill/>
        </p:spPr>
        <p:txBody>
          <a:bodyPr wrap="square">
            <a:spAutoFit/>
          </a:bodyPr>
          <a:lstStyle/>
          <a:p>
            <a:pPr>
              <a:defRPr sz="1600">
                <a:solidFill>
                  <a:srgbClr val="FFFFFF"/>
                </a:solidFill>
              </a:defRPr>
            </a:pPr>
            <a:r>
              <a:t>Ingest Ubuntu system logs into Elasticsearch via Filebeat, demonstrating the Beats shipper architecture.</a:t>
            </a:r>
          </a:p>
        </p:txBody>
      </p:sp>
      <p:sp>
        <p:nvSpPr>
          <p:cNvPr id="6" name="TextBox 5"/>
          <p:cNvSpPr txBox="1"/>
          <p:nvPr/>
        </p:nvSpPr>
        <p:spPr>
          <a:xfrm>
            <a:off x="731520" y="3063240"/>
            <a:ext cx="3657600" cy="365760"/>
          </a:xfrm>
          <a:prstGeom prst="rect">
            <a:avLst/>
          </a:prstGeom>
          <a:noFill/>
        </p:spPr>
        <p:txBody>
          <a:bodyPr wrap="none">
            <a:spAutoFit/>
          </a:bodyPr>
          <a:lstStyle/>
          <a:p>
            <a:pPr>
              <a:defRPr sz="2200" b="1">
                <a:solidFill>
                  <a:srgbClr val="FFA726"/>
                </a:solidFill>
              </a:defRPr>
            </a:pPr>
            <a:r>
              <a:t>📋  Scenario</a:t>
            </a:r>
          </a:p>
        </p:txBody>
      </p:sp>
      <p:sp>
        <p:nvSpPr>
          <p:cNvPr id="7" name="TextBox 6"/>
          <p:cNvSpPr txBox="1"/>
          <p:nvPr/>
        </p:nvSpPr>
        <p:spPr>
          <a:xfrm>
            <a:off x="1097280" y="3474720"/>
            <a:ext cx="10058400" cy="1828800"/>
          </a:xfrm>
          <a:prstGeom prst="rect">
            <a:avLst/>
          </a:prstGeom>
          <a:noFill/>
        </p:spPr>
        <p:txBody>
          <a:bodyPr wrap="square">
            <a:spAutoFit/>
          </a:bodyPr>
          <a:lstStyle/>
          <a:p>
            <a:pPr>
              <a:defRPr sz="1400">
                <a:solidFill>
                  <a:srgbClr val="BBBBBB"/>
                </a:solidFill>
              </a:defRPr>
            </a:pPr>
            <a:r>
              <a:t>You need to monitor the health of the very Ubuntu machine you are using to host the Elasticsearch cluster. By installing Filebeat, you can automatically parse `/var/log/syslog` and `/var/log/auth.log` directly into your cluster.</a:t>
            </a:r>
          </a:p>
        </p:txBody>
      </p:sp>
      <p:sp>
        <p:nvSpPr>
          <p:cNvPr id="8" name="TextBox 7"/>
          <p:cNvSpPr txBox="1"/>
          <p:nvPr/>
        </p:nvSpPr>
        <p:spPr>
          <a:xfrm>
            <a:off x="731520" y="4846320"/>
            <a:ext cx="3657600" cy="365760"/>
          </a:xfrm>
          <a:prstGeom prst="rect">
            <a:avLst/>
          </a:prstGeom>
          <a:noFill/>
        </p:spPr>
        <p:txBody>
          <a:bodyPr wrap="none">
            <a:spAutoFit/>
          </a:bodyPr>
          <a:lstStyle/>
          <a:p>
            <a:pPr>
              <a:defRPr sz="1800" b="1">
                <a:solidFill>
                  <a:srgbClr val="66BB6A"/>
                </a:solidFill>
              </a:defRPr>
            </a:pPr>
            <a:r>
              <a:t>⚡  Prerequisites</a:t>
            </a:r>
          </a:p>
        </p:txBody>
      </p:sp>
      <p:sp>
        <p:nvSpPr>
          <p:cNvPr id="9" name="TextBox 8"/>
          <p:cNvSpPr txBox="1"/>
          <p:nvPr/>
        </p:nvSpPr>
        <p:spPr>
          <a:xfrm>
            <a:off x="1097280" y="5212080"/>
            <a:ext cx="10058400" cy="731520"/>
          </a:xfrm>
          <a:prstGeom prst="rect">
            <a:avLst/>
          </a:prstGeom>
          <a:noFill/>
        </p:spPr>
        <p:txBody>
          <a:bodyPr wrap="square">
            <a:spAutoFit/>
          </a:bodyPr>
          <a:lstStyle/>
          <a:p>
            <a:pPr>
              <a:defRPr sz="1400">
                <a:solidFill>
                  <a:srgbClr val="BBBBBB"/>
                </a:solidFill>
              </a:defRPr>
            </a:pPr>
            <a:r>
              <a:t>• Completion of Lab 4.</a:t>
            </a:r>
            <a:br/>
            <a:r>
              <a:t>• Elasticsearch and Kibana must be running.</a:t>
            </a:r>
            <a:br/>
            <a:r>
              <a:t>• You must have your `elastic` password.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7: Installing and Configuring Filebeat</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Install Filebeat</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(Since we already added the Elastic apt repository in Lab 3, this is straightforward).</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sudo apt-get install filebeat</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Enable the System module</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This module tells Filebeat to specifically look for native Unix logs.</a:t>
            </a:r>
          </a:p>
        </p:txBody>
      </p:sp>
      <p:sp>
        <p:nvSpPr>
          <p:cNvPr id="9" name="TextBox 8"/>
          <p:cNvSpPr txBox="1"/>
          <p:nvPr/>
        </p:nvSpPr>
        <p:spPr>
          <a:xfrm>
            <a:off x="914400" y="3081527"/>
            <a:ext cx="10515600" cy="292608"/>
          </a:xfrm>
          <a:prstGeom prst="rect">
            <a:avLst/>
          </a:prstGeom>
          <a:noFill/>
        </p:spPr>
        <p:txBody>
          <a:bodyPr wrap="square">
            <a:spAutoFit/>
          </a:bodyPr>
          <a:lstStyle/>
          <a:p>
            <a:pPr>
              <a:defRPr sz="1300">
                <a:solidFill>
                  <a:srgbClr val="80FF80"/>
                </a:solidFill>
                <a:latin typeface="Courier New"/>
              </a:defRPr>
            </a:pPr>
            <a:r>
              <a:t>sudo filebeat modules enable system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7: Installing and Configuring Filebeat</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Setup Filebeat Assets</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This command installs the pre-built Kibana dashboards and ingest pipelines required to parse system logs.        (Wait for this command to finish; it may take a minute).</a:t>
            </a:r>
          </a:p>
        </p:txBody>
      </p:sp>
      <p:sp>
        <p:nvSpPr>
          <p:cNvPr id="6" name="TextBox 5"/>
          <p:cNvSpPr txBox="1"/>
          <p:nvPr/>
        </p:nvSpPr>
        <p:spPr>
          <a:xfrm>
            <a:off x="914400" y="1737360"/>
            <a:ext cx="10515600" cy="1097280"/>
          </a:xfrm>
          <a:prstGeom prst="rect">
            <a:avLst/>
          </a:prstGeom>
          <a:noFill/>
        </p:spPr>
        <p:txBody>
          <a:bodyPr wrap="square">
            <a:spAutoFit/>
          </a:bodyPr>
          <a:lstStyle/>
          <a:p>
            <a:pPr>
              <a:defRPr sz="1300">
                <a:solidFill>
                  <a:srgbClr val="80FF80"/>
                </a:solidFill>
                <a:latin typeface="Courier New"/>
              </a:defRPr>
            </a:pPr>
            <a:r>
              <a:t>sudo filebeat setup -e \</a:t>
            </a:r>
          </a:p>
          <a:p>
            <a:pPr>
              <a:defRPr sz="1300">
                <a:solidFill>
                  <a:srgbClr val="80FF80"/>
                </a:solidFill>
                <a:latin typeface="Courier New"/>
              </a:defRPr>
            </a:pPr>
            <a:r>
              <a:t>     -E output.elasticsearch.hosts=['https://localhost:9200'] \</a:t>
            </a:r>
          </a:p>
          <a:p>
            <a:pPr>
              <a:defRPr sz="1300">
                <a:solidFill>
                  <a:srgbClr val="80FF80"/>
                </a:solidFill>
                <a:latin typeface="Courier New"/>
              </a:defRPr>
            </a:pPr>
            <a:r>
              <a:t>     -E output.elasticsearch.username=elastic \</a:t>
            </a:r>
          </a:p>
          <a:p>
            <a:pPr>
              <a:defRPr sz="1300">
                <a:solidFill>
                  <a:srgbClr val="80FF80"/>
                </a:solidFill>
                <a:latin typeface="Courier New"/>
              </a:defRPr>
            </a:pPr>
            <a:r>
              <a:t>     -E output.elasticsearch.password='&lt;YOUR_PASSWORD&gt;' \</a:t>
            </a:r>
          </a:p>
          <a:p>
            <a:pPr>
              <a:defRPr sz="1300">
                <a:solidFill>
                  <a:srgbClr val="80FF80"/>
                </a:solidFill>
                <a:latin typeface="Courier New"/>
              </a:defRPr>
            </a:pPr>
            <a:r>
              <a:t>     -E output.elasticsearch.ssl.certificate_authorities=['/etc/elasticsearch/certs/http_ca.crt']</a:t>
            </a:r>
          </a:p>
        </p:txBody>
      </p:sp>
      <p:sp>
        <p:nvSpPr>
          <p:cNvPr id="7" name="TextBox 6"/>
          <p:cNvSpPr txBox="1"/>
          <p:nvPr/>
        </p:nvSpPr>
        <p:spPr>
          <a:xfrm>
            <a:off x="457200" y="3063240"/>
            <a:ext cx="10972800" cy="320040"/>
          </a:xfrm>
          <a:prstGeom prst="rect">
            <a:avLst/>
          </a:prstGeom>
          <a:noFill/>
        </p:spPr>
        <p:txBody>
          <a:bodyPr wrap="none">
            <a:spAutoFit/>
          </a:bodyPr>
          <a:lstStyle/>
          <a:p>
            <a:pPr>
              <a:defRPr sz="1700" b="1">
                <a:solidFill>
                  <a:srgbClr val="FFA726"/>
                </a:solidFill>
              </a:defRPr>
            </a:pPr>
            <a:r>
              <a:t>▸  Start Filebeat</a:t>
            </a:r>
          </a:p>
        </p:txBody>
      </p:sp>
      <p:sp>
        <p:nvSpPr>
          <p:cNvPr id="8" name="TextBox 7"/>
          <p:cNvSpPr txBox="1"/>
          <p:nvPr/>
        </p:nvSpPr>
        <p:spPr>
          <a:xfrm>
            <a:off x="914400" y="3429000"/>
            <a:ext cx="10515600" cy="493776"/>
          </a:xfrm>
          <a:prstGeom prst="rect">
            <a:avLst/>
          </a:prstGeom>
          <a:noFill/>
        </p:spPr>
        <p:txBody>
          <a:bodyPr wrap="square">
            <a:spAutoFit/>
          </a:bodyPr>
          <a:lstStyle/>
          <a:p>
            <a:pPr>
              <a:defRPr sz="1300">
                <a:solidFill>
                  <a:srgbClr val="80FF80"/>
                </a:solidFill>
                <a:latin typeface="Courier New"/>
              </a:defRPr>
            </a:pPr>
            <a:r>
              <a:t>sudo systemctl enable filebeat</a:t>
            </a:r>
          </a:p>
          <a:p>
            <a:pPr>
              <a:defRPr sz="1300">
                <a:solidFill>
                  <a:srgbClr val="80FF80"/>
                </a:solidFill>
                <a:latin typeface="Courier New"/>
              </a:defRPr>
            </a:pPr>
            <a:r>
              <a:t>   sudo systemctl start filebeat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7: Installing and Configuring Filebeat</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Verify in Kibana</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 Open Kibana in your browser (http://localhost:5601).    - Navigate to Analytics -&gt; Discover.    - Change your data view / index pattern to filebeat-.    - You should see your live Ubuntu logs streaming in!</a:t>
            </a:r>
          </a:p>
        </p:txBody>
      </p:sp>
      <p:sp>
        <p:nvSpPr>
          <p:cNvPr id="6" name="TextBox 5"/>
          <p:cNvSpPr txBox="1"/>
          <p:nvPr/>
        </p:nvSpPr>
        <p:spPr>
          <a:xfrm>
            <a:off x="457200" y="1874519"/>
            <a:ext cx="10972800" cy="320040"/>
          </a:xfrm>
          <a:prstGeom prst="rect">
            <a:avLst/>
          </a:prstGeom>
          <a:noFill/>
        </p:spPr>
        <p:txBody>
          <a:bodyPr wrap="none">
            <a:spAutoFit/>
          </a:bodyPr>
          <a:lstStyle/>
          <a:p>
            <a:pPr>
              <a:defRPr sz="1700" b="1">
                <a:solidFill>
                  <a:srgbClr val="FFA726"/>
                </a:solidFill>
              </a:defRPr>
            </a:pPr>
            <a:r>
              <a:t>▸  Install Logstash via APT</a:t>
            </a:r>
          </a:p>
        </p:txBody>
      </p:sp>
      <p:sp>
        <p:nvSpPr>
          <p:cNvPr id="7" name="TextBox 6"/>
          <p:cNvSpPr txBox="1"/>
          <p:nvPr/>
        </p:nvSpPr>
        <p:spPr>
          <a:xfrm>
            <a:off x="914400" y="2240279"/>
            <a:ext cx="10515600" cy="548640"/>
          </a:xfrm>
          <a:prstGeom prst="rect">
            <a:avLst/>
          </a:prstGeom>
          <a:noFill/>
        </p:spPr>
        <p:txBody>
          <a:bodyPr wrap="square">
            <a:spAutoFit/>
          </a:bodyPr>
          <a:lstStyle/>
          <a:p>
            <a:pPr>
              <a:defRPr sz="1300">
                <a:solidFill>
                  <a:srgbClr val="BBBBBB"/>
                </a:solidFill>
              </a:defRPr>
            </a:pPr>
            <a:r>
              <a:t>Since you already added the Elastic repository in Lab 3, you can simply install Logstash.</a:t>
            </a:r>
          </a:p>
        </p:txBody>
      </p:sp>
      <p:sp>
        <p:nvSpPr>
          <p:cNvPr id="8" name="TextBox 7"/>
          <p:cNvSpPr txBox="1"/>
          <p:nvPr/>
        </p:nvSpPr>
        <p:spPr>
          <a:xfrm>
            <a:off x="914400" y="2697479"/>
            <a:ext cx="10515600" cy="292608"/>
          </a:xfrm>
          <a:prstGeom prst="rect">
            <a:avLst/>
          </a:prstGeom>
          <a:noFill/>
        </p:spPr>
        <p:txBody>
          <a:bodyPr wrap="square">
            <a:spAutoFit/>
          </a:bodyPr>
          <a:lstStyle/>
          <a:p>
            <a:pPr>
              <a:defRPr sz="1300">
                <a:solidFill>
                  <a:srgbClr val="80FF80"/>
                </a:solidFill>
                <a:latin typeface="Courier New"/>
              </a:defRPr>
            </a:pPr>
            <a:r>
              <a:t>sudo apt-get update &amp;&amp; sudo apt-get install logstash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7: Installing and Configuring Filebeat</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Create a Logstash Pipeline Configuration</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We will create a simple pipeline that reads from your terminal (stdin), applies a dummy filter, and outputs to your secure Elasticsearch cluster.</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sudo nano /etc/logstash/conf.d/my_pipeline.conf</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Insert the Pipeline Code</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Paste the following into the file. Make sure to replace &lt;PASSWORD&gt; with your elastic user password. Note how we explicitly point to the http_ca.crt file for TLS verification!        Save and exit (CTRL+O, Enter, CTRL+X).</a:t>
            </a:r>
          </a:p>
        </p:txBody>
      </p:sp>
      <p:sp>
        <p:nvSpPr>
          <p:cNvPr id="9" name="TextBox 8"/>
          <p:cNvSpPr txBox="1"/>
          <p:nvPr/>
        </p:nvSpPr>
        <p:spPr>
          <a:xfrm>
            <a:off x="914400" y="3081527"/>
            <a:ext cx="10515600" cy="2103120"/>
          </a:xfrm>
          <a:prstGeom prst="rect">
            <a:avLst/>
          </a:prstGeom>
          <a:noFill/>
        </p:spPr>
        <p:txBody>
          <a:bodyPr wrap="square">
            <a:spAutoFit/>
          </a:bodyPr>
          <a:lstStyle/>
          <a:p>
            <a:pPr>
              <a:defRPr sz="1300">
                <a:solidFill>
                  <a:srgbClr val="80FF80"/>
                </a:solidFill>
                <a:latin typeface="Courier New"/>
              </a:defRPr>
            </a:pPr>
            <a:r>
              <a:t>input {</a:t>
            </a:r>
          </a:p>
          <a:p>
            <a:pPr>
              <a:defRPr sz="1300">
                <a:solidFill>
                  <a:srgbClr val="80FF80"/>
                </a:solidFill>
                <a:latin typeface="Courier New"/>
              </a:defRPr>
            </a:pPr>
            <a:r>
              <a:t>     stdin { }</a:t>
            </a:r>
          </a:p>
          <a:p>
            <a:pPr>
              <a:defRPr sz="1300">
                <a:solidFill>
                  <a:srgbClr val="80FF80"/>
                </a:solidFill>
                <a:latin typeface="Courier New"/>
              </a:defRPr>
            </a:pPr>
            <a:r>
              <a:t>   }</a:t>
            </a:r>
          </a:p>
          <a:p>
            <a:pPr>
              <a:defRPr sz="1300">
                <a:solidFill>
                  <a:srgbClr val="80FF80"/>
                </a:solidFill>
                <a:latin typeface="Courier New"/>
              </a:defRPr>
            </a:pPr>
          </a:p>
          <a:p>
            <a:pPr>
              <a:defRPr sz="1300">
                <a:solidFill>
                  <a:srgbClr val="80FF80"/>
                </a:solidFill>
                <a:latin typeface="Courier New"/>
              </a:defRPr>
            </a:pPr>
            <a:r>
              <a:t>   filter {</a:t>
            </a:r>
          </a:p>
          <a:p>
            <a:pPr>
              <a:defRPr sz="1300">
                <a:solidFill>
                  <a:srgbClr val="80FF80"/>
                </a:solidFill>
                <a:latin typeface="Courier New"/>
              </a:defRPr>
            </a:pPr>
            <a:r>
              <a:t>     mutate {</a:t>
            </a:r>
          </a:p>
          <a:p>
            <a:pPr>
              <a:defRPr sz="1300">
                <a:solidFill>
                  <a:srgbClr val="80FF80"/>
                </a:solidFill>
                <a:latin typeface="Courier New"/>
              </a:defRPr>
            </a:pPr>
            <a:r>
              <a:t>       add_field =&gt; { "processed_by" =&gt; "logstash_lab" }</a:t>
            </a:r>
          </a:p>
          <a:p>
            <a:pPr>
              <a:defRPr sz="1300">
                <a:solidFill>
                  <a:srgbClr val="80FF80"/>
                </a:solidFill>
                <a:latin typeface="Courier New"/>
              </a:defRPr>
            </a:pPr>
            <a:r>
              <a:t>     }</a:t>
            </a:r>
          </a:p>
          <a:p>
            <a:pPr>
              <a:defRPr sz="1300">
                <a:solidFill>
                  <a:srgbClr val="80FF80"/>
                </a:solidFill>
                <a:latin typeface="Courier New"/>
              </a:defRPr>
            </a:pPr>
            <a:r>
              <a:t>   }</a:t>
            </a:r>
          </a:p>
          <a:p>
            <a:pPr>
              <a:defRPr sz="1300">
                <a:solidFill>
                  <a:srgbClr val="80FF80"/>
                </a:solidFill>
                <a:latin typeface="Courier New"/>
              </a:defRPr>
            </a:p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7: Installing and Configuring Filebeat</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Run Logstash in the Foreground</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Instead of starting it as a system service, we'll run it manually so we can interact with stdin.        Note: Logstash runs on the JVM and takes 30-60 seconds to boot depending on your VM resources.</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sudo /usr/share/logstash/bin/logstash -f /etc/logstash/conf.d/my_pipeline.conf</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Test the Pipeline</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Once you see Pipeline main started, type a message into your terminal and press Enter:    Hello from the Logstash Lab!</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7: Installing and Configuring Filebeat</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Verify the Output</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Logstash should immediately print a parsed JSON response to your terminal (thanks to the rubydebug stdout codec), showing the message alongside the newly appended processed_by field! It is also simultaneously being index</a:t>
            </a:r>
          </a:p>
        </p:txBody>
      </p:sp>
      <p:sp>
        <p:nvSpPr>
          <p:cNvPr id="6" name="TextBox 5"/>
          <p:cNvSpPr txBox="1"/>
          <p:nvPr/>
        </p:nvSpPr>
        <p:spPr>
          <a:xfrm>
            <a:off x="457200" y="1874519"/>
            <a:ext cx="10972800" cy="320040"/>
          </a:xfrm>
          <a:prstGeom prst="rect">
            <a:avLst/>
          </a:prstGeom>
          <a:noFill/>
        </p:spPr>
        <p:txBody>
          <a:bodyPr wrap="none">
            <a:spAutoFit/>
          </a:bodyPr>
          <a:lstStyle/>
          <a:p>
            <a:pPr>
              <a:defRPr sz="1700" b="1">
                <a:solidFill>
                  <a:srgbClr val="FFA726"/>
                </a:solidFill>
              </a:defRPr>
            </a:pPr>
            <a:r>
              <a:t>▸  Stop Logstash</a:t>
            </a:r>
          </a:p>
        </p:txBody>
      </p:sp>
      <p:sp>
        <p:nvSpPr>
          <p:cNvPr id="7" name="TextBox 6"/>
          <p:cNvSpPr txBox="1"/>
          <p:nvPr/>
        </p:nvSpPr>
        <p:spPr>
          <a:xfrm>
            <a:off x="914400" y="2240279"/>
            <a:ext cx="10515600" cy="548640"/>
          </a:xfrm>
          <a:prstGeom prst="rect">
            <a:avLst/>
          </a:prstGeom>
          <a:noFill/>
        </p:spPr>
        <p:txBody>
          <a:bodyPr wrap="square">
            <a:spAutoFit/>
          </a:bodyPr>
          <a:lstStyle/>
          <a:p>
            <a:pPr>
              <a:defRPr sz="1300">
                <a:solidFill>
                  <a:srgbClr val="BBBBBB"/>
                </a:solidFill>
              </a:defRPr>
            </a:pPr>
            <a:r>
              <a:t>Press CTRL+C to gracefully terminate the Logstash foreground process.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7: Installing and Configuring Filebeat</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Download Filebeat</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Download the zip from: [https://artifacts.elastic.co/downloads/beats/filebeat/filebeat-8.10.4-windows-x86_64.zip](https://artifacts.elastic.co/downloads/beats/filebeat/filebeat-8.10.4-windows-x86_64.zip)</a:t>
            </a:r>
          </a:p>
        </p:txBody>
      </p:sp>
      <p:sp>
        <p:nvSpPr>
          <p:cNvPr id="6" name="TextBox 5"/>
          <p:cNvSpPr txBox="1"/>
          <p:nvPr/>
        </p:nvSpPr>
        <p:spPr>
          <a:xfrm>
            <a:off x="914400" y="1737360"/>
            <a:ext cx="10515600" cy="694944"/>
          </a:xfrm>
          <a:prstGeom prst="rect">
            <a:avLst/>
          </a:prstGeom>
          <a:noFill/>
        </p:spPr>
        <p:txBody>
          <a:bodyPr wrap="square">
            <a:spAutoFit/>
          </a:bodyPr>
          <a:lstStyle/>
          <a:p>
            <a:pPr>
              <a:defRPr sz="1300">
                <a:solidFill>
                  <a:srgbClr val="80FF80"/>
                </a:solidFill>
                <a:latin typeface="Courier New"/>
              </a:defRPr>
            </a:pPr>
            <a:r>
              <a:t>Invoke-WebRequest -Uri "https://artifacts.elastic.co/downloads/beats/filebeat/filebeat-8.10.4-windows-x86_64.zip" -OutFi</a:t>
            </a:r>
          </a:p>
          <a:p>
            <a:pPr>
              <a:defRPr sz="1300">
                <a:solidFill>
                  <a:srgbClr val="80FF80"/>
                </a:solidFill>
                <a:latin typeface="Courier New"/>
              </a:defRPr>
            </a:pPr>
            <a:r>
              <a:t>   Expand-Archive filebeat.zip -DestinationPath C:\elk</a:t>
            </a:r>
          </a:p>
          <a:p>
            <a:pPr>
              <a:defRPr sz="1300">
                <a:solidFill>
                  <a:srgbClr val="80FF80"/>
                </a:solidFill>
                <a:latin typeface="Courier New"/>
              </a:defRPr>
            </a:pPr>
            <a:r>
              <a:t>   cd C:\elk\filebeat-8.10.4-windows-x86_64</a:t>
            </a:r>
          </a:p>
        </p:txBody>
      </p:sp>
      <p:sp>
        <p:nvSpPr>
          <p:cNvPr id="7" name="TextBox 6"/>
          <p:cNvSpPr txBox="1"/>
          <p:nvPr/>
        </p:nvSpPr>
        <p:spPr>
          <a:xfrm>
            <a:off x="457200" y="2660903"/>
            <a:ext cx="10972800" cy="320040"/>
          </a:xfrm>
          <a:prstGeom prst="rect">
            <a:avLst/>
          </a:prstGeom>
          <a:noFill/>
        </p:spPr>
        <p:txBody>
          <a:bodyPr wrap="none">
            <a:spAutoFit/>
          </a:bodyPr>
          <a:lstStyle/>
          <a:p>
            <a:pPr>
              <a:defRPr sz="1700" b="1">
                <a:solidFill>
                  <a:srgbClr val="FFA726"/>
                </a:solidFill>
              </a:defRPr>
            </a:pPr>
            <a:r>
              <a:t>▸  Edit `filebeat.yml`</a:t>
            </a:r>
          </a:p>
        </p:txBody>
      </p:sp>
      <p:sp>
        <p:nvSpPr>
          <p:cNvPr id="8" name="TextBox 7"/>
          <p:cNvSpPr txBox="1"/>
          <p:nvPr/>
        </p:nvSpPr>
        <p:spPr>
          <a:xfrm>
            <a:off x="914400" y="3026663"/>
            <a:ext cx="10515600" cy="548640"/>
          </a:xfrm>
          <a:prstGeom prst="rect">
            <a:avLst/>
          </a:prstGeom>
          <a:noFill/>
        </p:spPr>
        <p:txBody>
          <a:bodyPr wrap="square">
            <a:spAutoFit/>
          </a:bodyPr>
          <a:lstStyle/>
          <a:p>
            <a:pPr>
              <a:defRPr sz="1300">
                <a:solidFill>
                  <a:srgbClr val="BBBBBB"/>
                </a:solidFill>
              </a:defRPr>
            </a:pPr>
            <a:r>
              <a:t>Open filebeat.yml in a text editor and configure the Elasticsearch output:</a:t>
            </a:r>
          </a:p>
        </p:txBody>
      </p:sp>
      <p:sp>
        <p:nvSpPr>
          <p:cNvPr id="9" name="TextBox 8"/>
          <p:cNvSpPr txBox="1"/>
          <p:nvPr/>
        </p:nvSpPr>
        <p:spPr>
          <a:xfrm>
            <a:off x="914400" y="3483863"/>
            <a:ext cx="10515600" cy="1097280"/>
          </a:xfrm>
          <a:prstGeom prst="rect">
            <a:avLst/>
          </a:prstGeom>
          <a:noFill/>
        </p:spPr>
        <p:txBody>
          <a:bodyPr wrap="square">
            <a:spAutoFit/>
          </a:bodyPr>
          <a:lstStyle/>
          <a:p>
            <a:pPr>
              <a:defRPr sz="1300">
                <a:solidFill>
                  <a:srgbClr val="80FF80"/>
                </a:solidFill>
                <a:latin typeface="Courier New"/>
              </a:defRPr>
            </a:pPr>
            <a:r>
              <a:t>output.elasticsearch:</a:t>
            </a:r>
          </a:p>
          <a:p>
            <a:pPr>
              <a:defRPr sz="1300">
                <a:solidFill>
                  <a:srgbClr val="80FF80"/>
                </a:solidFill>
                <a:latin typeface="Courier New"/>
              </a:defRPr>
            </a:pPr>
            <a:r>
              <a:t>     hosts: ["https://localhost:9200"]</a:t>
            </a:r>
          </a:p>
          <a:p>
            <a:pPr>
              <a:defRPr sz="1300">
                <a:solidFill>
                  <a:srgbClr val="80FF80"/>
                </a:solidFill>
                <a:latin typeface="Courier New"/>
              </a:defRPr>
            </a:pPr>
            <a:r>
              <a:t>     username: "elastic"</a:t>
            </a:r>
          </a:p>
          <a:p>
            <a:pPr>
              <a:defRPr sz="1300">
                <a:solidFill>
                  <a:srgbClr val="80FF80"/>
                </a:solidFill>
                <a:latin typeface="Courier New"/>
              </a:defRPr>
            </a:pPr>
            <a:r>
              <a:t>     password: "YOUR_PASSWORD_HERE"</a:t>
            </a:r>
          </a:p>
          <a:p>
            <a:pPr>
              <a:defRPr sz="1300">
                <a:solidFill>
                  <a:srgbClr val="80FF80"/>
                </a:solidFill>
                <a:latin typeface="Courier New"/>
              </a:defRPr>
            </a:pPr>
            <a:r>
              <a:t>     ssl.certificate_authorities: ["C:\\elk\\elasticsearch-8.10.4\\config\\certs\\http_ca.crt"]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7: Installing and Configuring Filebeat</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Enable the System Module (Windows Event Logs)</a:t>
            </a:r>
          </a:p>
        </p:txBody>
      </p:sp>
      <p:sp>
        <p:nvSpPr>
          <p:cNvPr id="5" name="TextBox 4"/>
          <p:cNvSpPr txBox="1"/>
          <p:nvPr/>
        </p:nvSpPr>
        <p:spPr>
          <a:xfrm>
            <a:off x="914400" y="1280160"/>
            <a:ext cx="10515600" cy="292608"/>
          </a:xfrm>
          <a:prstGeom prst="rect">
            <a:avLst/>
          </a:prstGeom>
          <a:noFill/>
        </p:spPr>
        <p:txBody>
          <a:bodyPr wrap="square">
            <a:spAutoFit/>
          </a:bodyPr>
          <a:lstStyle/>
          <a:p>
            <a:pPr>
              <a:defRPr sz="1300">
                <a:solidFill>
                  <a:srgbClr val="80FF80"/>
                </a:solidFill>
                <a:latin typeface="Courier New"/>
              </a:defRPr>
            </a:pPr>
            <a:r>
              <a:t>.\filebeat.exe modules enable system</a:t>
            </a:r>
          </a:p>
        </p:txBody>
      </p:sp>
      <p:sp>
        <p:nvSpPr>
          <p:cNvPr id="6" name="TextBox 5"/>
          <p:cNvSpPr txBox="1"/>
          <p:nvPr/>
        </p:nvSpPr>
        <p:spPr>
          <a:xfrm>
            <a:off x="457200" y="1801367"/>
            <a:ext cx="10972800" cy="320040"/>
          </a:xfrm>
          <a:prstGeom prst="rect">
            <a:avLst/>
          </a:prstGeom>
          <a:noFill/>
        </p:spPr>
        <p:txBody>
          <a:bodyPr wrap="none">
            <a:spAutoFit/>
          </a:bodyPr>
          <a:lstStyle/>
          <a:p>
            <a:pPr>
              <a:defRPr sz="1700" b="1">
                <a:solidFill>
                  <a:srgbClr val="FFA726"/>
                </a:solidFill>
              </a:defRPr>
            </a:pPr>
            <a:r>
              <a:t>▸  Setup and Start Filebeat</a:t>
            </a:r>
          </a:p>
        </p:txBody>
      </p:sp>
      <p:sp>
        <p:nvSpPr>
          <p:cNvPr id="7" name="TextBox 6"/>
          <p:cNvSpPr txBox="1"/>
          <p:nvPr/>
        </p:nvSpPr>
        <p:spPr>
          <a:xfrm>
            <a:off x="914400" y="2167127"/>
            <a:ext cx="10515600" cy="493776"/>
          </a:xfrm>
          <a:prstGeom prst="rect">
            <a:avLst/>
          </a:prstGeom>
          <a:noFill/>
        </p:spPr>
        <p:txBody>
          <a:bodyPr wrap="square">
            <a:spAutoFit/>
          </a:bodyPr>
          <a:lstStyle/>
          <a:p>
            <a:pPr>
              <a:defRPr sz="1300">
                <a:solidFill>
                  <a:srgbClr val="80FF80"/>
                </a:solidFill>
                <a:latin typeface="Courier New"/>
              </a:defRPr>
            </a:pPr>
            <a:r>
              <a:t>.\filebeat.exe setup -e</a:t>
            </a:r>
          </a:p>
          <a:p>
            <a:pPr>
              <a:defRPr sz="1300">
                <a:solidFill>
                  <a:srgbClr val="80FF80"/>
                </a:solidFill>
                <a:latin typeface="Courier New"/>
              </a:defRPr>
            </a:pPr>
            <a:r>
              <a:t>   .\filebeat.exe -e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7: Installing and Configuring Filebeat</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Verify in Kibana</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Navigate to Analytics → Discover and select the filebeat- data view to see Windows event logs.</a:t>
            </a:r>
          </a:p>
        </p:txBody>
      </p:sp>
      <p:sp>
        <p:nvSpPr>
          <p:cNvPr id="6" name="TextBox 5"/>
          <p:cNvSpPr txBox="1"/>
          <p:nvPr/>
        </p:nvSpPr>
        <p:spPr>
          <a:xfrm>
            <a:off x="457200" y="1874519"/>
            <a:ext cx="10972800" cy="320040"/>
          </a:xfrm>
          <a:prstGeom prst="rect">
            <a:avLst/>
          </a:prstGeom>
          <a:noFill/>
        </p:spPr>
        <p:txBody>
          <a:bodyPr wrap="none">
            <a:spAutoFit/>
          </a:bodyPr>
          <a:lstStyle/>
          <a:p>
            <a:pPr>
              <a:defRPr sz="1700" b="1">
                <a:solidFill>
                  <a:srgbClr val="FFA726"/>
                </a:solidFill>
              </a:defRPr>
            </a:pPr>
            <a:r>
              <a:t>▸  Download Logstash</a:t>
            </a:r>
          </a:p>
        </p:txBody>
      </p:sp>
      <p:sp>
        <p:nvSpPr>
          <p:cNvPr id="7" name="TextBox 6"/>
          <p:cNvSpPr txBox="1"/>
          <p:nvPr/>
        </p:nvSpPr>
        <p:spPr>
          <a:xfrm>
            <a:off x="914400" y="2240279"/>
            <a:ext cx="10515600" cy="493776"/>
          </a:xfrm>
          <a:prstGeom prst="rect">
            <a:avLst/>
          </a:prstGeom>
          <a:noFill/>
        </p:spPr>
        <p:txBody>
          <a:bodyPr wrap="square">
            <a:spAutoFit/>
          </a:bodyPr>
          <a:lstStyle/>
          <a:p>
            <a:pPr>
              <a:defRPr sz="1300">
                <a:solidFill>
                  <a:srgbClr val="80FF80"/>
                </a:solidFill>
                <a:latin typeface="Courier New"/>
              </a:defRPr>
            </a:pPr>
            <a:r>
              <a:t>Invoke-WebRequest -Uri "https://artifacts.elastic.co/downloads/logstash/logstash-8.10.4-windows-x86_64.zip" -OutFile log</a:t>
            </a:r>
          </a:p>
          <a:p>
            <a:pPr>
              <a:defRPr sz="1300">
                <a:solidFill>
                  <a:srgbClr val="80FF80"/>
                </a:solidFill>
                <a:latin typeface="Courier New"/>
              </a:defRPr>
            </a:pPr>
            <a:r>
              <a:t>   Expand-Archive logstash.zip -DestinationPath C:\elk</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7: Installing and Configuring Filebeat</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Create a Test Pipeline</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Create C:\elk\logstash-8.10.4\config\test-pipeline.conf:</a:t>
            </a:r>
          </a:p>
        </p:txBody>
      </p:sp>
      <p:sp>
        <p:nvSpPr>
          <p:cNvPr id="6" name="TextBox 5"/>
          <p:cNvSpPr txBox="1"/>
          <p:nvPr/>
        </p:nvSpPr>
        <p:spPr>
          <a:xfrm>
            <a:off x="914400" y="1737360"/>
            <a:ext cx="10515600" cy="2103120"/>
          </a:xfrm>
          <a:prstGeom prst="rect">
            <a:avLst/>
          </a:prstGeom>
          <a:noFill/>
        </p:spPr>
        <p:txBody>
          <a:bodyPr wrap="square">
            <a:spAutoFit/>
          </a:bodyPr>
          <a:lstStyle/>
          <a:p>
            <a:pPr>
              <a:defRPr sz="1300">
                <a:solidFill>
                  <a:srgbClr val="80FF80"/>
                </a:solidFill>
                <a:latin typeface="Courier New"/>
              </a:defRPr>
            </a:pPr>
            <a:r>
              <a:t>input {</a:t>
            </a:r>
          </a:p>
          <a:p>
            <a:pPr>
              <a:defRPr sz="1300">
                <a:solidFill>
                  <a:srgbClr val="80FF80"/>
                </a:solidFill>
                <a:latin typeface="Courier New"/>
              </a:defRPr>
            </a:pPr>
            <a:r>
              <a:t>     stdin { }</a:t>
            </a:r>
          </a:p>
          <a:p>
            <a:pPr>
              <a:defRPr sz="1300">
                <a:solidFill>
                  <a:srgbClr val="80FF80"/>
                </a:solidFill>
                <a:latin typeface="Courier New"/>
              </a:defRPr>
            </a:pPr>
            <a:r>
              <a:t>   }</a:t>
            </a:r>
          </a:p>
          <a:p>
            <a:pPr>
              <a:defRPr sz="1300">
                <a:solidFill>
                  <a:srgbClr val="80FF80"/>
                </a:solidFill>
                <a:latin typeface="Courier New"/>
              </a:defRPr>
            </a:pPr>
            <a:r>
              <a:t>   filter {</a:t>
            </a:r>
          </a:p>
          <a:p>
            <a:pPr>
              <a:defRPr sz="1300">
                <a:solidFill>
                  <a:srgbClr val="80FF80"/>
                </a:solidFill>
                <a:latin typeface="Courier New"/>
              </a:defRPr>
            </a:pPr>
            <a:r>
              <a:t>     mutate {</a:t>
            </a:r>
          </a:p>
          <a:p>
            <a:pPr>
              <a:defRPr sz="1300">
                <a:solidFill>
                  <a:srgbClr val="80FF80"/>
                </a:solidFill>
                <a:latin typeface="Courier New"/>
              </a:defRPr>
            </a:pPr>
            <a:r>
              <a:t>       add_field =&gt; { "processed_by" =&gt; "logstash_lab" }</a:t>
            </a:r>
          </a:p>
          <a:p>
            <a:pPr>
              <a:defRPr sz="1300">
                <a:solidFill>
                  <a:srgbClr val="80FF80"/>
                </a:solidFill>
                <a:latin typeface="Courier New"/>
              </a:defRPr>
            </a:pPr>
            <a:r>
              <a:t>     }</a:t>
            </a:r>
          </a:p>
          <a:p>
            <a:pPr>
              <a:defRPr sz="1300">
                <a:solidFill>
                  <a:srgbClr val="80FF80"/>
                </a:solidFill>
                <a:latin typeface="Courier New"/>
              </a:defRPr>
            </a:pPr>
            <a:r>
              <a:t>   }</a:t>
            </a:r>
          </a:p>
          <a:p>
            <a:pPr>
              <a:defRPr sz="1300">
                <a:solidFill>
                  <a:srgbClr val="80FF80"/>
                </a:solidFill>
                <a:latin typeface="Courier New"/>
              </a:defRPr>
            </a:pPr>
            <a:r>
              <a:t>   output {</a:t>
            </a:r>
          </a:p>
          <a:p>
            <a:pPr>
              <a:defRPr sz="1300">
                <a:solidFill>
                  <a:srgbClr val="80FF80"/>
                </a:solidFill>
                <a:latin typeface="Courier New"/>
              </a:defRPr>
            </a:pPr>
            <a:r>
              <a:t>     elasticsearch {</a:t>
            </a:r>
          </a:p>
        </p:txBody>
      </p:sp>
      <p:sp>
        <p:nvSpPr>
          <p:cNvPr id="7" name="TextBox 6"/>
          <p:cNvSpPr txBox="1"/>
          <p:nvPr/>
        </p:nvSpPr>
        <p:spPr>
          <a:xfrm>
            <a:off x="457200" y="4069080"/>
            <a:ext cx="10972800" cy="320040"/>
          </a:xfrm>
          <a:prstGeom prst="rect">
            <a:avLst/>
          </a:prstGeom>
          <a:noFill/>
        </p:spPr>
        <p:txBody>
          <a:bodyPr wrap="none">
            <a:spAutoFit/>
          </a:bodyPr>
          <a:lstStyle/>
          <a:p>
            <a:pPr>
              <a:defRPr sz="1700" b="1">
                <a:solidFill>
                  <a:srgbClr val="FFA726"/>
                </a:solidFill>
              </a:defRPr>
            </a:pPr>
            <a:r>
              <a:t>▸  Run Logstash</a:t>
            </a:r>
          </a:p>
        </p:txBody>
      </p:sp>
      <p:sp>
        <p:nvSpPr>
          <p:cNvPr id="8" name="TextBox 7"/>
          <p:cNvSpPr txBox="1"/>
          <p:nvPr/>
        </p:nvSpPr>
        <p:spPr>
          <a:xfrm>
            <a:off x="914400" y="4434840"/>
            <a:ext cx="10515600" cy="548640"/>
          </a:xfrm>
          <a:prstGeom prst="rect">
            <a:avLst/>
          </a:prstGeom>
          <a:noFill/>
        </p:spPr>
        <p:txBody>
          <a:bodyPr wrap="square">
            <a:spAutoFit/>
          </a:bodyPr>
          <a:lstStyle/>
          <a:p>
            <a:pPr>
              <a:defRPr sz="1300">
                <a:solidFill>
                  <a:srgbClr val="BBBBBB"/>
                </a:solidFill>
              </a:defRPr>
            </a:pPr>
            <a:r>
              <a:t>Type a test message and press Enter. Press CTRL+C to stop.</a:t>
            </a:r>
          </a:p>
        </p:txBody>
      </p:sp>
      <p:sp>
        <p:nvSpPr>
          <p:cNvPr id="9" name="TextBox 8"/>
          <p:cNvSpPr txBox="1"/>
          <p:nvPr/>
        </p:nvSpPr>
        <p:spPr>
          <a:xfrm>
            <a:off x="914400" y="4892040"/>
            <a:ext cx="10515600" cy="292608"/>
          </a:xfrm>
          <a:prstGeom prst="rect">
            <a:avLst/>
          </a:prstGeom>
          <a:noFill/>
        </p:spPr>
        <p:txBody>
          <a:bodyPr wrap="square">
            <a:spAutoFit/>
          </a:bodyPr>
          <a:lstStyle/>
          <a:p>
            <a:pPr>
              <a:defRPr sz="1300">
                <a:solidFill>
                  <a:srgbClr val="80FF80"/>
                </a:solidFill>
                <a:latin typeface="Courier New"/>
              </a:defRPr>
            </a:pPr>
            <a:r>
              <a:t>C:\elk\logstash-8.10.4\bin\logstash.bat -f C:\elk\logstash-8.10.4\config\test-pipeline.conf</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3000" b="1">
                <a:solidFill>
                  <a:srgbClr val="00BBD4"/>
                </a:solidFill>
              </a:defRPr>
            </a:pPr>
            <a:r>
              <a:t>Lab 8: Installing and Configuring Logstash</a:t>
            </a:r>
          </a:p>
        </p:txBody>
      </p:sp>
      <p:sp>
        <p:nvSpPr>
          <p:cNvPr id="3" name="Rectangle 2"/>
          <p:cNvSpPr/>
          <p:nvPr/>
        </p:nvSpPr>
        <p:spPr>
          <a:xfrm>
            <a:off x="731520" y="1371600"/>
            <a:ext cx="10515600" cy="254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2743200" cy="365760"/>
          </a:xfrm>
          <a:prstGeom prst="rect">
            <a:avLst/>
          </a:prstGeom>
          <a:noFill/>
        </p:spPr>
        <p:txBody>
          <a:bodyPr wrap="none">
            <a:spAutoFit/>
          </a:bodyPr>
          <a:lstStyle/>
          <a:p>
            <a:pPr>
              <a:defRPr sz="2200" b="1">
                <a:solidFill>
                  <a:srgbClr val="FFA726"/>
                </a:solidFill>
              </a:defRPr>
            </a:pPr>
            <a:r>
              <a:t>🎯  Goal</a:t>
            </a:r>
          </a:p>
        </p:txBody>
      </p:sp>
      <p:sp>
        <p:nvSpPr>
          <p:cNvPr id="5" name="TextBox 4"/>
          <p:cNvSpPr txBox="1"/>
          <p:nvPr/>
        </p:nvSpPr>
        <p:spPr>
          <a:xfrm>
            <a:off x="1097280" y="2057400"/>
            <a:ext cx="10058400" cy="914400"/>
          </a:xfrm>
          <a:prstGeom prst="rect">
            <a:avLst/>
          </a:prstGeom>
          <a:noFill/>
        </p:spPr>
        <p:txBody>
          <a:bodyPr wrap="square">
            <a:spAutoFit/>
          </a:bodyPr>
          <a:lstStyle/>
          <a:p>
            <a:pPr>
              <a:defRPr sz="1600">
                <a:solidFill>
                  <a:srgbClr val="FFFFFF"/>
                </a:solidFill>
              </a:defRPr>
            </a:pPr>
            <a:r>
              <a:t>Install Logstash on your Ubuntu VM and build a complete data pipeline that reads input, transforms it, and sends it to Elasticsearch.</a:t>
            </a:r>
          </a:p>
        </p:txBody>
      </p:sp>
      <p:sp>
        <p:nvSpPr>
          <p:cNvPr id="6" name="TextBox 5"/>
          <p:cNvSpPr txBox="1"/>
          <p:nvPr/>
        </p:nvSpPr>
        <p:spPr>
          <a:xfrm>
            <a:off x="731520" y="3063240"/>
            <a:ext cx="3657600" cy="365760"/>
          </a:xfrm>
          <a:prstGeom prst="rect">
            <a:avLst/>
          </a:prstGeom>
          <a:noFill/>
        </p:spPr>
        <p:txBody>
          <a:bodyPr wrap="none">
            <a:spAutoFit/>
          </a:bodyPr>
          <a:lstStyle/>
          <a:p>
            <a:pPr>
              <a:defRPr sz="2200" b="1">
                <a:solidFill>
                  <a:srgbClr val="FFA726"/>
                </a:solidFill>
              </a:defRPr>
            </a:pPr>
            <a:r>
              <a:t>📋  Scenario</a:t>
            </a:r>
          </a:p>
        </p:txBody>
      </p:sp>
      <p:sp>
        <p:nvSpPr>
          <p:cNvPr id="7" name="TextBox 6"/>
          <p:cNvSpPr txBox="1"/>
          <p:nvPr/>
        </p:nvSpPr>
        <p:spPr>
          <a:xfrm>
            <a:off x="1097280" y="3474720"/>
            <a:ext cx="10058400" cy="1828800"/>
          </a:xfrm>
          <a:prstGeom prst="rect">
            <a:avLst/>
          </a:prstGeom>
          <a:noFill/>
        </p:spPr>
        <p:txBody>
          <a:bodyPr wrap="square">
            <a:spAutoFit/>
          </a:bodyPr>
          <a:lstStyle/>
          <a:p>
            <a:pPr>
              <a:defRPr sz="1400">
                <a:solidFill>
                  <a:srgbClr val="BBBBBB"/>
                </a:solidFill>
              </a:defRPr>
            </a:pPr>
            <a:r>
              <a:t>While Beats (like Filebeat) are lightweight shippers that send raw data, Logstash is the heavy-duty data processing engine of the ELK stack. It can parse, transform, enrich, and route data from virtually any source to any destination. In this lab, you will install Logstash, build a pipeline from scratch, and watch data flow into Elasticsearch in re</a:t>
            </a:r>
          </a:p>
        </p:txBody>
      </p:sp>
      <p:sp>
        <p:nvSpPr>
          <p:cNvPr id="8" name="TextBox 7"/>
          <p:cNvSpPr txBox="1"/>
          <p:nvPr/>
        </p:nvSpPr>
        <p:spPr>
          <a:xfrm>
            <a:off x="731520" y="4846320"/>
            <a:ext cx="3657600" cy="365760"/>
          </a:xfrm>
          <a:prstGeom prst="rect">
            <a:avLst/>
          </a:prstGeom>
          <a:noFill/>
        </p:spPr>
        <p:txBody>
          <a:bodyPr wrap="none">
            <a:spAutoFit/>
          </a:bodyPr>
          <a:lstStyle/>
          <a:p>
            <a:pPr>
              <a:defRPr sz="1800" b="1">
                <a:solidFill>
                  <a:srgbClr val="66BB6A"/>
                </a:solidFill>
              </a:defRPr>
            </a:pPr>
            <a:r>
              <a:t>⚡  Prerequisites</a:t>
            </a:r>
          </a:p>
        </p:txBody>
      </p:sp>
      <p:sp>
        <p:nvSpPr>
          <p:cNvPr id="9" name="TextBox 8"/>
          <p:cNvSpPr txBox="1"/>
          <p:nvPr/>
        </p:nvSpPr>
        <p:spPr>
          <a:xfrm>
            <a:off x="1097280" y="5212080"/>
            <a:ext cx="10058400" cy="731520"/>
          </a:xfrm>
          <a:prstGeom prst="rect">
            <a:avLst/>
          </a:prstGeom>
          <a:noFill/>
        </p:spPr>
        <p:txBody>
          <a:bodyPr wrap="square">
            <a:spAutoFit/>
          </a:bodyPr>
          <a:lstStyle/>
          <a:p>
            <a:pPr>
              <a:defRPr sz="1400">
                <a:solidFill>
                  <a:srgbClr val="BBBBBB"/>
                </a:solidFill>
              </a:defRPr>
            </a:pPr>
            <a:r>
              <a:t>• Completion of Lab 4 (Elasticsearch and Kibana must be running).</a:t>
            </a:r>
            <a:br/>
            <a:r>
              <a:t>• You must have your `elastic` superuser password handy.</a:t>
            </a:r>
            <a:br/>
            <a:r>
              <a:t>• You must have `sudo` privileges on your Ubuntu VM.</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8: Installing and Configuring Logstash</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Install Logstash via APT</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Since you already added the Elastic APT repository in Lab 3, Logstash can be installed directly:</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sudo apt-get update &amp;&amp; sudo apt-get install -y logstash</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Verify Installation</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Expected Output:</a:t>
            </a:r>
          </a:p>
        </p:txBody>
      </p:sp>
      <p:sp>
        <p:nvSpPr>
          <p:cNvPr id="9" name="TextBox 8"/>
          <p:cNvSpPr txBox="1"/>
          <p:nvPr/>
        </p:nvSpPr>
        <p:spPr>
          <a:xfrm>
            <a:off x="914400" y="3081527"/>
            <a:ext cx="10515600" cy="292608"/>
          </a:xfrm>
          <a:prstGeom prst="rect">
            <a:avLst/>
          </a:prstGeom>
          <a:noFill/>
        </p:spPr>
        <p:txBody>
          <a:bodyPr wrap="square">
            <a:spAutoFit/>
          </a:bodyPr>
          <a:lstStyle/>
          <a:p>
            <a:pPr>
              <a:defRPr sz="1300">
                <a:solidFill>
                  <a:srgbClr val="80FF80"/>
                </a:solidFill>
                <a:latin typeface="Courier New"/>
              </a:defRPr>
            </a:pPr>
            <a:r>
              <a:t>sudo /usr/share/logstash/bin/logstash --version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8: Installing and Configuring Logstash</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Understand the Logstash Architecture</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Logstash pipelines have 3 stages:</a:t>
            </a:r>
          </a:p>
        </p:txBody>
      </p:sp>
      <p:sp>
        <p:nvSpPr>
          <p:cNvPr id="6" name="TextBox 5"/>
          <p:cNvSpPr txBox="1"/>
          <p:nvPr/>
        </p:nvSpPr>
        <p:spPr>
          <a:xfrm>
            <a:off x="914400" y="1737360"/>
            <a:ext cx="10515600" cy="1298448"/>
          </a:xfrm>
          <a:prstGeom prst="rect">
            <a:avLst/>
          </a:prstGeom>
          <a:noFill/>
        </p:spPr>
        <p:txBody>
          <a:bodyPr wrap="square">
            <a:spAutoFit/>
          </a:bodyPr>
          <a:lstStyle/>
          <a:p>
            <a:pPr>
              <a:defRPr sz="1300">
                <a:solidFill>
                  <a:srgbClr val="80FF80"/>
                </a:solidFill>
                <a:latin typeface="Courier New"/>
              </a:defRPr>
            </a:pPr>
            <a:r>
              <a:t>┌──────────┐      ┌──────────────┐      ┌──────────────┐</a:t>
            </a:r>
          </a:p>
          <a:p>
            <a:pPr>
              <a:defRPr sz="1300">
                <a:solidFill>
                  <a:srgbClr val="80FF80"/>
                </a:solidFill>
                <a:latin typeface="Courier New"/>
              </a:defRPr>
            </a:pPr>
            <a:r>
              <a:t>│  INPUT   │ ───► │   FILTER     │ ───► │    OUTPUT     │</a:t>
            </a:r>
          </a:p>
          <a:p>
            <a:pPr>
              <a:defRPr sz="1300">
                <a:solidFill>
                  <a:srgbClr val="80FF80"/>
                </a:solidFill>
                <a:latin typeface="Courier New"/>
              </a:defRPr>
            </a:pPr>
            <a:r>
              <a:t>│ (source) │      │ (transform)  │      │ (destination) │</a:t>
            </a:r>
          </a:p>
          <a:p>
            <a:pPr>
              <a:defRPr sz="1300">
                <a:solidFill>
                  <a:srgbClr val="80FF80"/>
                </a:solidFill>
                <a:latin typeface="Courier New"/>
              </a:defRPr>
            </a:pPr>
            <a:r>
              <a:t>└──────────┘      └──────────────┘      └──────────────┘</a:t>
            </a:r>
          </a:p>
          <a:p>
            <a:pPr>
              <a:defRPr sz="1300">
                <a:solidFill>
                  <a:srgbClr val="80FF80"/>
                </a:solidFill>
                <a:latin typeface="Courier New"/>
              </a:defRPr>
            </a:pPr>
            <a:r>
              <a:t> stdin, file,      grok, mutate,         elasticsearch,</a:t>
            </a:r>
          </a:p>
          <a:p>
            <a:pPr>
              <a:defRPr sz="1300">
                <a:solidFill>
                  <a:srgbClr val="80FF80"/>
                </a:solidFill>
                <a:latin typeface="Courier New"/>
              </a:defRPr>
            </a:pPr>
            <a:r>
              <a:t> beats, kafka      date, geoip           stdout, file</a:t>
            </a:r>
          </a:p>
        </p:txBody>
      </p:sp>
      <p:sp>
        <p:nvSpPr>
          <p:cNvPr id="7" name="TextBox 6"/>
          <p:cNvSpPr txBox="1"/>
          <p:nvPr/>
        </p:nvSpPr>
        <p:spPr>
          <a:xfrm>
            <a:off x="457200" y="3264408"/>
            <a:ext cx="10972800" cy="320040"/>
          </a:xfrm>
          <a:prstGeom prst="rect">
            <a:avLst/>
          </a:prstGeom>
          <a:noFill/>
        </p:spPr>
        <p:txBody>
          <a:bodyPr wrap="none">
            <a:spAutoFit/>
          </a:bodyPr>
          <a:lstStyle/>
          <a:p>
            <a:pPr>
              <a:defRPr sz="1700" b="1">
                <a:solidFill>
                  <a:srgbClr val="FFA726"/>
                </a:solidFill>
              </a:defRPr>
            </a:pPr>
            <a:r>
              <a:t>▸  Create a Simple Test Pipeline</a:t>
            </a:r>
          </a:p>
        </p:txBody>
      </p:sp>
      <p:sp>
        <p:nvSpPr>
          <p:cNvPr id="8" name="TextBox 7"/>
          <p:cNvSpPr txBox="1"/>
          <p:nvPr/>
        </p:nvSpPr>
        <p:spPr>
          <a:xfrm>
            <a:off x="914400" y="3630168"/>
            <a:ext cx="10515600" cy="548640"/>
          </a:xfrm>
          <a:prstGeom prst="rect">
            <a:avLst/>
          </a:prstGeom>
          <a:noFill/>
        </p:spPr>
        <p:txBody>
          <a:bodyPr wrap="square">
            <a:spAutoFit/>
          </a:bodyPr>
          <a:lstStyle/>
          <a:p>
            <a:pPr>
              <a:defRPr sz="1300">
                <a:solidFill>
                  <a:srgbClr val="BBBBBB"/>
                </a:solidFill>
              </a:defRPr>
            </a:pPr>
            <a:r>
              <a:t>This pipeline reads from your terminal and prints the processed output back to you.</a:t>
            </a:r>
          </a:p>
        </p:txBody>
      </p:sp>
      <p:sp>
        <p:nvSpPr>
          <p:cNvPr id="9" name="TextBox 8"/>
          <p:cNvSpPr txBox="1"/>
          <p:nvPr/>
        </p:nvSpPr>
        <p:spPr>
          <a:xfrm>
            <a:off x="914400" y="4087368"/>
            <a:ext cx="10515600" cy="2103120"/>
          </a:xfrm>
          <a:prstGeom prst="rect">
            <a:avLst/>
          </a:prstGeom>
          <a:noFill/>
        </p:spPr>
        <p:txBody>
          <a:bodyPr wrap="square">
            <a:spAutoFit/>
          </a:bodyPr>
          <a:lstStyle/>
          <a:p>
            <a:pPr>
              <a:defRPr sz="1300">
                <a:solidFill>
                  <a:srgbClr val="80FF80"/>
                </a:solidFill>
                <a:latin typeface="Courier New"/>
              </a:defRPr>
            </a:pPr>
            <a:r>
              <a:t>cat &lt;&lt;'EOF' | sudo tee /etc/logstash/conf.d/test-pipeline.conf</a:t>
            </a:r>
          </a:p>
          <a:p>
            <a:pPr>
              <a:defRPr sz="1300">
                <a:solidFill>
                  <a:srgbClr val="80FF80"/>
                </a:solidFill>
                <a:latin typeface="Courier New"/>
              </a:defRPr>
            </a:pPr>
            <a:r>
              <a:t>input {</a:t>
            </a:r>
          </a:p>
          <a:p>
            <a:pPr>
              <a:defRPr sz="1300">
                <a:solidFill>
                  <a:srgbClr val="80FF80"/>
                </a:solidFill>
                <a:latin typeface="Courier New"/>
              </a:defRPr>
            </a:pPr>
            <a:r>
              <a:t>  stdin {}</a:t>
            </a:r>
          </a:p>
          <a:p>
            <a:pPr>
              <a:defRPr sz="1300">
                <a:solidFill>
                  <a:srgbClr val="80FF80"/>
                </a:solidFill>
                <a:latin typeface="Courier New"/>
              </a:defRPr>
            </a:pPr>
            <a:r>
              <a:t>}</a:t>
            </a:r>
          </a:p>
          <a:p>
            <a:pPr>
              <a:defRPr sz="1300">
                <a:solidFill>
                  <a:srgbClr val="80FF80"/>
                </a:solidFill>
                <a:latin typeface="Courier New"/>
              </a:defRPr>
            </a:pPr>
          </a:p>
          <a:p>
            <a:pPr>
              <a:defRPr sz="1300">
                <a:solidFill>
                  <a:srgbClr val="80FF80"/>
                </a:solidFill>
                <a:latin typeface="Courier New"/>
              </a:defRPr>
            </a:pPr>
            <a:r>
              <a:t>filter {</a:t>
            </a:r>
          </a:p>
          <a:p>
            <a:pPr>
              <a:defRPr sz="1300">
                <a:solidFill>
                  <a:srgbClr val="80FF80"/>
                </a:solidFill>
                <a:latin typeface="Courier New"/>
              </a:defRPr>
            </a:pPr>
            <a:r>
              <a:t>  mutate {</a:t>
            </a:r>
          </a:p>
          <a:p>
            <a:pPr>
              <a:defRPr sz="1300">
                <a:solidFill>
                  <a:srgbClr val="80FF80"/>
                </a:solidFill>
                <a:latin typeface="Courier New"/>
              </a:defRPr>
            </a:pPr>
            <a:r>
              <a:t>    add_field =&gt; { "environment" =&gt; "training" }</a:t>
            </a:r>
          </a:p>
          <a:p>
            <a:pPr>
              <a:defRPr sz="1300">
                <a:solidFill>
                  <a:srgbClr val="80FF80"/>
                </a:solidFill>
                <a:latin typeface="Courier New"/>
              </a:defRPr>
            </a:pPr>
            <a:r>
              <a:t>  }</a:t>
            </a:r>
          </a:p>
          <a:p>
            <a:pPr>
              <a:defRPr sz="1300">
                <a:solidFill>
                  <a:srgbClr val="80FF80"/>
                </a:solidFill>
                <a:latin typeface="Courier New"/>
              </a:defRPr>
            </a:pPr>
            <a:r>
              <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8: Installing and Configuring Logstash</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Run Logstash with the Test Pipeline</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Wait ~30 seconds for Logstash to initialize. You will see Pipeline is running in the logs.</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sudo /usr/share/logstash/bin/logstash -f /etc/logstash/conf.d/test-pipeline.conf</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Type a Test Message</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Once Logstash is ready, type the following and press Enter: Expected Output: Notice how the mutate filter automatically added the environment: training field! Press Ctrl+C to stop Logstash.</a:t>
            </a:r>
          </a:p>
        </p:txBody>
      </p:sp>
      <p:sp>
        <p:nvSpPr>
          <p:cNvPr id="9" name="TextBox 8"/>
          <p:cNvSpPr txBox="1"/>
          <p:nvPr/>
        </p:nvSpPr>
        <p:spPr>
          <a:xfrm>
            <a:off x="914400" y="3081527"/>
            <a:ext cx="10515600" cy="292608"/>
          </a:xfrm>
          <a:prstGeom prst="rect">
            <a:avLst/>
          </a:prstGeom>
          <a:noFill/>
        </p:spPr>
        <p:txBody>
          <a:bodyPr wrap="square">
            <a:spAutoFit/>
          </a:bodyPr>
          <a:lstStyle/>
          <a:p>
            <a:pPr>
              <a:defRPr sz="1300">
                <a:solidFill>
                  <a:srgbClr val="80FF80"/>
                </a:solidFill>
                <a:latin typeface="Courier New"/>
              </a:defRPr>
            </a:pPr>
            <a:r>
              <a:t>Hello from Logstash training!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8: Installing and Configuring Logstash</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Create a Sample CSV Data File</a:t>
            </a:r>
          </a:p>
        </p:txBody>
      </p:sp>
      <p:sp>
        <p:nvSpPr>
          <p:cNvPr id="5" name="TextBox 4"/>
          <p:cNvSpPr txBox="1"/>
          <p:nvPr/>
        </p:nvSpPr>
        <p:spPr>
          <a:xfrm>
            <a:off x="914400" y="1280160"/>
            <a:ext cx="10515600" cy="1700784"/>
          </a:xfrm>
          <a:prstGeom prst="rect">
            <a:avLst/>
          </a:prstGeom>
          <a:noFill/>
        </p:spPr>
        <p:txBody>
          <a:bodyPr wrap="square">
            <a:spAutoFit/>
          </a:bodyPr>
          <a:lstStyle/>
          <a:p>
            <a:pPr>
              <a:defRPr sz="1300">
                <a:solidFill>
                  <a:srgbClr val="80FF80"/>
                </a:solidFill>
                <a:latin typeface="Courier New"/>
              </a:defRPr>
            </a:pPr>
            <a:r>
              <a:t>cat &lt;&lt;'EOF' | sudo tee /tmp/employees.csv</a:t>
            </a:r>
          </a:p>
          <a:p>
            <a:pPr>
              <a:defRPr sz="1300">
                <a:solidFill>
                  <a:srgbClr val="80FF80"/>
                </a:solidFill>
                <a:latin typeface="Courier New"/>
              </a:defRPr>
            </a:pPr>
            <a:r>
              <a:t>id,name,department,salary</a:t>
            </a:r>
          </a:p>
          <a:p>
            <a:pPr>
              <a:defRPr sz="1300">
                <a:solidFill>
                  <a:srgbClr val="80FF80"/>
                </a:solidFill>
                <a:latin typeface="Courier New"/>
              </a:defRPr>
            </a:pPr>
            <a:r>
              <a:t>1,Alice Johnson,Engineering,95000</a:t>
            </a:r>
          </a:p>
          <a:p>
            <a:pPr>
              <a:defRPr sz="1300">
                <a:solidFill>
                  <a:srgbClr val="80FF80"/>
                </a:solidFill>
                <a:latin typeface="Courier New"/>
              </a:defRPr>
            </a:pPr>
            <a:r>
              <a:t>2,Bob Smith,Marketing,72000</a:t>
            </a:r>
          </a:p>
          <a:p>
            <a:pPr>
              <a:defRPr sz="1300">
                <a:solidFill>
                  <a:srgbClr val="80FF80"/>
                </a:solidFill>
                <a:latin typeface="Courier New"/>
              </a:defRPr>
            </a:pPr>
            <a:r>
              <a:t>3,Carol Williams,Engineering,105000</a:t>
            </a:r>
          </a:p>
          <a:p>
            <a:pPr>
              <a:defRPr sz="1300">
                <a:solidFill>
                  <a:srgbClr val="80FF80"/>
                </a:solidFill>
                <a:latin typeface="Courier New"/>
              </a:defRPr>
            </a:pPr>
            <a:r>
              <a:t>4,Dave Brown,Sales,68000</a:t>
            </a:r>
          </a:p>
          <a:p>
            <a:pPr>
              <a:defRPr sz="1300">
                <a:solidFill>
                  <a:srgbClr val="80FF80"/>
                </a:solidFill>
                <a:latin typeface="Courier New"/>
              </a:defRPr>
            </a:pPr>
            <a:r>
              <a:t>5,Eve Davis,Engineering,98000</a:t>
            </a:r>
          </a:p>
          <a:p>
            <a:pPr>
              <a:defRPr sz="1300">
                <a:solidFill>
                  <a:srgbClr val="80FF80"/>
                </a:solidFill>
                <a:latin typeface="Courier New"/>
              </a:defRPr>
            </a:pPr>
            <a:r>
              <a:t>EOF</a:t>
            </a:r>
          </a:p>
        </p:txBody>
      </p:sp>
      <p:sp>
        <p:nvSpPr>
          <p:cNvPr id="6" name="TextBox 5"/>
          <p:cNvSpPr txBox="1"/>
          <p:nvPr/>
        </p:nvSpPr>
        <p:spPr>
          <a:xfrm>
            <a:off x="457200" y="3209544"/>
            <a:ext cx="10972800" cy="320040"/>
          </a:xfrm>
          <a:prstGeom prst="rect">
            <a:avLst/>
          </a:prstGeom>
          <a:noFill/>
        </p:spPr>
        <p:txBody>
          <a:bodyPr wrap="none">
            <a:spAutoFit/>
          </a:bodyPr>
          <a:lstStyle/>
          <a:p>
            <a:pPr>
              <a:defRPr sz="1700" b="1">
                <a:solidFill>
                  <a:srgbClr val="FFA726"/>
                </a:solidFill>
              </a:defRPr>
            </a:pPr>
            <a:r>
              <a:t>▸  Create the CSV Pipeline Configuration</a:t>
            </a:r>
          </a:p>
        </p:txBody>
      </p:sp>
      <p:sp>
        <p:nvSpPr>
          <p:cNvPr id="7" name="TextBox 6"/>
          <p:cNvSpPr txBox="1"/>
          <p:nvPr/>
        </p:nvSpPr>
        <p:spPr>
          <a:xfrm>
            <a:off x="914400" y="3575303"/>
            <a:ext cx="10515600" cy="548640"/>
          </a:xfrm>
          <a:prstGeom prst="rect">
            <a:avLst/>
          </a:prstGeom>
          <a:noFill/>
        </p:spPr>
        <p:txBody>
          <a:bodyPr wrap="square">
            <a:spAutoFit/>
          </a:bodyPr>
          <a:lstStyle/>
          <a:p>
            <a:pPr>
              <a:defRPr sz="1300">
                <a:solidFill>
                  <a:srgbClr val="BBBBBB"/>
                </a:solidFill>
              </a:defRPr>
            </a:pPr>
            <a:r>
              <a:t>&gt; Important: Replace YOUR_PASSWORD_HERE with your actual elastic password from Lab 3.</a:t>
            </a:r>
          </a:p>
        </p:txBody>
      </p:sp>
      <p:sp>
        <p:nvSpPr>
          <p:cNvPr id="8" name="TextBox 7"/>
          <p:cNvSpPr txBox="1"/>
          <p:nvPr/>
        </p:nvSpPr>
        <p:spPr>
          <a:xfrm>
            <a:off x="914400" y="4032504"/>
            <a:ext cx="10515600" cy="2103120"/>
          </a:xfrm>
          <a:prstGeom prst="rect">
            <a:avLst/>
          </a:prstGeom>
          <a:noFill/>
        </p:spPr>
        <p:txBody>
          <a:bodyPr wrap="square">
            <a:spAutoFit/>
          </a:bodyPr>
          <a:lstStyle/>
          <a:p>
            <a:pPr>
              <a:defRPr sz="1300">
                <a:solidFill>
                  <a:srgbClr val="80FF80"/>
                </a:solidFill>
                <a:latin typeface="Courier New"/>
              </a:defRPr>
            </a:pPr>
            <a:r>
              <a:t>cat &lt;&lt;'EOF' | sudo tee /etc/logstash/conf.d/csv-pipeline.conf</a:t>
            </a:r>
          </a:p>
          <a:p>
            <a:pPr>
              <a:defRPr sz="1300">
                <a:solidFill>
                  <a:srgbClr val="80FF80"/>
                </a:solidFill>
                <a:latin typeface="Courier New"/>
              </a:defRPr>
            </a:pPr>
            <a:r>
              <a:t>input {</a:t>
            </a:r>
          </a:p>
          <a:p>
            <a:pPr>
              <a:defRPr sz="1300">
                <a:solidFill>
                  <a:srgbClr val="80FF80"/>
                </a:solidFill>
                <a:latin typeface="Courier New"/>
              </a:defRPr>
            </a:pPr>
            <a:r>
              <a:t>  file {</a:t>
            </a:r>
          </a:p>
          <a:p>
            <a:pPr>
              <a:defRPr sz="1300">
                <a:solidFill>
                  <a:srgbClr val="80FF80"/>
                </a:solidFill>
                <a:latin typeface="Courier New"/>
              </a:defRPr>
            </a:pPr>
            <a:r>
              <a:t>    path =&gt; "/tmp/employees.csv"</a:t>
            </a:r>
          </a:p>
          <a:p>
            <a:pPr>
              <a:defRPr sz="1300">
                <a:solidFill>
                  <a:srgbClr val="80FF80"/>
                </a:solidFill>
                <a:latin typeface="Courier New"/>
              </a:defRPr>
            </a:pPr>
            <a:r>
              <a:t>    start_position =&gt; "beginning"</a:t>
            </a:r>
          </a:p>
          <a:p>
            <a:pPr>
              <a:defRPr sz="1300">
                <a:solidFill>
                  <a:srgbClr val="80FF80"/>
                </a:solidFill>
                <a:latin typeface="Courier New"/>
              </a:defRPr>
            </a:pPr>
            <a:r>
              <a:t>    sincedb_path =&gt; "/dev/null"</a:t>
            </a:r>
          </a:p>
          <a:p>
            <a:pPr>
              <a:defRPr sz="1300">
                <a:solidFill>
                  <a:srgbClr val="80FF80"/>
                </a:solidFill>
                <a:latin typeface="Courier New"/>
              </a:defRPr>
            </a:pPr>
            <a:r>
              <a:t>  }</a:t>
            </a:r>
          </a:p>
          <a:p>
            <a:pPr>
              <a:defRPr sz="1300">
                <a:solidFill>
                  <a:srgbClr val="80FF80"/>
                </a:solidFill>
                <a:latin typeface="Courier New"/>
              </a:defRPr>
            </a:pPr>
            <a:r>
              <a:t>}</a:t>
            </a:r>
          </a:p>
          <a:p>
            <a:pPr>
              <a:defRPr sz="1300">
                <a:solidFill>
                  <a:srgbClr val="80FF80"/>
                </a:solidFill>
                <a:latin typeface="Courier New"/>
              </a:defRPr>
            </a:pPr>
          </a:p>
          <a:p>
            <a:pPr>
              <a:defRPr sz="1300">
                <a:solidFill>
                  <a:srgbClr val="80FF80"/>
                </a:solidFill>
                <a:latin typeface="Courier New"/>
              </a:defRPr>
            </a:pPr>
            <a:r>
              <a:t>filter {</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8: Installing and Configuring Logstash</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Run the CSV Pipeline</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Expected Terminal Output (for each row): Press Ctrl+C after all 5 records have been processed.</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sudo /usr/share/logstash/bin/logstash -f /etc/logstash/conf.d/csv-pipeline.conf</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Verify Data in Elasticsearch (Kibana Dev Tools)</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Navigate to Management → Dev Tools in Kibana and run: Expected Output:</a:t>
            </a:r>
          </a:p>
        </p:txBody>
      </p:sp>
      <p:sp>
        <p:nvSpPr>
          <p:cNvPr id="9" name="TextBox 8"/>
          <p:cNvSpPr txBox="1"/>
          <p:nvPr/>
        </p:nvSpPr>
        <p:spPr>
          <a:xfrm>
            <a:off x="914400" y="3081527"/>
            <a:ext cx="10515600" cy="1097280"/>
          </a:xfrm>
          <a:prstGeom prst="rect">
            <a:avLst/>
          </a:prstGeom>
          <a:noFill/>
        </p:spPr>
        <p:txBody>
          <a:bodyPr wrap="square">
            <a:spAutoFit/>
          </a:bodyPr>
          <a:lstStyle/>
          <a:p>
            <a:pPr>
              <a:defRPr sz="1300">
                <a:solidFill>
                  <a:srgbClr val="80FF80"/>
                </a:solidFill>
                <a:latin typeface="Courier New"/>
              </a:defRPr>
            </a:pPr>
            <a:r>
              <a:t>GET employees/_search</a:t>
            </a:r>
          </a:p>
          <a:p>
            <a:pPr>
              <a:defRPr sz="1300">
                <a:solidFill>
                  <a:srgbClr val="80FF80"/>
                </a:solidFill>
                <a:latin typeface="Courier New"/>
              </a:defRPr>
            </a:pPr>
            <a:r>
              <a:t>{</a:t>
            </a:r>
          </a:p>
          <a:p>
            <a:pPr>
              <a:defRPr sz="1300">
                <a:solidFill>
                  <a:srgbClr val="80FF80"/>
                </a:solidFill>
                <a:latin typeface="Courier New"/>
              </a:defRPr>
            </a:pPr>
            <a:r>
              <a:t>  "query": { "match_all": {} },</a:t>
            </a:r>
          </a:p>
          <a:p>
            <a:pPr>
              <a:defRPr sz="1300">
                <a:solidFill>
                  <a:srgbClr val="80FF80"/>
                </a:solidFill>
                <a:latin typeface="Courier New"/>
              </a:defRPr>
            </a:pPr>
            <a:r>
              <a:t>  "sort": [{ "employee_id": "asc" }]</a:t>
            </a:r>
          </a:p>
          <a:p>
            <a:pPr>
              <a:defRPr sz="1300">
                <a:solidFill>
                  <a:srgbClr val="80FF80"/>
                </a:solidFill>
                <a:latin typeface="Courier New"/>
              </a:defRPr>
            </a:pPr>
            <a:r>
              <a: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8: Installing and Configuring Logstash</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Query the Ingested Data</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Find all engineers earning over $90,000: Expected Output: 3 hits (Alice, Carol, Eve).</a:t>
            </a:r>
          </a:p>
        </p:txBody>
      </p:sp>
      <p:sp>
        <p:nvSpPr>
          <p:cNvPr id="6" name="TextBox 5"/>
          <p:cNvSpPr txBox="1"/>
          <p:nvPr/>
        </p:nvSpPr>
        <p:spPr>
          <a:xfrm>
            <a:off x="914400" y="1737360"/>
            <a:ext cx="10515600" cy="1901952"/>
          </a:xfrm>
          <a:prstGeom prst="rect">
            <a:avLst/>
          </a:prstGeom>
          <a:noFill/>
        </p:spPr>
        <p:txBody>
          <a:bodyPr wrap="square">
            <a:spAutoFit/>
          </a:bodyPr>
          <a:lstStyle/>
          <a:p>
            <a:pPr>
              <a:defRPr sz="1300">
                <a:solidFill>
                  <a:srgbClr val="80FF80"/>
                </a:solidFill>
                <a:latin typeface="Courier New"/>
              </a:defRPr>
            </a:pPr>
            <a:r>
              <a:t>GET employees/_search</a:t>
            </a:r>
          </a:p>
          <a:p>
            <a:pPr>
              <a:defRPr sz="1300">
                <a:solidFill>
                  <a:srgbClr val="80FF80"/>
                </a:solidFill>
                <a:latin typeface="Courier New"/>
              </a:defRPr>
            </a:pPr>
            <a:r>
              <a:t>{</a:t>
            </a:r>
          </a:p>
          <a:p>
            <a:pPr>
              <a:defRPr sz="1300">
                <a:solidFill>
                  <a:srgbClr val="80FF80"/>
                </a:solidFill>
                <a:latin typeface="Courier New"/>
              </a:defRPr>
            </a:pPr>
            <a:r>
              <a:t>  "query": {</a:t>
            </a:r>
          </a:p>
          <a:p>
            <a:pPr>
              <a:defRPr sz="1300">
                <a:solidFill>
                  <a:srgbClr val="80FF80"/>
                </a:solidFill>
                <a:latin typeface="Courier New"/>
              </a:defRPr>
            </a:pPr>
            <a:r>
              <a:t>    "bool": {</a:t>
            </a:r>
          </a:p>
          <a:p>
            <a:pPr>
              <a:defRPr sz="1300">
                <a:solidFill>
                  <a:srgbClr val="80FF80"/>
                </a:solidFill>
                <a:latin typeface="Courier New"/>
              </a:defRPr>
            </a:pPr>
            <a:r>
              <a:t>      "must": { "match": { "department": "Engineering" } },</a:t>
            </a:r>
          </a:p>
          <a:p>
            <a:pPr>
              <a:defRPr sz="1300">
                <a:solidFill>
                  <a:srgbClr val="80FF80"/>
                </a:solidFill>
                <a:latin typeface="Courier New"/>
              </a:defRPr>
            </a:pPr>
            <a:r>
              <a:t>      "filter": { "range": { "salary": { "gte": 90000 } } }</a:t>
            </a:r>
          </a:p>
          <a:p>
            <a:pPr>
              <a:defRPr sz="1300">
                <a:solidFill>
                  <a:srgbClr val="80FF80"/>
                </a:solidFill>
                <a:latin typeface="Courier New"/>
              </a:defRPr>
            </a:pPr>
            <a:r>
              <a:t>    }</a:t>
            </a:r>
          </a:p>
          <a:p>
            <a:pPr>
              <a:defRPr sz="1300">
                <a:solidFill>
                  <a:srgbClr val="80FF80"/>
                </a:solidFill>
                <a:latin typeface="Courier New"/>
              </a:defRPr>
            </a:pPr>
            <a:r>
              <a:t>  }</a:t>
            </a:r>
          </a:p>
          <a:p>
            <a:pPr>
              <a:defRPr sz="1300">
                <a:solidFill>
                  <a:srgbClr val="80FF80"/>
                </a:solidFill>
                <a:latin typeface="Courier New"/>
              </a:defRPr>
            </a:pPr>
            <a:r>
              <a:t>}</a:t>
            </a:r>
          </a:p>
        </p:txBody>
      </p:sp>
      <p:sp>
        <p:nvSpPr>
          <p:cNvPr id="7" name="TextBox 6"/>
          <p:cNvSpPr txBox="1"/>
          <p:nvPr/>
        </p:nvSpPr>
        <p:spPr>
          <a:xfrm>
            <a:off x="457200" y="3867912"/>
            <a:ext cx="10972800" cy="320040"/>
          </a:xfrm>
          <a:prstGeom prst="rect">
            <a:avLst/>
          </a:prstGeom>
          <a:noFill/>
        </p:spPr>
        <p:txBody>
          <a:bodyPr wrap="none">
            <a:spAutoFit/>
          </a:bodyPr>
          <a:lstStyle/>
          <a:p>
            <a:pPr>
              <a:defRPr sz="1700" b="1">
                <a:solidFill>
                  <a:srgbClr val="FFA726"/>
                </a:solidFill>
              </a:defRPr>
            </a:pPr>
            <a:r>
              <a:t>▸  Download and Extract Logstash</a:t>
            </a:r>
          </a:p>
        </p:txBody>
      </p:sp>
      <p:sp>
        <p:nvSpPr>
          <p:cNvPr id="8" name="TextBox 7"/>
          <p:cNvSpPr txBox="1"/>
          <p:nvPr/>
        </p:nvSpPr>
        <p:spPr>
          <a:xfrm>
            <a:off x="914400" y="4233672"/>
            <a:ext cx="10515600" cy="493776"/>
          </a:xfrm>
          <a:prstGeom prst="rect">
            <a:avLst/>
          </a:prstGeom>
          <a:noFill/>
        </p:spPr>
        <p:txBody>
          <a:bodyPr wrap="square">
            <a:spAutoFit/>
          </a:bodyPr>
          <a:lstStyle/>
          <a:p>
            <a:pPr>
              <a:defRPr sz="1300">
                <a:solidFill>
                  <a:srgbClr val="80FF80"/>
                </a:solidFill>
                <a:latin typeface="Courier New"/>
              </a:defRPr>
            </a:pPr>
            <a:r>
              <a:t>Invoke-WebRequest -Uri "https://artifacts.elastic.co/downloads/logstash/logstash-8.10.4-windows-x86_64.zip" -OutFile log</a:t>
            </a:r>
          </a:p>
          <a:p>
            <a:pPr>
              <a:defRPr sz="1300">
                <a:solidFill>
                  <a:srgbClr val="80FF80"/>
                </a:solidFill>
                <a:latin typeface="Courier New"/>
              </a:defRPr>
            </a:pPr>
            <a:r>
              <a:t>Expand-Archive logstash.zip -DestinationPath C:\elk</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8: Installing and Configuring Logstash</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Verify Installation</a:t>
            </a:r>
          </a:p>
        </p:txBody>
      </p:sp>
      <p:sp>
        <p:nvSpPr>
          <p:cNvPr id="5" name="TextBox 4"/>
          <p:cNvSpPr txBox="1"/>
          <p:nvPr/>
        </p:nvSpPr>
        <p:spPr>
          <a:xfrm>
            <a:off x="914400" y="1280160"/>
            <a:ext cx="10515600" cy="292608"/>
          </a:xfrm>
          <a:prstGeom prst="rect">
            <a:avLst/>
          </a:prstGeom>
          <a:noFill/>
        </p:spPr>
        <p:txBody>
          <a:bodyPr wrap="square">
            <a:spAutoFit/>
          </a:bodyPr>
          <a:lstStyle/>
          <a:p>
            <a:pPr>
              <a:defRPr sz="1300">
                <a:solidFill>
                  <a:srgbClr val="80FF80"/>
                </a:solidFill>
                <a:latin typeface="Courier New"/>
              </a:defRPr>
            </a:pPr>
            <a:r>
              <a:t>C:\elk\logstash-8.10.4\bin\logstash.bat --version</a:t>
            </a:r>
          </a:p>
        </p:txBody>
      </p:sp>
      <p:sp>
        <p:nvSpPr>
          <p:cNvPr id="6" name="TextBox 5"/>
          <p:cNvSpPr txBox="1"/>
          <p:nvPr/>
        </p:nvSpPr>
        <p:spPr>
          <a:xfrm>
            <a:off x="457200" y="1801367"/>
            <a:ext cx="10972800" cy="320040"/>
          </a:xfrm>
          <a:prstGeom prst="rect">
            <a:avLst/>
          </a:prstGeom>
          <a:noFill/>
        </p:spPr>
        <p:txBody>
          <a:bodyPr wrap="none">
            <a:spAutoFit/>
          </a:bodyPr>
          <a:lstStyle/>
          <a:p>
            <a:pPr>
              <a:defRPr sz="1700" b="1">
                <a:solidFill>
                  <a:srgbClr val="FFA726"/>
                </a:solidFill>
              </a:defRPr>
            </a:pPr>
            <a:r>
              <a:t>▸  Create the Test Pipeline</a:t>
            </a:r>
          </a:p>
        </p:txBody>
      </p:sp>
      <p:sp>
        <p:nvSpPr>
          <p:cNvPr id="7" name="TextBox 6"/>
          <p:cNvSpPr txBox="1"/>
          <p:nvPr/>
        </p:nvSpPr>
        <p:spPr>
          <a:xfrm>
            <a:off x="914400" y="2167127"/>
            <a:ext cx="10515600" cy="548640"/>
          </a:xfrm>
          <a:prstGeom prst="rect">
            <a:avLst/>
          </a:prstGeom>
          <a:noFill/>
        </p:spPr>
        <p:txBody>
          <a:bodyPr wrap="square">
            <a:spAutoFit/>
          </a:bodyPr>
          <a:lstStyle/>
          <a:p>
            <a:pPr>
              <a:defRPr sz="1300">
                <a:solidFill>
                  <a:srgbClr val="BBBBBB"/>
                </a:solidFill>
              </a:defRPr>
            </a:pPr>
            <a:r>
              <a:t>Create C:\elk\logstash-8.10.4\config\test-pipeline.conf with a text editor:</a:t>
            </a:r>
          </a:p>
        </p:txBody>
      </p:sp>
      <p:sp>
        <p:nvSpPr>
          <p:cNvPr id="8" name="TextBox 7"/>
          <p:cNvSpPr txBox="1"/>
          <p:nvPr/>
        </p:nvSpPr>
        <p:spPr>
          <a:xfrm>
            <a:off x="914400" y="2624327"/>
            <a:ext cx="10515600" cy="2103120"/>
          </a:xfrm>
          <a:prstGeom prst="rect">
            <a:avLst/>
          </a:prstGeom>
          <a:noFill/>
        </p:spPr>
        <p:txBody>
          <a:bodyPr wrap="square">
            <a:spAutoFit/>
          </a:bodyPr>
          <a:lstStyle/>
          <a:p>
            <a:pPr>
              <a:defRPr sz="1300">
                <a:solidFill>
                  <a:srgbClr val="80FF80"/>
                </a:solidFill>
                <a:latin typeface="Courier New"/>
              </a:defRPr>
            </a:pPr>
            <a:r>
              <a:t>input {</a:t>
            </a:r>
          </a:p>
          <a:p>
            <a:pPr>
              <a:defRPr sz="1300">
                <a:solidFill>
                  <a:srgbClr val="80FF80"/>
                </a:solidFill>
                <a:latin typeface="Courier New"/>
              </a:defRPr>
            </a:pPr>
            <a:r>
              <a:t>  stdin {}</a:t>
            </a:r>
          </a:p>
          <a:p>
            <a:pPr>
              <a:defRPr sz="1300">
                <a:solidFill>
                  <a:srgbClr val="80FF80"/>
                </a:solidFill>
                <a:latin typeface="Courier New"/>
              </a:defRPr>
            </a:pPr>
            <a:r>
              <a:t>}</a:t>
            </a:r>
          </a:p>
          <a:p>
            <a:pPr>
              <a:defRPr sz="1300">
                <a:solidFill>
                  <a:srgbClr val="80FF80"/>
                </a:solidFill>
                <a:latin typeface="Courier New"/>
              </a:defRPr>
            </a:pPr>
          </a:p>
          <a:p>
            <a:pPr>
              <a:defRPr sz="1300">
                <a:solidFill>
                  <a:srgbClr val="80FF80"/>
                </a:solidFill>
                <a:latin typeface="Courier New"/>
              </a:defRPr>
            </a:pPr>
            <a:r>
              <a:t>filter {</a:t>
            </a:r>
          </a:p>
          <a:p>
            <a:pPr>
              <a:defRPr sz="1300">
                <a:solidFill>
                  <a:srgbClr val="80FF80"/>
                </a:solidFill>
                <a:latin typeface="Courier New"/>
              </a:defRPr>
            </a:pPr>
            <a:r>
              <a:t>  mutate {</a:t>
            </a:r>
          </a:p>
          <a:p>
            <a:pPr>
              <a:defRPr sz="1300">
                <a:solidFill>
                  <a:srgbClr val="80FF80"/>
                </a:solidFill>
                <a:latin typeface="Courier New"/>
              </a:defRPr>
            </a:pPr>
            <a:r>
              <a:t>    add_field =&gt; { "environment" =&gt; "training" }</a:t>
            </a:r>
          </a:p>
          <a:p>
            <a:pPr>
              <a:defRPr sz="1300">
                <a:solidFill>
                  <a:srgbClr val="80FF80"/>
                </a:solidFill>
                <a:latin typeface="Courier New"/>
              </a:defRPr>
            </a:pPr>
            <a:r>
              <a:t>  }</a:t>
            </a:r>
          </a:p>
          <a:p>
            <a:pPr>
              <a:defRPr sz="1300">
                <a:solidFill>
                  <a:srgbClr val="80FF80"/>
                </a:solidFill>
                <a:latin typeface="Courier New"/>
              </a:defRPr>
            </a:pPr>
            <a:r>
              <a:t>}</a:t>
            </a:r>
          </a:p>
          <a:p>
            <a:pPr>
              <a:defRPr sz="1300">
                <a:solidFill>
                  <a:srgbClr val="80FF80"/>
                </a:solidFill>
                <a:latin typeface="Courier New"/>
              </a:defRPr>
            </a:p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8: Installing and Configuring Logstash</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Run the Test Pipeline</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Wait ~30 seconds, then type Hello from Logstash training! and press Enter.</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C:\elk\logstash-8.10.4\bin\logstash.bat -f C:\elk\logstash-8.10.4\config\test-pipeline.conf</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Create the CSV Pipeline</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Save employees.csv to C:\tmp\employees.csv: Create C:\elk\logstash-8.10.4\config\csv-pipeline.conf: &gt; Note: On Windows, use forward slashes (/) in Logstash config file paths, or double-escape backslashes (\\).</a:t>
            </a:r>
          </a:p>
        </p:txBody>
      </p:sp>
      <p:sp>
        <p:nvSpPr>
          <p:cNvPr id="9" name="TextBox 8"/>
          <p:cNvSpPr txBox="1"/>
          <p:nvPr/>
        </p:nvSpPr>
        <p:spPr>
          <a:xfrm>
            <a:off x="914400" y="3081527"/>
            <a:ext cx="10515600" cy="1298448"/>
          </a:xfrm>
          <a:prstGeom prst="rect">
            <a:avLst/>
          </a:prstGeom>
          <a:noFill/>
        </p:spPr>
        <p:txBody>
          <a:bodyPr wrap="square">
            <a:spAutoFit/>
          </a:bodyPr>
          <a:lstStyle/>
          <a:p>
            <a:pPr>
              <a:defRPr sz="1300">
                <a:solidFill>
                  <a:srgbClr val="80FF80"/>
                </a:solidFill>
                <a:latin typeface="Courier New"/>
              </a:defRPr>
            </a:pPr>
            <a:r>
              <a:t>id,name,department,salary</a:t>
            </a:r>
          </a:p>
          <a:p>
            <a:pPr>
              <a:defRPr sz="1300">
                <a:solidFill>
                  <a:srgbClr val="80FF80"/>
                </a:solidFill>
                <a:latin typeface="Courier New"/>
              </a:defRPr>
            </a:pPr>
            <a:r>
              <a:t>1,Alice Johnson,Engineering,95000</a:t>
            </a:r>
          </a:p>
          <a:p>
            <a:pPr>
              <a:defRPr sz="1300">
                <a:solidFill>
                  <a:srgbClr val="80FF80"/>
                </a:solidFill>
                <a:latin typeface="Courier New"/>
              </a:defRPr>
            </a:pPr>
            <a:r>
              <a:t>2,Bob Smith,Marketing,72000</a:t>
            </a:r>
          </a:p>
          <a:p>
            <a:pPr>
              <a:defRPr sz="1300">
                <a:solidFill>
                  <a:srgbClr val="80FF80"/>
                </a:solidFill>
                <a:latin typeface="Courier New"/>
              </a:defRPr>
            </a:pPr>
            <a:r>
              <a:t>3,Carol Williams,Engineering,105000</a:t>
            </a:r>
          </a:p>
          <a:p>
            <a:pPr>
              <a:defRPr sz="1300">
                <a:solidFill>
                  <a:srgbClr val="80FF80"/>
                </a:solidFill>
                <a:latin typeface="Courier New"/>
              </a:defRPr>
            </a:pPr>
            <a:r>
              <a:t>4,Dave Brown,Sales,68000</a:t>
            </a:r>
          </a:p>
          <a:p>
            <a:pPr>
              <a:defRPr sz="1300">
                <a:solidFill>
                  <a:srgbClr val="80FF80"/>
                </a:solidFill>
                <a:latin typeface="Courier New"/>
              </a:defRPr>
            </a:pPr>
            <a:r>
              <a:t>5,Eve Davis,Engineering,98000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8: Installing and Configuring Logstash</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Run the CSV Pipeline</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Verify in Kibana Dev Tools with the same queries from the Ubuntu section above.</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C:\elk\logstash-8.10.4\bin\logstash.bat -f C:\elk\logstash-8.10.4\config\csv-pipeline.conf</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3000" b="1">
                <a:solidFill>
                  <a:srgbClr val="00BBD4"/>
                </a:solidFill>
              </a:defRPr>
            </a:pPr>
            <a:r>
              <a:t>Lab 9: Explicit Mappings &amp; Ingest Pipelines</a:t>
            </a:r>
          </a:p>
        </p:txBody>
      </p:sp>
      <p:sp>
        <p:nvSpPr>
          <p:cNvPr id="3" name="Rectangle 2"/>
          <p:cNvSpPr/>
          <p:nvPr/>
        </p:nvSpPr>
        <p:spPr>
          <a:xfrm>
            <a:off x="731520" y="1371600"/>
            <a:ext cx="10515600" cy="254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2743200" cy="365760"/>
          </a:xfrm>
          <a:prstGeom prst="rect">
            <a:avLst/>
          </a:prstGeom>
          <a:noFill/>
        </p:spPr>
        <p:txBody>
          <a:bodyPr wrap="none">
            <a:spAutoFit/>
          </a:bodyPr>
          <a:lstStyle/>
          <a:p>
            <a:pPr>
              <a:defRPr sz="2200" b="1">
                <a:solidFill>
                  <a:srgbClr val="FFA726"/>
                </a:solidFill>
              </a:defRPr>
            </a:pPr>
            <a:r>
              <a:t>🎯  Goal</a:t>
            </a:r>
          </a:p>
        </p:txBody>
      </p:sp>
      <p:sp>
        <p:nvSpPr>
          <p:cNvPr id="5" name="TextBox 4"/>
          <p:cNvSpPr txBox="1"/>
          <p:nvPr/>
        </p:nvSpPr>
        <p:spPr>
          <a:xfrm>
            <a:off x="1097280" y="2057400"/>
            <a:ext cx="10058400" cy="914400"/>
          </a:xfrm>
          <a:prstGeom prst="rect">
            <a:avLst/>
          </a:prstGeom>
          <a:noFill/>
        </p:spPr>
        <p:txBody>
          <a:bodyPr wrap="square">
            <a:spAutoFit/>
          </a:bodyPr>
          <a:lstStyle/>
          <a:p>
            <a:pPr>
              <a:defRPr sz="1600">
                <a:solidFill>
                  <a:srgbClr val="FFFFFF"/>
                </a:solidFill>
              </a:defRPr>
            </a:pPr>
            <a:r>
              <a:t>Use Kibana Dev Tools to define an explicit mapping (preventing Mapping Explosions) and create an ingest pipeline to add timestamps to incoming data.</a:t>
            </a:r>
          </a:p>
        </p:txBody>
      </p:sp>
      <p:sp>
        <p:nvSpPr>
          <p:cNvPr id="6" name="TextBox 5"/>
          <p:cNvSpPr txBox="1"/>
          <p:nvPr/>
        </p:nvSpPr>
        <p:spPr>
          <a:xfrm>
            <a:off x="731520" y="3063240"/>
            <a:ext cx="3657600" cy="365760"/>
          </a:xfrm>
          <a:prstGeom prst="rect">
            <a:avLst/>
          </a:prstGeom>
          <a:noFill/>
        </p:spPr>
        <p:txBody>
          <a:bodyPr wrap="none">
            <a:spAutoFit/>
          </a:bodyPr>
          <a:lstStyle/>
          <a:p>
            <a:pPr>
              <a:defRPr sz="2200" b="1">
                <a:solidFill>
                  <a:srgbClr val="FFA726"/>
                </a:solidFill>
              </a:defRPr>
            </a:pPr>
            <a:r>
              <a:t>📋  Scenario</a:t>
            </a:r>
          </a:p>
        </p:txBody>
      </p:sp>
      <p:sp>
        <p:nvSpPr>
          <p:cNvPr id="7" name="TextBox 6"/>
          <p:cNvSpPr txBox="1"/>
          <p:nvPr/>
        </p:nvSpPr>
        <p:spPr>
          <a:xfrm>
            <a:off x="1097280" y="3474720"/>
            <a:ext cx="10058400" cy="1828800"/>
          </a:xfrm>
          <a:prstGeom prst="rect">
            <a:avLst/>
          </a:prstGeom>
          <a:noFill/>
        </p:spPr>
        <p:txBody>
          <a:bodyPr wrap="square">
            <a:spAutoFit/>
          </a:bodyPr>
          <a:lstStyle/>
          <a:p>
            <a:pPr>
              <a:defRPr sz="1400">
                <a:solidFill>
                  <a:srgbClr val="BBBBBB"/>
                </a:solidFill>
              </a:defRPr>
            </a:pPr>
            <a:r>
              <a:t>Your application sends sparse log data that doesn't include a timestamp. You need Elasticsearch to append the exact time the log was received. Additionally, you want to strictly control the mapping so that the `status` field is only ever treated as a `keyword` for exact filtering, and `message` as `text` for full-text search.</a:t>
            </a:r>
          </a:p>
        </p:txBody>
      </p:sp>
      <p:sp>
        <p:nvSpPr>
          <p:cNvPr id="8" name="TextBox 7"/>
          <p:cNvSpPr txBox="1"/>
          <p:nvPr/>
        </p:nvSpPr>
        <p:spPr>
          <a:xfrm>
            <a:off x="731520" y="4846320"/>
            <a:ext cx="3657600" cy="365760"/>
          </a:xfrm>
          <a:prstGeom prst="rect">
            <a:avLst/>
          </a:prstGeom>
          <a:noFill/>
        </p:spPr>
        <p:txBody>
          <a:bodyPr wrap="none">
            <a:spAutoFit/>
          </a:bodyPr>
          <a:lstStyle/>
          <a:p>
            <a:pPr>
              <a:defRPr sz="1800" b="1">
                <a:solidFill>
                  <a:srgbClr val="66BB6A"/>
                </a:solidFill>
              </a:defRPr>
            </a:pPr>
            <a:r>
              <a:t>⚡  Prerequisites</a:t>
            </a:r>
          </a:p>
        </p:txBody>
      </p:sp>
      <p:sp>
        <p:nvSpPr>
          <p:cNvPr id="9" name="TextBox 8"/>
          <p:cNvSpPr txBox="1"/>
          <p:nvPr/>
        </p:nvSpPr>
        <p:spPr>
          <a:xfrm>
            <a:off x="1097280" y="5212080"/>
            <a:ext cx="10058400" cy="731520"/>
          </a:xfrm>
          <a:prstGeom prst="rect">
            <a:avLst/>
          </a:prstGeom>
          <a:noFill/>
        </p:spPr>
        <p:txBody>
          <a:bodyPr wrap="square">
            <a:spAutoFit/>
          </a:bodyPr>
          <a:lstStyle/>
          <a:p>
            <a:pPr>
              <a:defRPr sz="1400">
                <a:solidFill>
                  <a:srgbClr val="BBBBBB"/>
                </a:solidFill>
              </a:defRPr>
            </a:pPr>
            <a:r>
              <a:t>• Completion of Lab 4.</a:t>
            </a:r>
            <a:br/>
            <a:r>
              <a:t>• Kibana must be running and accessible via your web browser.</a:t>
            </a:r>
            <a:br/>
            <a:r>
              <a:t>• You must be logged into the Kibana Web UI.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9: Explicit Mappings &amp; Ingest Pipelines</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Create an Ingest Pipeline</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This pipeline uses the set processor to add a field called ingest_time. Expected Output:</a:t>
            </a:r>
          </a:p>
        </p:txBody>
      </p:sp>
      <p:sp>
        <p:nvSpPr>
          <p:cNvPr id="6" name="TextBox 5"/>
          <p:cNvSpPr txBox="1"/>
          <p:nvPr/>
        </p:nvSpPr>
        <p:spPr>
          <a:xfrm>
            <a:off x="914400" y="1737360"/>
            <a:ext cx="10515600" cy="1901952"/>
          </a:xfrm>
          <a:prstGeom prst="rect">
            <a:avLst/>
          </a:prstGeom>
          <a:noFill/>
        </p:spPr>
        <p:txBody>
          <a:bodyPr wrap="square">
            <a:spAutoFit/>
          </a:bodyPr>
          <a:lstStyle/>
          <a:p>
            <a:pPr>
              <a:defRPr sz="1300">
                <a:solidFill>
                  <a:srgbClr val="80FF80"/>
                </a:solidFill>
                <a:latin typeface="Courier New"/>
              </a:defRPr>
            </a:pPr>
            <a:r>
              <a:t>PUT _ingest/pipeline/my_pipeline</a:t>
            </a:r>
          </a:p>
          <a:p>
            <a:pPr>
              <a:defRPr sz="1300">
                <a:solidFill>
                  <a:srgbClr val="80FF80"/>
                </a:solidFill>
                <a:latin typeface="Courier New"/>
              </a:defRPr>
            </a:pPr>
            <a:r>
              <a:t>{</a:t>
            </a:r>
          </a:p>
          <a:p>
            <a:pPr>
              <a:defRPr sz="1300">
                <a:solidFill>
                  <a:srgbClr val="80FF80"/>
                </a:solidFill>
                <a:latin typeface="Courier New"/>
              </a:defRPr>
            </a:pPr>
            <a:r>
              <a:t>  "description": "Add timestamp on ingest",</a:t>
            </a:r>
          </a:p>
          <a:p>
            <a:pPr>
              <a:defRPr sz="1300">
                <a:solidFill>
                  <a:srgbClr val="80FF80"/>
                </a:solidFill>
                <a:latin typeface="Courier New"/>
              </a:defRPr>
            </a:pPr>
            <a:r>
              <a:t>  "processors": [</a:t>
            </a:r>
          </a:p>
          <a:p>
            <a:pPr>
              <a:defRPr sz="1300">
                <a:solidFill>
                  <a:srgbClr val="80FF80"/>
                </a:solidFill>
                <a:latin typeface="Courier New"/>
              </a:defRPr>
            </a:pPr>
            <a:r>
              <a:t>    {</a:t>
            </a:r>
          </a:p>
          <a:p>
            <a:pPr>
              <a:defRPr sz="1300">
                <a:solidFill>
                  <a:srgbClr val="80FF80"/>
                </a:solidFill>
                <a:latin typeface="Courier New"/>
              </a:defRPr>
            </a:pPr>
            <a:r>
              <a:t>      "set": { "field": "ingest_time", "value": "{{_ingest.timestamp}}" }</a:t>
            </a:r>
          </a:p>
          <a:p>
            <a:pPr>
              <a:defRPr sz="1300">
                <a:solidFill>
                  <a:srgbClr val="80FF80"/>
                </a:solidFill>
                <a:latin typeface="Courier New"/>
              </a:defRPr>
            </a:pPr>
            <a:r>
              <a:t>    }</a:t>
            </a:r>
          </a:p>
          <a:p>
            <a:pPr>
              <a:defRPr sz="1300">
                <a:solidFill>
                  <a:srgbClr val="80FF80"/>
                </a:solidFill>
                <a:latin typeface="Courier New"/>
              </a:defRPr>
            </a:pPr>
            <a:r>
              <a:t>  ]</a:t>
            </a:r>
          </a:p>
          <a:p>
            <a:pPr>
              <a:defRPr sz="1300">
                <a:solidFill>
                  <a:srgbClr val="80FF80"/>
                </a:solidFill>
                <a:latin typeface="Courier New"/>
              </a:defRPr>
            </a:pPr>
            <a:r>
              <a:t>}</a:t>
            </a:r>
          </a:p>
        </p:txBody>
      </p:sp>
      <p:sp>
        <p:nvSpPr>
          <p:cNvPr id="7" name="TextBox 6"/>
          <p:cNvSpPr txBox="1"/>
          <p:nvPr/>
        </p:nvSpPr>
        <p:spPr>
          <a:xfrm>
            <a:off x="457200" y="3867912"/>
            <a:ext cx="10972800" cy="320040"/>
          </a:xfrm>
          <a:prstGeom prst="rect">
            <a:avLst/>
          </a:prstGeom>
          <a:noFill/>
        </p:spPr>
        <p:txBody>
          <a:bodyPr wrap="none">
            <a:spAutoFit/>
          </a:bodyPr>
          <a:lstStyle/>
          <a:p>
            <a:pPr>
              <a:defRPr sz="1700" b="1">
                <a:solidFill>
                  <a:srgbClr val="FFA726"/>
                </a:solidFill>
              </a:defRPr>
            </a:pPr>
            <a:r>
              <a:t>▸  Create an index with an Explicit Mapping</a:t>
            </a:r>
          </a:p>
        </p:txBody>
      </p:sp>
      <p:sp>
        <p:nvSpPr>
          <p:cNvPr id="8" name="TextBox 7"/>
          <p:cNvSpPr txBox="1"/>
          <p:nvPr/>
        </p:nvSpPr>
        <p:spPr>
          <a:xfrm>
            <a:off x="914400" y="4233672"/>
            <a:ext cx="10515600" cy="548640"/>
          </a:xfrm>
          <a:prstGeom prst="rect">
            <a:avLst/>
          </a:prstGeom>
          <a:noFill/>
        </p:spPr>
        <p:txBody>
          <a:bodyPr wrap="square">
            <a:spAutoFit/>
          </a:bodyPr>
          <a:lstStyle/>
          <a:p>
            <a:pPr>
              <a:defRPr sz="1300">
                <a:solidFill>
                  <a:srgbClr val="BBBBBB"/>
                </a:solidFill>
              </a:defRPr>
            </a:pPr>
            <a:r>
              <a:t>We enforce that status cannot be tokenized (keyword only) and message supports full-text search. Expected Output:</a:t>
            </a:r>
          </a:p>
        </p:txBody>
      </p:sp>
      <p:sp>
        <p:nvSpPr>
          <p:cNvPr id="9" name="TextBox 8"/>
          <p:cNvSpPr txBox="1"/>
          <p:nvPr/>
        </p:nvSpPr>
        <p:spPr>
          <a:xfrm>
            <a:off x="914400" y="4690872"/>
            <a:ext cx="10515600" cy="1901952"/>
          </a:xfrm>
          <a:prstGeom prst="rect">
            <a:avLst/>
          </a:prstGeom>
          <a:noFill/>
        </p:spPr>
        <p:txBody>
          <a:bodyPr wrap="square">
            <a:spAutoFit/>
          </a:bodyPr>
          <a:lstStyle/>
          <a:p>
            <a:pPr>
              <a:defRPr sz="1300">
                <a:solidFill>
                  <a:srgbClr val="80FF80"/>
                </a:solidFill>
                <a:latin typeface="Courier New"/>
              </a:defRPr>
            </a:pPr>
            <a:r>
              <a:t>PUT my_logs</a:t>
            </a:r>
          </a:p>
          <a:p>
            <a:pPr>
              <a:defRPr sz="1300">
                <a:solidFill>
                  <a:srgbClr val="80FF80"/>
                </a:solidFill>
                <a:latin typeface="Courier New"/>
              </a:defRPr>
            </a:pPr>
            <a:r>
              <a:t>{</a:t>
            </a:r>
          </a:p>
          <a:p>
            <a:pPr>
              <a:defRPr sz="1300">
                <a:solidFill>
                  <a:srgbClr val="80FF80"/>
                </a:solidFill>
                <a:latin typeface="Courier New"/>
              </a:defRPr>
            </a:pPr>
            <a:r>
              <a:t>  "mappings": {</a:t>
            </a:r>
          </a:p>
          <a:p>
            <a:pPr>
              <a:defRPr sz="1300">
                <a:solidFill>
                  <a:srgbClr val="80FF80"/>
                </a:solidFill>
                <a:latin typeface="Courier New"/>
              </a:defRPr>
            </a:pPr>
            <a:r>
              <a:t>    "properties": {</a:t>
            </a:r>
          </a:p>
          <a:p>
            <a:pPr>
              <a:defRPr sz="1300">
                <a:solidFill>
                  <a:srgbClr val="80FF80"/>
                </a:solidFill>
                <a:latin typeface="Courier New"/>
              </a:defRPr>
            </a:pPr>
            <a:r>
              <a:t>      "status": { "type": "keyword" },</a:t>
            </a:r>
          </a:p>
          <a:p>
            <a:pPr>
              <a:defRPr sz="1300">
                <a:solidFill>
                  <a:srgbClr val="80FF80"/>
                </a:solidFill>
                <a:latin typeface="Courier New"/>
              </a:defRPr>
            </a:pPr>
            <a:r>
              <a:t>      "message": { "type": "text" }</a:t>
            </a:r>
          </a:p>
          <a:p>
            <a:pPr>
              <a:defRPr sz="1300">
                <a:solidFill>
                  <a:srgbClr val="80FF80"/>
                </a:solidFill>
                <a:latin typeface="Courier New"/>
              </a:defRPr>
            </a:pPr>
            <a:r>
              <a:t>    }</a:t>
            </a:r>
          </a:p>
          <a:p>
            <a:pPr>
              <a:defRPr sz="1300">
                <a:solidFill>
                  <a:srgbClr val="80FF80"/>
                </a:solidFill>
                <a:latin typeface="Courier New"/>
              </a:defRPr>
            </a:pPr>
            <a:r>
              <a:t>  }</a:t>
            </a:r>
          </a:p>
          <a:p>
            <a:pPr>
              <a:defRPr sz="1300">
                <a:solidFill>
                  <a:srgbClr val="80FF80"/>
                </a:solidFill>
                <a:latin typeface="Courier New"/>
              </a:defRPr>
            </a:pPr>
            <a:r>
              <a: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9: Explicit Mappings &amp; Ingest Pipelines</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Index a document using the new pipeline</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Note the ?pipeline=my_pipeline parameter. Expected Output:</a:t>
            </a:r>
          </a:p>
        </p:txBody>
      </p:sp>
      <p:sp>
        <p:nvSpPr>
          <p:cNvPr id="6" name="TextBox 5"/>
          <p:cNvSpPr txBox="1"/>
          <p:nvPr/>
        </p:nvSpPr>
        <p:spPr>
          <a:xfrm>
            <a:off x="914400" y="1737360"/>
            <a:ext cx="10515600" cy="1097280"/>
          </a:xfrm>
          <a:prstGeom prst="rect">
            <a:avLst/>
          </a:prstGeom>
          <a:noFill/>
        </p:spPr>
        <p:txBody>
          <a:bodyPr wrap="square">
            <a:spAutoFit/>
          </a:bodyPr>
          <a:lstStyle/>
          <a:p>
            <a:pPr>
              <a:defRPr sz="1300">
                <a:solidFill>
                  <a:srgbClr val="80FF80"/>
                </a:solidFill>
                <a:latin typeface="Courier New"/>
              </a:defRPr>
            </a:pPr>
            <a:r>
              <a:t>POST my_logs/_doc/1?pipeline=my_pipeline</a:t>
            </a:r>
          </a:p>
          <a:p>
            <a:pPr>
              <a:defRPr sz="1300">
                <a:solidFill>
                  <a:srgbClr val="80FF80"/>
                </a:solidFill>
                <a:latin typeface="Courier New"/>
              </a:defRPr>
            </a:pPr>
            <a:r>
              <a:t>{</a:t>
            </a:r>
          </a:p>
          <a:p>
            <a:pPr>
              <a:defRPr sz="1300">
                <a:solidFill>
                  <a:srgbClr val="80FF80"/>
                </a:solidFill>
                <a:latin typeface="Courier New"/>
              </a:defRPr>
            </a:pPr>
            <a:r>
              <a:t>  "status": "ERROR",</a:t>
            </a:r>
          </a:p>
          <a:p>
            <a:pPr>
              <a:defRPr sz="1300">
                <a:solidFill>
                  <a:srgbClr val="80FF80"/>
                </a:solidFill>
                <a:latin typeface="Courier New"/>
              </a:defRPr>
            </a:pPr>
            <a:r>
              <a:t>  "message": "Failed to connect to the database securely."</a:t>
            </a:r>
          </a:p>
          <a:p>
            <a:pPr>
              <a:defRPr sz="1300">
                <a:solidFill>
                  <a:srgbClr val="80FF80"/>
                </a:solidFill>
                <a:latin typeface="Courier New"/>
              </a:defRPr>
            </a:pPr>
            <a:r>
              <a:t>}</a:t>
            </a:r>
          </a:p>
        </p:txBody>
      </p:sp>
      <p:sp>
        <p:nvSpPr>
          <p:cNvPr id="7" name="TextBox 6"/>
          <p:cNvSpPr txBox="1"/>
          <p:nvPr/>
        </p:nvSpPr>
        <p:spPr>
          <a:xfrm>
            <a:off x="457200" y="3063240"/>
            <a:ext cx="10972800" cy="320040"/>
          </a:xfrm>
          <a:prstGeom prst="rect">
            <a:avLst/>
          </a:prstGeom>
          <a:noFill/>
        </p:spPr>
        <p:txBody>
          <a:bodyPr wrap="none">
            <a:spAutoFit/>
          </a:bodyPr>
          <a:lstStyle/>
          <a:p>
            <a:pPr>
              <a:defRPr sz="1700" b="1">
                <a:solidFill>
                  <a:srgbClr val="FFA726"/>
                </a:solidFill>
              </a:defRPr>
            </a:pPr>
            <a:r>
              <a:t>▸  Retrieve the document to verify the injected timestamp</a:t>
            </a:r>
          </a:p>
        </p:txBody>
      </p:sp>
      <p:sp>
        <p:nvSpPr>
          <p:cNvPr id="8" name="TextBox 7"/>
          <p:cNvSpPr txBox="1"/>
          <p:nvPr/>
        </p:nvSpPr>
        <p:spPr>
          <a:xfrm>
            <a:off x="914400" y="3429000"/>
            <a:ext cx="10515600" cy="548640"/>
          </a:xfrm>
          <a:prstGeom prst="rect">
            <a:avLst/>
          </a:prstGeom>
          <a:noFill/>
        </p:spPr>
        <p:txBody>
          <a:bodyPr wrap="square">
            <a:spAutoFit/>
          </a:bodyPr>
          <a:lstStyle/>
          <a:p>
            <a:pPr>
              <a:defRPr sz="1300">
                <a:solidFill>
                  <a:srgbClr val="BBBBBB"/>
                </a:solidFill>
              </a:defRPr>
            </a:pPr>
            <a:r>
              <a:t>Expected Output: The ingest_time field was automatically populated by the pipeline!</a:t>
            </a:r>
          </a:p>
        </p:txBody>
      </p:sp>
      <p:sp>
        <p:nvSpPr>
          <p:cNvPr id="9" name="TextBox 8"/>
          <p:cNvSpPr txBox="1"/>
          <p:nvPr/>
        </p:nvSpPr>
        <p:spPr>
          <a:xfrm>
            <a:off x="914400" y="3886200"/>
            <a:ext cx="10515600" cy="292608"/>
          </a:xfrm>
          <a:prstGeom prst="rect">
            <a:avLst/>
          </a:prstGeom>
          <a:noFill/>
        </p:spPr>
        <p:txBody>
          <a:bodyPr wrap="square">
            <a:spAutoFit/>
          </a:bodyPr>
          <a:lstStyle/>
          <a:p>
            <a:pPr>
              <a:defRPr sz="1300">
                <a:solidFill>
                  <a:srgbClr val="80FF80"/>
                </a:solidFill>
                <a:latin typeface="Courier New"/>
              </a:defRPr>
            </a:pPr>
            <a:r>
              <a:t>GET my_logs/_doc/1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9: Explicit Mappings &amp; Ingest Pipelines</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Verify the Mapping</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Expected Output:</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GET my_logs/_mapping</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371600"/>
            <a:ext cx="10058400" cy="1097280"/>
          </a:xfrm>
          <a:prstGeom prst="rect">
            <a:avLst/>
          </a:prstGeom>
          <a:noFill/>
        </p:spPr>
        <p:txBody>
          <a:bodyPr wrap="none">
            <a:spAutoFit/>
          </a:bodyPr>
          <a:lstStyle/>
          <a:p>
            <a:pPr algn="ctr">
              <a:defRPr sz="3600" b="1">
                <a:solidFill>
                  <a:srgbClr val="00BBD4"/>
                </a:solidFill>
              </a:defRPr>
            </a:pPr>
            <a:r>
              <a:t>Module 4: Search DSL, ES|QL, EQL, SQL</a:t>
            </a:r>
          </a:p>
        </p:txBody>
      </p:sp>
      <p:sp>
        <p:nvSpPr>
          <p:cNvPr id="3" name="Rectangle 2"/>
          <p:cNvSpPr/>
          <p:nvPr/>
        </p:nvSpPr>
        <p:spPr>
          <a:xfrm>
            <a:off x="2743200" y="2560320"/>
            <a:ext cx="6400800" cy="381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017520"/>
            <a:ext cx="8229600" cy="365760"/>
          </a:xfrm>
          <a:prstGeom prst="rect">
            <a:avLst/>
          </a:prstGeom>
          <a:noFill/>
        </p:spPr>
        <p:txBody>
          <a:bodyPr wrap="none">
            <a:spAutoFit/>
          </a:bodyPr>
          <a:lstStyle/>
          <a:p>
            <a:pPr>
              <a:defRPr sz="2000">
                <a:solidFill>
                  <a:srgbClr val="FFFFFF"/>
                </a:solidFill>
              </a:defRPr>
            </a:pPr>
            <a:r>
              <a:t>Lab 10:  Query vs. Filter</a:t>
            </a:r>
          </a:p>
        </p:txBody>
      </p:sp>
      <p:sp>
        <p:nvSpPr>
          <p:cNvPr id="5" name="TextBox 4"/>
          <p:cNvSpPr txBox="1"/>
          <p:nvPr/>
        </p:nvSpPr>
        <p:spPr>
          <a:xfrm>
            <a:off x="1828800" y="3474720"/>
            <a:ext cx="8229600" cy="365760"/>
          </a:xfrm>
          <a:prstGeom prst="rect">
            <a:avLst/>
          </a:prstGeom>
          <a:noFill/>
        </p:spPr>
        <p:txBody>
          <a:bodyPr wrap="none">
            <a:spAutoFit/>
          </a:bodyPr>
          <a:lstStyle/>
          <a:p>
            <a:pPr>
              <a:defRPr sz="2000">
                <a:solidFill>
                  <a:srgbClr val="FFFFFF"/>
                </a:solidFill>
              </a:defRPr>
            </a:pPr>
            <a:r>
              <a:t>Lab 11:  Aggregations</a:t>
            </a:r>
          </a:p>
        </p:txBody>
      </p:sp>
      <p:sp>
        <p:nvSpPr>
          <p:cNvPr id="6" name="TextBox 5"/>
          <p:cNvSpPr txBox="1"/>
          <p:nvPr/>
        </p:nvSpPr>
        <p:spPr>
          <a:xfrm>
            <a:off x="1828800" y="3931920"/>
            <a:ext cx="8229600" cy="365760"/>
          </a:xfrm>
          <a:prstGeom prst="rect">
            <a:avLst/>
          </a:prstGeom>
          <a:noFill/>
        </p:spPr>
        <p:txBody>
          <a:bodyPr wrap="none">
            <a:spAutoFit/>
          </a:bodyPr>
          <a:lstStyle/>
          <a:p>
            <a:pPr>
              <a:defRPr sz="2000">
                <a:solidFill>
                  <a:srgbClr val="FFFFFF"/>
                </a:solidFill>
              </a:defRPr>
            </a:pPr>
            <a:r>
              <a:t>Lab 12:  Kibana Dashboards</a:t>
            </a:r>
          </a:p>
        </p:txBody>
      </p:sp>
      <p:sp>
        <p:nvSpPr>
          <p:cNvPr id="7" name="TextBox 6"/>
          <p:cNvSpPr txBox="1"/>
          <p:nvPr/>
        </p:nvSpPr>
        <p:spPr>
          <a:xfrm>
            <a:off x="1828800" y="4389120"/>
            <a:ext cx="8229600" cy="365760"/>
          </a:xfrm>
          <a:prstGeom prst="rect">
            <a:avLst/>
          </a:prstGeom>
          <a:noFill/>
        </p:spPr>
        <p:txBody>
          <a:bodyPr wrap="none">
            <a:spAutoFit/>
          </a:bodyPr>
          <a:lstStyle/>
          <a:p>
            <a:pPr>
              <a:defRPr sz="2000">
                <a:solidFill>
                  <a:srgbClr val="FFFFFF"/>
                </a:solidFill>
              </a:defRPr>
            </a:pPr>
            <a:r>
              <a:t>Lab 13:  Search Performance</a:t>
            </a:r>
          </a:p>
        </p:txBody>
      </p:sp>
      <p:sp>
        <p:nvSpPr>
          <p:cNvPr id="8" name="TextBox 7"/>
          <p:cNvSpPr txBox="1"/>
          <p:nvPr/>
        </p:nvSpPr>
        <p:spPr>
          <a:xfrm>
            <a:off x="1828800" y="4846320"/>
            <a:ext cx="8229600" cy="365760"/>
          </a:xfrm>
          <a:prstGeom prst="rect">
            <a:avLst/>
          </a:prstGeom>
          <a:noFill/>
        </p:spPr>
        <p:txBody>
          <a:bodyPr wrap="none">
            <a:spAutoFit/>
          </a:bodyPr>
          <a:lstStyle/>
          <a:p>
            <a:pPr>
              <a:defRPr sz="2000">
                <a:solidFill>
                  <a:srgbClr val="FFFFFF"/>
                </a:solidFill>
              </a:defRPr>
            </a:pPr>
            <a:r>
              <a:t>Lab 14:  ES|QL, EQL, SQL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3000" b="1">
                <a:solidFill>
                  <a:srgbClr val="00BBD4"/>
                </a:solidFill>
              </a:defRPr>
            </a:pPr>
            <a:r>
              <a:t>Lab 10: Query vs. Filter Contexts</a:t>
            </a:r>
          </a:p>
        </p:txBody>
      </p:sp>
      <p:sp>
        <p:nvSpPr>
          <p:cNvPr id="3" name="Rectangle 2"/>
          <p:cNvSpPr/>
          <p:nvPr/>
        </p:nvSpPr>
        <p:spPr>
          <a:xfrm>
            <a:off x="731520" y="1371600"/>
            <a:ext cx="10515600" cy="254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2743200" cy="365760"/>
          </a:xfrm>
          <a:prstGeom prst="rect">
            <a:avLst/>
          </a:prstGeom>
          <a:noFill/>
        </p:spPr>
        <p:txBody>
          <a:bodyPr wrap="none">
            <a:spAutoFit/>
          </a:bodyPr>
          <a:lstStyle/>
          <a:p>
            <a:pPr>
              <a:defRPr sz="2200" b="1">
                <a:solidFill>
                  <a:srgbClr val="FFA726"/>
                </a:solidFill>
              </a:defRPr>
            </a:pPr>
            <a:r>
              <a:t>🎯  Goal</a:t>
            </a:r>
          </a:p>
        </p:txBody>
      </p:sp>
      <p:sp>
        <p:nvSpPr>
          <p:cNvPr id="5" name="TextBox 4"/>
          <p:cNvSpPr txBox="1"/>
          <p:nvPr/>
        </p:nvSpPr>
        <p:spPr>
          <a:xfrm>
            <a:off x="1097280" y="2057400"/>
            <a:ext cx="10058400" cy="914400"/>
          </a:xfrm>
          <a:prstGeom prst="rect">
            <a:avLst/>
          </a:prstGeom>
          <a:noFill/>
        </p:spPr>
        <p:txBody>
          <a:bodyPr wrap="square">
            <a:spAutoFit/>
          </a:bodyPr>
          <a:lstStyle/>
          <a:p>
            <a:pPr>
              <a:defRPr sz="1600">
                <a:solidFill>
                  <a:srgbClr val="FFFFFF"/>
                </a:solidFill>
              </a:defRPr>
            </a:pPr>
            <a:r>
              <a:t>Execute structured searches in Kibana Dev Tools to understand the deep difference between scoring a document via `must` (Query Context) versus exact filtering via `filter` (Filter Context).</a:t>
            </a:r>
          </a:p>
        </p:txBody>
      </p:sp>
      <p:sp>
        <p:nvSpPr>
          <p:cNvPr id="6" name="TextBox 5"/>
          <p:cNvSpPr txBox="1"/>
          <p:nvPr/>
        </p:nvSpPr>
        <p:spPr>
          <a:xfrm>
            <a:off x="731520" y="3063240"/>
            <a:ext cx="3657600" cy="365760"/>
          </a:xfrm>
          <a:prstGeom prst="rect">
            <a:avLst/>
          </a:prstGeom>
          <a:noFill/>
        </p:spPr>
        <p:txBody>
          <a:bodyPr wrap="none">
            <a:spAutoFit/>
          </a:bodyPr>
          <a:lstStyle/>
          <a:p>
            <a:pPr>
              <a:defRPr sz="2200" b="1">
                <a:solidFill>
                  <a:srgbClr val="FFA726"/>
                </a:solidFill>
              </a:defRPr>
            </a:pPr>
            <a:r>
              <a:t>📋  Scenario</a:t>
            </a:r>
          </a:p>
        </p:txBody>
      </p:sp>
      <p:sp>
        <p:nvSpPr>
          <p:cNvPr id="7" name="TextBox 6"/>
          <p:cNvSpPr txBox="1"/>
          <p:nvPr/>
        </p:nvSpPr>
        <p:spPr>
          <a:xfrm>
            <a:off x="1097280" y="3474720"/>
            <a:ext cx="10058400" cy="1828800"/>
          </a:xfrm>
          <a:prstGeom prst="rect">
            <a:avLst/>
          </a:prstGeom>
          <a:noFill/>
        </p:spPr>
        <p:txBody>
          <a:bodyPr wrap="square">
            <a:spAutoFit/>
          </a:bodyPr>
          <a:lstStyle/>
          <a:p>
            <a:pPr>
              <a:defRPr sz="1400">
                <a:solidFill>
                  <a:srgbClr val="BBBBBB"/>
                </a:solidFill>
              </a:defRPr>
            </a:pPr>
            <a:r>
              <a:t>You need to search the `products` index created in Lab 6. Users are looking for the word "shoe", but they only want to see results that cost less than $100.</a:t>
            </a:r>
          </a:p>
        </p:txBody>
      </p:sp>
      <p:sp>
        <p:nvSpPr>
          <p:cNvPr id="8" name="TextBox 7"/>
          <p:cNvSpPr txBox="1"/>
          <p:nvPr/>
        </p:nvSpPr>
        <p:spPr>
          <a:xfrm>
            <a:off x="731520" y="4846320"/>
            <a:ext cx="3657600" cy="365760"/>
          </a:xfrm>
          <a:prstGeom prst="rect">
            <a:avLst/>
          </a:prstGeom>
          <a:noFill/>
        </p:spPr>
        <p:txBody>
          <a:bodyPr wrap="none">
            <a:spAutoFit/>
          </a:bodyPr>
          <a:lstStyle/>
          <a:p>
            <a:pPr>
              <a:defRPr sz="1800" b="1">
                <a:solidFill>
                  <a:srgbClr val="66BB6A"/>
                </a:solidFill>
              </a:defRPr>
            </a:pPr>
            <a:r>
              <a:t>⚡  Prerequisites</a:t>
            </a:r>
          </a:p>
        </p:txBody>
      </p:sp>
      <p:sp>
        <p:nvSpPr>
          <p:cNvPr id="9" name="TextBox 8"/>
          <p:cNvSpPr txBox="1"/>
          <p:nvPr/>
        </p:nvSpPr>
        <p:spPr>
          <a:xfrm>
            <a:off x="1097280" y="5212080"/>
            <a:ext cx="10058400" cy="731520"/>
          </a:xfrm>
          <a:prstGeom prst="rect">
            <a:avLst/>
          </a:prstGeom>
          <a:noFill/>
        </p:spPr>
        <p:txBody>
          <a:bodyPr wrap="square">
            <a:spAutoFit/>
          </a:bodyPr>
          <a:lstStyle/>
          <a:p>
            <a:pPr>
              <a:defRPr sz="1400">
                <a:solidFill>
                  <a:srgbClr val="BBBBBB"/>
                </a:solidFill>
              </a:defRPr>
            </a:pPr>
            <a:r>
              <a:t>• Completion of Lab 6 (The `products` index must exist with sample data).</a:t>
            </a:r>
            <a:br/>
            <a:r>
              <a:t>• You must be logged into the Kibana Web UI and have the Dev Tools console open.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10: Query vs. Filter Contexts</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Execute a Mixed Context Search</a:t>
            </a:r>
          </a:p>
        </p:txBody>
      </p:sp>
      <p:sp>
        <p:nvSpPr>
          <p:cNvPr id="5" name="TextBox 4"/>
          <p:cNvSpPr txBox="1"/>
          <p:nvPr/>
        </p:nvSpPr>
        <p:spPr>
          <a:xfrm>
            <a:off x="914400" y="1280160"/>
            <a:ext cx="10515600" cy="2103120"/>
          </a:xfrm>
          <a:prstGeom prst="rect">
            <a:avLst/>
          </a:prstGeom>
          <a:noFill/>
        </p:spPr>
        <p:txBody>
          <a:bodyPr wrap="square">
            <a:spAutoFit/>
          </a:bodyPr>
          <a:lstStyle/>
          <a:p>
            <a:pPr>
              <a:defRPr sz="1300">
                <a:solidFill>
                  <a:srgbClr val="80FF80"/>
                </a:solidFill>
                <a:latin typeface="Courier New"/>
              </a:defRPr>
            </a:pPr>
            <a:r>
              <a:t>GET products/_search</a:t>
            </a:r>
          </a:p>
          <a:p>
            <a:pPr>
              <a:defRPr sz="1300">
                <a:solidFill>
                  <a:srgbClr val="80FF80"/>
                </a:solidFill>
                <a:latin typeface="Courier New"/>
              </a:defRPr>
            </a:pPr>
            <a:r>
              <a:t>   {</a:t>
            </a:r>
          </a:p>
          <a:p>
            <a:pPr>
              <a:defRPr sz="1300">
                <a:solidFill>
                  <a:srgbClr val="80FF80"/>
                </a:solidFill>
                <a:latin typeface="Courier New"/>
              </a:defRPr>
            </a:pPr>
            <a:r>
              <a:t>     "query": {</a:t>
            </a:r>
          </a:p>
          <a:p>
            <a:pPr>
              <a:defRPr sz="1300">
                <a:solidFill>
                  <a:srgbClr val="80FF80"/>
                </a:solidFill>
                <a:latin typeface="Courier New"/>
              </a:defRPr>
            </a:pPr>
            <a:r>
              <a:t>       "bool": {</a:t>
            </a:r>
          </a:p>
          <a:p>
            <a:pPr>
              <a:defRPr sz="1300">
                <a:solidFill>
                  <a:srgbClr val="80FF80"/>
                </a:solidFill>
                <a:latin typeface="Courier New"/>
              </a:defRPr>
            </a:pPr>
            <a:r>
              <a:t>         "must": { </a:t>
            </a:r>
          </a:p>
          <a:p>
            <a:pPr>
              <a:defRPr sz="1300">
                <a:solidFill>
                  <a:srgbClr val="80FF80"/>
                </a:solidFill>
                <a:latin typeface="Courier New"/>
              </a:defRPr>
            </a:pPr>
            <a:r>
              <a:t>           "match": { "name": "shoe" } </a:t>
            </a:r>
          </a:p>
          <a:p>
            <a:pPr>
              <a:defRPr sz="1300">
                <a:solidFill>
                  <a:srgbClr val="80FF80"/>
                </a:solidFill>
                <a:latin typeface="Courier New"/>
              </a:defRPr>
            </a:pPr>
            <a:r>
              <a:t>         },</a:t>
            </a:r>
          </a:p>
          <a:p>
            <a:pPr>
              <a:defRPr sz="1300">
                <a:solidFill>
                  <a:srgbClr val="80FF80"/>
                </a:solidFill>
                <a:latin typeface="Courier New"/>
              </a:defRPr>
            </a:pPr>
            <a:r>
              <a:t>         "filter": { </a:t>
            </a:r>
          </a:p>
          <a:p>
            <a:pPr>
              <a:defRPr sz="1300">
                <a:solidFill>
                  <a:srgbClr val="80FF80"/>
                </a:solidFill>
                <a:latin typeface="Courier New"/>
              </a:defRPr>
            </a:pPr>
            <a:r>
              <a:t>           "range": { "price": { "lt": 100 } } </a:t>
            </a:r>
          </a:p>
          <a:p>
            <a:pPr>
              <a:defRPr sz="1300">
                <a:solidFill>
                  <a:srgbClr val="80FF80"/>
                </a:solidFill>
                <a:latin typeface="Courier New"/>
              </a:defRPr>
            </a:pPr>
            <a:r>
              <a:t>         }</a:t>
            </a:r>
          </a:p>
        </p:txBody>
      </p:sp>
      <p:sp>
        <p:nvSpPr>
          <p:cNvPr id="6" name="TextBox 5"/>
          <p:cNvSpPr txBox="1"/>
          <p:nvPr/>
        </p:nvSpPr>
        <p:spPr>
          <a:xfrm>
            <a:off x="457200" y="3611880"/>
            <a:ext cx="10972800" cy="320040"/>
          </a:xfrm>
          <a:prstGeom prst="rect">
            <a:avLst/>
          </a:prstGeom>
          <a:noFill/>
        </p:spPr>
        <p:txBody>
          <a:bodyPr wrap="none">
            <a:spAutoFit/>
          </a:bodyPr>
          <a:lstStyle/>
          <a:p>
            <a:pPr>
              <a:defRPr sz="1700" b="1">
                <a:solidFill>
                  <a:srgbClr val="FFA726"/>
                </a:solidFill>
              </a:defRPr>
            </a:pPr>
            <a:r>
              <a:t>▸  Analyze the Results</a:t>
            </a:r>
          </a:p>
        </p:txBody>
      </p:sp>
      <p:sp>
        <p:nvSpPr>
          <p:cNvPr id="7" name="TextBox 6"/>
          <p:cNvSpPr txBox="1"/>
          <p:nvPr/>
        </p:nvSpPr>
        <p:spPr>
          <a:xfrm>
            <a:off x="914400" y="3977640"/>
            <a:ext cx="10515600" cy="548640"/>
          </a:xfrm>
          <a:prstGeom prst="rect">
            <a:avLst/>
          </a:prstGeom>
          <a:noFill/>
        </p:spPr>
        <p:txBody>
          <a:bodyPr wrap="square">
            <a:spAutoFit/>
          </a:bodyPr>
          <a:lstStyle/>
          <a:p>
            <a:pPr>
              <a:defRPr sz="1300">
                <a:solidFill>
                  <a:srgbClr val="BBBBBB"/>
                </a:solidFill>
              </a:defRPr>
            </a:pPr>
            <a:r>
              <a:t>- Look at the _score field in the response. The document matched the word "shoe", so BM25 gave it a relevance score!    - Notice how the filter block simply acted as a binary gate (Yes/No if &lt; 100) without affecting the </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10: Query vs. Filter Contexts</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Swap context to see the difference</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Move the match query down into the filter block.        - Execute it again. Observe that the _score is now exactly 0.0. You have traded relevance ranking for pure caching speed.</a:t>
            </a:r>
          </a:p>
        </p:txBody>
      </p:sp>
      <p:sp>
        <p:nvSpPr>
          <p:cNvPr id="6" name="TextBox 5"/>
          <p:cNvSpPr txBox="1"/>
          <p:nvPr/>
        </p:nvSpPr>
        <p:spPr>
          <a:xfrm>
            <a:off x="914400" y="1737360"/>
            <a:ext cx="10515600" cy="2103120"/>
          </a:xfrm>
          <a:prstGeom prst="rect">
            <a:avLst/>
          </a:prstGeom>
          <a:noFill/>
        </p:spPr>
        <p:txBody>
          <a:bodyPr wrap="square">
            <a:spAutoFit/>
          </a:bodyPr>
          <a:lstStyle/>
          <a:p>
            <a:pPr>
              <a:defRPr sz="1300">
                <a:solidFill>
                  <a:srgbClr val="80FF80"/>
                </a:solidFill>
                <a:latin typeface="Courier New"/>
              </a:defRPr>
            </a:pPr>
            <a:r>
              <a:t>GET products/_search</a:t>
            </a:r>
          </a:p>
          <a:p>
            <a:pPr>
              <a:defRPr sz="1300">
                <a:solidFill>
                  <a:srgbClr val="80FF80"/>
                </a:solidFill>
                <a:latin typeface="Courier New"/>
              </a:defRPr>
            </a:pPr>
            <a:r>
              <a:t>   {</a:t>
            </a:r>
          </a:p>
          <a:p>
            <a:pPr>
              <a:defRPr sz="1300">
                <a:solidFill>
                  <a:srgbClr val="80FF80"/>
                </a:solidFill>
                <a:latin typeface="Courier New"/>
              </a:defRPr>
            </a:pPr>
            <a:r>
              <a:t>     "query": {</a:t>
            </a:r>
          </a:p>
          <a:p>
            <a:pPr>
              <a:defRPr sz="1300">
                <a:solidFill>
                  <a:srgbClr val="80FF80"/>
                </a:solidFill>
                <a:latin typeface="Courier New"/>
              </a:defRPr>
            </a:pPr>
            <a:r>
              <a:t>       "bool": {</a:t>
            </a:r>
          </a:p>
          <a:p>
            <a:pPr>
              <a:defRPr sz="1300">
                <a:solidFill>
                  <a:srgbClr val="80FF80"/>
                </a:solidFill>
                <a:latin typeface="Courier New"/>
              </a:defRPr>
            </a:pPr>
            <a:r>
              <a:t>         "filter": [</a:t>
            </a:r>
          </a:p>
          <a:p>
            <a:pPr>
              <a:defRPr sz="1300">
                <a:solidFill>
                  <a:srgbClr val="80FF80"/>
                </a:solidFill>
                <a:latin typeface="Courier New"/>
              </a:defRPr>
            </a:pPr>
            <a:r>
              <a:t>           { "match": { "name": "shoe" } },</a:t>
            </a:r>
          </a:p>
          <a:p>
            <a:pPr>
              <a:defRPr sz="1300">
                <a:solidFill>
                  <a:srgbClr val="80FF80"/>
                </a:solidFill>
                <a:latin typeface="Courier New"/>
              </a:defRPr>
            </a:pPr>
            <a:r>
              <a:t>           { "range": { "price": { "lt": 100 } } }</a:t>
            </a:r>
          </a:p>
          <a:p>
            <a:pPr>
              <a:defRPr sz="1300">
                <a:solidFill>
                  <a:srgbClr val="80FF80"/>
                </a:solidFill>
                <a:latin typeface="Courier New"/>
              </a:defRPr>
            </a:pPr>
            <a:r>
              <a:t>         ]</a:t>
            </a:r>
          </a:p>
          <a:p>
            <a:pPr>
              <a:defRPr sz="1300">
                <a:solidFill>
                  <a:srgbClr val="80FF80"/>
                </a:solidFill>
                <a:latin typeface="Courier New"/>
              </a:defRPr>
            </a:pPr>
            <a:r>
              <a:t>       }</a:t>
            </a:r>
          </a:p>
          <a:p>
            <a:pPr>
              <a:defRPr sz="1300">
                <a:solidFill>
                  <a:srgbClr val="80FF80"/>
                </a:solidFill>
                <a:latin typeface="Courier New"/>
              </a:defRPr>
            </a:pPr>
            <a:r>
              <a:t>     }</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3000" b="1">
                <a:solidFill>
                  <a:srgbClr val="00BBD4"/>
                </a:solidFill>
              </a:defRPr>
            </a:pPr>
            <a:r>
              <a:t>Lab 11: Aggregations Framework</a:t>
            </a:r>
          </a:p>
        </p:txBody>
      </p:sp>
      <p:sp>
        <p:nvSpPr>
          <p:cNvPr id="3" name="Rectangle 2"/>
          <p:cNvSpPr/>
          <p:nvPr/>
        </p:nvSpPr>
        <p:spPr>
          <a:xfrm>
            <a:off x="731520" y="1371600"/>
            <a:ext cx="10515600" cy="254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2743200" cy="365760"/>
          </a:xfrm>
          <a:prstGeom prst="rect">
            <a:avLst/>
          </a:prstGeom>
          <a:noFill/>
        </p:spPr>
        <p:txBody>
          <a:bodyPr wrap="none">
            <a:spAutoFit/>
          </a:bodyPr>
          <a:lstStyle/>
          <a:p>
            <a:pPr>
              <a:defRPr sz="2200" b="1">
                <a:solidFill>
                  <a:srgbClr val="FFA726"/>
                </a:solidFill>
              </a:defRPr>
            </a:pPr>
            <a:r>
              <a:t>🎯  Goal</a:t>
            </a:r>
          </a:p>
        </p:txBody>
      </p:sp>
      <p:sp>
        <p:nvSpPr>
          <p:cNvPr id="5" name="TextBox 4"/>
          <p:cNvSpPr txBox="1"/>
          <p:nvPr/>
        </p:nvSpPr>
        <p:spPr>
          <a:xfrm>
            <a:off x="1097280" y="2057400"/>
            <a:ext cx="10058400" cy="914400"/>
          </a:xfrm>
          <a:prstGeom prst="rect">
            <a:avLst/>
          </a:prstGeom>
          <a:noFill/>
        </p:spPr>
        <p:txBody>
          <a:bodyPr wrap="square">
            <a:spAutoFit/>
          </a:bodyPr>
          <a:lstStyle/>
          <a:p>
            <a:pPr>
              <a:defRPr sz="1600">
                <a:solidFill>
                  <a:srgbClr val="FFFFFF"/>
                </a:solidFill>
              </a:defRPr>
            </a:pPr>
            <a:r>
              <a:t>Nest a Metrics Aggregation inside a Bucket Aggregation to perform live mathematical analytics over grouped data.</a:t>
            </a:r>
          </a:p>
        </p:txBody>
      </p:sp>
      <p:sp>
        <p:nvSpPr>
          <p:cNvPr id="6" name="TextBox 5"/>
          <p:cNvSpPr txBox="1"/>
          <p:nvPr/>
        </p:nvSpPr>
        <p:spPr>
          <a:xfrm>
            <a:off x="731520" y="3063240"/>
            <a:ext cx="3657600" cy="365760"/>
          </a:xfrm>
          <a:prstGeom prst="rect">
            <a:avLst/>
          </a:prstGeom>
          <a:noFill/>
        </p:spPr>
        <p:txBody>
          <a:bodyPr wrap="none">
            <a:spAutoFit/>
          </a:bodyPr>
          <a:lstStyle/>
          <a:p>
            <a:pPr>
              <a:defRPr sz="2200" b="1">
                <a:solidFill>
                  <a:srgbClr val="FFA726"/>
                </a:solidFill>
              </a:defRPr>
            </a:pPr>
            <a:r>
              <a:t>📋  Scenario</a:t>
            </a:r>
          </a:p>
        </p:txBody>
      </p:sp>
      <p:sp>
        <p:nvSpPr>
          <p:cNvPr id="7" name="TextBox 6"/>
          <p:cNvSpPr txBox="1"/>
          <p:nvPr/>
        </p:nvSpPr>
        <p:spPr>
          <a:xfrm>
            <a:off x="1097280" y="3474720"/>
            <a:ext cx="10058400" cy="1828800"/>
          </a:xfrm>
          <a:prstGeom prst="rect">
            <a:avLst/>
          </a:prstGeom>
          <a:noFill/>
        </p:spPr>
        <p:txBody>
          <a:bodyPr wrap="square">
            <a:spAutoFit/>
          </a:bodyPr>
          <a:lstStyle/>
          <a:p>
            <a:pPr>
              <a:defRPr sz="1400">
                <a:solidFill>
                  <a:srgbClr val="BBBBBB"/>
                </a:solidFill>
              </a:defRPr>
            </a:pPr>
            <a:r>
              <a:t>The business team wants to know the average price of products, but separated out by Category.</a:t>
            </a:r>
          </a:p>
        </p:txBody>
      </p:sp>
      <p:sp>
        <p:nvSpPr>
          <p:cNvPr id="8" name="TextBox 7"/>
          <p:cNvSpPr txBox="1"/>
          <p:nvPr/>
        </p:nvSpPr>
        <p:spPr>
          <a:xfrm>
            <a:off x="731520" y="4846320"/>
            <a:ext cx="3657600" cy="365760"/>
          </a:xfrm>
          <a:prstGeom prst="rect">
            <a:avLst/>
          </a:prstGeom>
          <a:noFill/>
        </p:spPr>
        <p:txBody>
          <a:bodyPr wrap="none">
            <a:spAutoFit/>
          </a:bodyPr>
          <a:lstStyle/>
          <a:p>
            <a:pPr>
              <a:defRPr sz="1800" b="1">
                <a:solidFill>
                  <a:srgbClr val="66BB6A"/>
                </a:solidFill>
              </a:defRPr>
            </a:pPr>
            <a:r>
              <a:t>⚡  Prerequisites</a:t>
            </a:r>
          </a:p>
        </p:txBody>
      </p:sp>
      <p:sp>
        <p:nvSpPr>
          <p:cNvPr id="9" name="TextBox 8"/>
          <p:cNvSpPr txBox="1"/>
          <p:nvPr/>
        </p:nvSpPr>
        <p:spPr>
          <a:xfrm>
            <a:off x="1097280" y="5212080"/>
            <a:ext cx="10058400" cy="731520"/>
          </a:xfrm>
          <a:prstGeom prst="rect">
            <a:avLst/>
          </a:prstGeom>
          <a:noFill/>
        </p:spPr>
        <p:txBody>
          <a:bodyPr wrap="square">
            <a:spAutoFit/>
          </a:bodyPr>
          <a:lstStyle/>
          <a:p>
            <a:pPr>
              <a:defRPr sz="1400">
                <a:solidFill>
                  <a:srgbClr val="BBBBBB"/>
                </a:solidFill>
              </a:defRPr>
            </a:pPr>
            <a:r>
              <a:t>• Completion of Lab 6 (The `products` index must exist with sample data).</a:t>
            </a:r>
            <a:br/>
            <a:r>
              <a:t>• You must be logged into the Kibana Web UI and have the Dev Tools console open.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11: Aggregations Framework</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Build a Bucket + Metrics Aggregation</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 We use terms to create a bucket for each unique category.    - We nest an avg aggregation inside the bucket to calculate the mean price.    - We set "size": 0 because we only care about the math results, not the actual</a:t>
            </a:r>
          </a:p>
        </p:txBody>
      </p:sp>
      <p:sp>
        <p:nvSpPr>
          <p:cNvPr id="6" name="TextBox 5"/>
          <p:cNvSpPr txBox="1"/>
          <p:nvPr/>
        </p:nvSpPr>
        <p:spPr>
          <a:xfrm>
            <a:off x="914400" y="1737360"/>
            <a:ext cx="10515600" cy="2103120"/>
          </a:xfrm>
          <a:prstGeom prst="rect">
            <a:avLst/>
          </a:prstGeom>
          <a:noFill/>
        </p:spPr>
        <p:txBody>
          <a:bodyPr wrap="square">
            <a:spAutoFit/>
          </a:bodyPr>
          <a:lstStyle/>
          <a:p>
            <a:pPr>
              <a:defRPr sz="1300">
                <a:solidFill>
                  <a:srgbClr val="80FF80"/>
                </a:solidFill>
                <a:latin typeface="Courier New"/>
              </a:defRPr>
            </a:pPr>
            <a:r>
              <a:t>GET products/_search</a:t>
            </a:r>
          </a:p>
          <a:p>
            <a:pPr>
              <a:defRPr sz="1300">
                <a:solidFill>
                  <a:srgbClr val="80FF80"/>
                </a:solidFill>
                <a:latin typeface="Courier New"/>
              </a:defRPr>
            </a:pPr>
            <a:r>
              <a:t>   {</a:t>
            </a:r>
          </a:p>
          <a:p>
            <a:pPr>
              <a:defRPr sz="1300">
                <a:solidFill>
                  <a:srgbClr val="80FF80"/>
                </a:solidFill>
                <a:latin typeface="Courier New"/>
              </a:defRPr>
            </a:pPr>
            <a:r>
              <a:t>     "size": 0,</a:t>
            </a:r>
          </a:p>
          <a:p>
            <a:pPr>
              <a:defRPr sz="1300">
                <a:solidFill>
                  <a:srgbClr val="80FF80"/>
                </a:solidFill>
                <a:latin typeface="Courier New"/>
              </a:defRPr>
            </a:pPr>
            <a:r>
              <a:t>     "aggs": {</a:t>
            </a:r>
          </a:p>
          <a:p>
            <a:pPr>
              <a:defRPr sz="1300">
                <a:solidFill>
                  <a:srgbClr val="80FF80"/>
                </a:solidFill>
                <a:latin typeface="Courier New"/>
              </a:defRPr>
            </a:pPr>
            <a:r>
              <a:t>       "categories": {</a:t>
            </a:r>
          </a:p>
          <a:p>
            <a:pPr>
              <a:defRPr sz="1300">
                <a:solidFill>
                  <a:srgbClr val="80FF80"/>
                </a:solidFill>
                <a:latin typeface="Courier New"/>
              </a:defRPr>
            </a:pPr>
            <a:r>
              <a:t>         "terms": { "field": "category.keyword" },</a:t>
            </a:r>
          </a:p>
          <a:p>
            <a:pPr>
              <a:defRPr sz="1300">
                <a:solidFill>
                  <a:srgbClr val="80FF80"/>
                </a:solidFill>
                <a:latin typeface="Courier New"/>
              </a:defRPr>
            </a:pPr>
            <a:r>
              <a:t>         "aggs": {</a:t>
            </a:r>
          </a:p>
          <a:p>
            <a:pPr>
              <a:defRPr sz="1300">
                <a:solidFill>
                  <a:srgbClr val="80FF80"/>
                </a:solidFill>
                <a:latin typeface="Courier New"/>
              </a:defRPr>
            </a:pPr>
            <a:r>
              <a:t>           "avg_price": { "avg": { "field": "price" } }</a:t>
            </a:r>
          </a:p>
          <a:p>
            <a:pPr>
              <a:defRPr sz="1300">
                <a:solidFill>
                  <a:srgbClr val="80FF80"/>
                </a:solidFill>
                <a:latin typeface="Courier New"/>
              </a:defRPr>
            </a:pPr>
            <a:r>
              <a:t>         }</a:t>
            </a:r>
          </a:p>
          <a:p>
            <a:pPr>
              <a:defRPr sz="1300">
                <a:solidFill>
                  <a:srgbClr val="80FF80"/>
                </a:solidFill>
                <a:latin typeface="Courier New"/>
              </a:defRPr>
            </a:pPr>
            <a:r>
              <a:t>       }</a:t>
            </a:r>
          </a:p>
        </p:txBody>
      </p:sp>
      <p:sp>
        <p:nvSpPr>
          <p:cNvPr id="7" name="TextBox 6"/>
          <p:cNvSpPr txBox="1"/>
          <p:nvPr/>
        </p:nvSpPr>
        <p:spPr>
          <a:xfrm>
            <a:off x="457200" y="4069080"/>
            <a:ext cx="10972800" cy="320040"/>
          </a:xfrm>
          <a:prstGeom prst="rect">
            <a:avLst/>
          </a:prstGeom>
          <a:noFill/>
        </p:spPr>
        <p:txBody>
          <a:bodyPr wrap="none">
            <a:spAutoFit/>
          </a:bodyPr>
          <a:lstStyle/>
          <a:p>
            <a:pPr>
              <a:defRPr sz="1700" b="1">
                <a:solidFill>
                  <a:srgbClr val="FFA726"/>
                </a:solidFill>
              </a:defRPr>
            </a:pPr>
            <a:r>
              <a:t>▸  Analyze the Results</a:t>
            </a:r>
          </a:p>
        </p:txBody>
      </p:sp>
      <p:sp>
        <p:nvSpPr>
          <p:cNvPr id="8" name="TextBox 7"/>
          <p:cNvSpPr txBox="1"/>
          <p:nvPr/>
        </p:nvSpPr>
        <p:spPr>
          <a:xfrm>
            <a:off x="914400" y="4434840"/>
            <a:ext cx="10515600" cy="548640"/>
          </a:xfrm>
          <a:prstGeom prst="rect">
            <a:avLst/>
          </a:prstGeom>
          <a:noFill/>
        </p:spPr>
        <p:txBody>
          <a:bodyPr wrap="square">
            <a:spAutoFit/>
          </a:bodyPr>
          <a:lstStyle/>
          <a:p>
            <a:pPr>
              <a:defRPr sz="1300">
                <a:solidFill>
                  <a:srgbClr val="BBBBBB"/>
                </a:solidFill>
              </a:defRPr>
            </a:pPr>
            <a:r>
              <a:t>Scroll down the response pane past the empty "hits" array to the "aggregations" block. You'll see an array of buckets (e.g., Accessories, Footwear) displaying their respective document counts and average prices. Expected</a:t>
            </a:r>
          </a:p>
        </p:txBody>
      </p:sp>
      <p:sp>
        <p:nvSpPr>
          <p:cNvPr id="9" name="TextBox 8"/>
          <p:cNvSpPr txBox="1"/>
          <p:nvPr/>
        </p:nvSpPr>
        <p:spPr>
          <a:xfrm>
            <a:off x="914400" y="4892040"/>
            <a:ext cx="10515600" cy="2103120"/>
          </a:xfrm>
          <a:prstGeom prst="rect">
            <a:avLst/>
          </a:prstGeom>
          <a:noFill/>
        </p:spPr>
        <p:txBody>
          <a:bodyPr wrap="square">
            <a:spAutoFit/>
          </a:bodyPr>
          <a:lstStyle/>
          <a:p>
            <a:pPr>
              <a:defRPr sz="1300">
                <a:solidFill>
                  <a:srgbClr val="80FF80"/>
                </a:solidFill>
                <a:latin typeface="Courier New"/>
              </a:defRPr>
            </a:pPr>
            <a:r>
              <a:t>{</a:t>
            </a:r>
          </a:p>
          <a:p>
            <a:pPr>
              <a:defRPr sz="1300">
                <a:solidFill>
                  <a:srgbClr val="80FF80"/>
                </a:solidFill>
                <a:latin typeface="Courier New"/>
              </a:defRPr>
            </a:pPr>
            <a:r>
              <a:t>  "aggregations": {</a:t>
            </a:r>
          </a:p>
          <a:p>
            <a:pPr>
              <a:defRPr sz="1300">
                <a:solidFill>
                  <a:srgbClr val="80FF80"/>
                </a:solidFill>
                <a:latin typeface="Courier New"/>
              </a:defRPr>
            </a:pPr>
            <a:r>
              <a:t>    "categories": {</a:t>
            </a:r>
          </a:p>
          <a:p>
            <a:pPr>
              <a:defRPr sz="1300">
                <a:solidFill>
                  <a:srgbClr val="80FF80"/>
                </a:solidFill>
                <a:latin typeface="Courier New"/>
              </a:defRPr>
            </a:pPr>
            <a:r>
              <a:t>      "buckets": [</a:t>
            </a:r>
          </a:p>
          <a:p>
            <a:pPr>
              <a:defRPr sz="1300">
                <a:solidFill>
                  <a:srgbClr val="80FF80"/>
                </a:solidFill>
                <a:latin typeface="Courier New"/>
              </a:defRPr>
            </a:pPr>
            <a:r>
              <a:t>        {</a:t>
            </a:r>
          </a:p>
          <a:p>
            <a:pPr>
              <a:defRPr sz="1300">
                <a:solidFill>
                  <a:srgbClr val="80FF80"/>
                </a:solidFill>
                <a:latin typeface="Courier New"/>
              </a:defRPr>
            </a:pPr>
            <a:r>
              <a:t>          "key": "Accessories",</a:t>
            </a:r>
          </a:p>
          <a:p>
            <a:pPr>
              <a:defRPr sz="1300">
                <a:solidFill>
                  <a:srgbClr val="80FF80"/>
                </a:solidFill>
                <a:latin typeface="Courier New"/>
              </a:defRPr>
            </a:pPr>
            <a:r>
              <a:t>          "doc_count": 3,</a:t>
            </a:r>
          </a:p>
          <a:p>
            <a:pPr>
              <a:defRPr sz="1300">
                <a:solidFill>
                  <a:srgbClr val="80FF80"/>
                </a:solidFill>
                <a:latin typeface="Courier New"/>
              </a:defRPr>
            </a:pPr>
            <a:r>
              <a:t>          "avg_price": { "value": 35.0 }</a:t>
            </a:r>
          </a:p>
          <a:p>
            <a:pPr>
              <a:defRPr sz="1300">
                <a:solidFill>
                  <a:srgbClr val="80FF80"/>
                </a:solidFill>
                <a:latin typeface="Courier New"/>
              </a:defRPr>
            </a:pPr>
            <a:r>
              <a:t>        },</a:t>
            </a:r>
          </a:p>
          <a:p>
            <a:pPr>
              <a:defRPr sz="1300">
                <a:solidFill>
                  <a:srgbClr val="80FF80"/>
                </a:solidFill>
                <a:latin typeface="Courier New"/>
              </a:defRPr>
            </a:pPr>
            <a:r>
              <a:t>        {</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3000" b="1">
                <a:solidFill>
                  <a:srgbClr val="00BBD4"/>
                </a:solidFill>
              </a:defRPr>
            </a:pPr>
            <a:r>
              <a:t>Lab 12: Building Kibana Dashboards</a:t>
            </a:r>
          </a:p>
        </p:txBody>
      </p:sp>
      <p:sp>
        <p:nvSpPr>
          <p:cNvPr id="3" name="Rectangle 2"/>
          <p:cNvSpPr/>
          <p:nvPr/>
        </p:nvSpPr>
        <p:spPr>
          <a:xfrm>
            <a:off x="731520" y="1371600"/>
            <a:ext cx="10515600" cy="254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2743200" cy="365760"/>
          </a:xfrm>
          <a:prstGeom prst="rect">
            <a:avLst/>
          </a:prstGeom>
          <a:noFill/>
        </p:spPr>
        <p:txBody>
          <a:bodyPr wrap="none">
            <a:spAutoFit/>
          </a:bodyPr>
          <a:lstStyle/>
          <a:p>
            <a:pPr>
              <a:defRPr sz="2200" b="1">
                <a:solidFill>
                  <a:srgbClr val="FFA726"/>
                </a:solidFill>
              </a:defRPr>
            </a:pPr>
            <a:r>
              <a:t>🎯  Goal</a:t>
            </a:r>
          </a:p>
        </p:txBody>
      </p:sp>
      <p:sp>
        <p:nvSpPr>
          <p:cNvPr id="5" name="TextBox 4"/>
          <p:cNvSpPr txBox="1"/>
          <p:nvPr/>
        </p:nvSpPr>
        <p:spPr>
          <a:xfrm>
            <a:off x="1097280" y="2057400"/>
            <a:ext cx="10058400" cy="914400"/>
          </a:xfrm>
          <a:prstGeom prst="rect">
            <a:avLst/>
          </a:prstGeom>
          <a:noFill/>
        </p:spPr>
        <p:txBody>
          <a:bodyPr wrap="square">
            <a:spAutoFit/>
          </a:bodyPr>
          <a:lstStyle/>
          <a:p>
            <a:pPr>
              <a:defRPr sz="1600">
                <a:solidFill>
                  <a:srgbClr val="FFFFFF"/>
                </a:solidFill>
              </a:defRPr>
            </a:pPr>
            <a:r>
              <a:t>Use the Kibana UI to create interactive visualizations and assemble them into a dashboard, transforming raw Elasticsearch data into actionable charts.</a:t>
            </a:r>
          </a:p>
        </p:txBody>
      </p:sp>
      <p:sp>
        <p:nvSpPr>
          <p:cNvPr id="6" name="TextBox 5"/>
          <p:cNvSpPr txBox="1"/>
          <p:nvPr/>
        </p:nvSpPr>
        <p:spPr>
          <a:xfrm>
            <a:off x="731520" y="3063240"/>
            <a:ext cx="3657600" cy="365760"/>
          </a:xfrm>
          <a:prstGeom prst="rect">
            <a:avLst/>
          </a:prstGeom>
          <a:noFill/>
        </p:spPr>
        <p:txBody>
          <a:bodyPr wrap="none">
            <a:spAutoFit/>
          </a:bodyPr>
          <a:lstStyle/>
          <a:p>
            <a:pPr>
              <a:defRPr sz="2200" b="1">
                <a:solidFill>
                  <a:srgbClr val="FFA726"/>
                </a:solidFill>
              </a:defRPr>
            </a:pPr>
            <a:r>
              <a:t>📋  Scenario</a:t>
            </a:r>
          </a:p>
        </p:txBody>
      </p:sp>
      <p:sp>
        <p:nvSpPr>
          <p:cNvPr id="7" name="TextBox 6"/>
          <p:cNvSpPr txBox="1"/>
          <p:nvPr/>
        </p:nvSpPr>
        <p:spPr>
          <a:xfrm>
            <a:off x="1097280" y="3474720"/>
            <a:ext cx="10058400" cy="1828800"/>
          </a:xfrm>
          <a:prstGeom prst="rect">
            <a:avLst/>
          </a:prstGeom>
          <a:noFill/>
        </p:spPr>
        <p:txBody>
          <a:bodyPr wrap="square">
            <a:spAutoFit/>
          </a:bodyPr>
          <a:lstStyle/>
          <a:p>
            <a:pPr>
              <a:defRPr sz="1400">
                <a:solidFill>
                  <a:srgbClr val="BBBBBB"/>
                </a:solidFill>
              </a:defRPr>
            </a:pPr>
            <a:r>
              <a:t>Your manager wants a visual summary of the product catalog: a pie chart of products by category, a bar chart of prices, and a data table. Instead of writing JSON queries, you will use Kibana's point-and-click interface.</a:t>
            </a:r>
          </a:p>
        </p:txBody>
      </p:sp>
      <p:sp>
        <p:nvSpPr>
          <p:cNvPr id="8" name="TextBox 7"/>
          <p:cNvSpPr txBox="1"/>
          <p:nvPr/>
        </p:nvSpPr>
        <p:spPr>
          <a:xfrm>
            <a:off x="731520" y="4846320"/>
            <a:ext cx="3657600" cy="365760"/>
          </a:xfrm>
          <a:prstGeom prst="rect">
            <a:avLst/>
          </a:prstGeom>
          <a:noFill/>
        </p:spPr>
        <p:txBody>
          <a:bodyPr wrap="none">
            <a:spAutoFit/>
          </a:bodyPr>
          <a:lstStyle/>
          <a:p>
            <a:pPr>
              <a:defRPr sz="1800" b="1">
                <a:solidFill>
                  <a:srgbClr val="66BB6A"/>
                </a:solidFill>
              </a:defRPr>
            </a:pPr>
            <a:r>
              <a:t>⚡  Prerequisites</a:t>
            </a:r>
          </a:p>
        </p:txBody>
      </p:sp>
      <p:sp>
        <p:nvSpPr>
          <p:cNvPr id="9" name="TextBox 8"/>
          <p:cNvSpPr txBox="1"/>
          <p:nvPr/>
        </p:nvSpPr>
        <p:spPr>
          <a:xfrm>
            <a:off x="1097280" y="5212080"/>
            <a:ext cx="10058400" cy="731520"/>
          </a:xfrm>
          <a:prstGeom prst="rect">
            <a:avLst/>
          </a:prstGeom>
          <a:noFill/>
        </p:spPr>
        <p:txBody>
          <a:bodyPr wrap="square">
            <a:spAutoFit/>
          </a:bodyPr>
          <a:lstStyle/>
          <a:p>
            <a:pPr>
              <a:defRPr sz="1400">
                <a:solidFill>
                  <a:srgbClr val="BBBBBB"/>
                </a:solidFill>
              </a:defRPr>
            </a:pPr>
            <a:r>
              <a:t>• Completion of Lab 6 (The `products` index must exist with 8 sample documents).</a:t>
            </a:r>
            <a:br/>
            <a:r>
              <a:t>• Kibana must be running and accessible via your web browser.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12: Building Kibana Dashboards</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Navigate to Data Views</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 Open Kibana (http://localhost:5601). - Click the ☰ hamburger menu → Stack Management → Data Views.</a:t>
            </a:r>
          </a:p>
        </p:txBody>
      </p:sp>
      <p:sp>
        <p:nvSpPr>
          <p:cNvPr id="6" name="TextBox 5"/>
          <p:cNvSpPr txBox="1"/>
          <p:nvPr/>
        </p:nvSpPr>
        <p:spPr>
          <a:xfrm>
            <a:off x="457200" y="1874519"/>
            <a:ext cx="10972800" cy="320040"/>
          </a:xfrm>
          <a:prstGeom prst="rect">
            <a:avLst/>
          </a:prstGeom>
          <a:noFill/>
        </p:spPr>
        <p:txBody>
          <a:bodyPr wrap="none">
            <a:spAutoFit/>
          </a:bodyPr>
          <a:lstStyle/>
          <a:p>
            <a:pPr>
              <a:defRPr sz="1700" b="1">
                <a:solidFill>
                  <a:srgbClr val="FFA726"/>
                </a:solidFill>
              </a:defRPr>
            </a:pPr>
            <a:r>
              <a:t>▸  Create a New Data View</a:t>
            </a:r>
          </a:p>
        </p:txBody>
      </p:sp>
      <p:sp>
        <p:nvSpPr>
          <p:cNvPr id="7" name="TextBox 6"/>
          <p:cNvSpPr txBox="1"/>
          <p:nvPr/>
        </p:nvSpPr>
        <p:spPr>
          <a:xfrm>
            <a:off x="914400" y="2240279"/>
            <a:ext cx="10515600" cy="548640"/>
          </a:xfrm>
          <a:prstGeom prst="rect">
            <a:avLst/>
          </a:prstGeom>
          <a:noFill/>
        </p:spPr>
        <p:txBody>
          <a:bodyPr wrap="square">
            <a:spAutoFit/>
          </a:bodyPr>
          <a:lstStyle/>
          <a:p>
            <a:pPr>
              <a:defRPr sz="1300">
                <a:solidFill>
                  <a:srgbClr val="BBBBBB"/>
                </a:solidFill>
              </a:defRPr>
            </a:pPr>
            <a:r>
              <a:t>- Click Create data view. - Name: products - Index pattern: products - Timestamp field: Select "I don't want to use the time filter" (our products don't have timestamps). - Click Save data view to Kibana.</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3000" b="1">
                <a:solidFill>
                  <a:srgbClr val="00BBD4"/>
                </a:solidFill>
              </a:defRPr>
            </a:pPr>
            <a:r>
              <a:t>Lab 13: Analyzing Search Performance</a:t>
            </a:r>
          </a:p>
        </p:txBody>
      </p:sp>
      <p:sp>
        <p:nvSpPr>
          <p:cNvPr id="3" name="Rectangle 2"/>
          <p:cNvSpPr/>
          <p:nvPr/>
        </p:nvSpPr>
        <p:spPr>
          <a:xfrm>
            <a:off x="731520" y="1371600"/>
            <a:ext cx="10515600" cy="254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2743200" cy="365760"/>
          </a:xfrm>
          <a:prstGeom prst="rect">
            <a:avLst/>
          </a:prstGeom>
          <a:noFill/>
        </p:spPr>
        <p:txBody>
          <a:bodyPr wrap="none">
            <a:spAutoFit/>
          </a:bodyPr>
          <a:lstStyle/>
          <a:p>
            <a:pPr>
              <a:defRPr sz="2200" b="1">
                <a:solidFill>
                  <a:srgbClr val="FFA726"/>
                </a:solidFill>
              </a:defRPr>
            </a:pPr>
            <a:r>
              <a:t>🎯  Goal</a:t>
            </a:r>
          </a:p>
        </p:txBody>
      </p:sp>
      <p:sp>
        <p:nvSpPr>
          <p:cNvPr id="5" name="TextBox 4"/>
          <p:cNvSpPr txBox="1"/>
          <p:nvPr/>
        </p:nvSpPr>
        <p:spPr>
          <a:xfrm>
            <a:off x="1097280" y="2057400"/>
            <a:ext cx="10058400" cy="914400"/>
          </a:xfrm>
          <a:prstGeom prst="rect">
            <a:avLst/>
          </a:prstGeom>
          <a:noFill/>
        </p:spPr>
        <p:txBody>
          <a:bodyPr wrap="square">
            <a:spAutoFit/>
          </a:bodyPr>
          <a:lstStyle/>
          <a:p>
            <a:pPr>
              <a:defRPr sz="1600">
                <a:solidFill>
                  <a:srgbClr val="FFFFFF"/>
                </a:solidFill>
              </a:defRPr>
            </a:pPr>
            <a:r>
              <a:t>Use the Profile API to peek under the hood at Lucene's execution times, allowing you to troubleshoot slow queries.</a:t>
            </a:r>
          </a:p>
        </p:txBody>
      </p:sp>
      <p:sp>
        <p:nvSpPr>
          <p:cNvPr id="6" name="TextBox 5"/>
          <p:cNvSpPr txBox="1"/>
          <p:nvPr/>
        </p:nvSpPr>
        <p:spPr>
          <a:xfrm>
            <a:off x="731520" y="3063240"/>
            <a:ext cx="3657600" cy="365760"/>
          </a:xfrm>
          <a:prstGeom prst="rect">
            <a:avLst/>
          </a:prstGeom>
          <a:noFill/>
        </p:spPr>
        <p:txBody>
          <a:bodyPr wrap="none">
            <a:spAutoFit/>
          </a:bodyPr>
          <a:lstStyle/>
          <a:p>
            <a:pPr>
              <a:defRPr sz="2200" b="1">
                <a:solidFill>
                  <a:srgbClr val="FFA726"/>
                </a:solidFill>
              </a:defRPr>
            </a:pPr>
            <a:r>
              <a:t>📋  Scenario</a:t>
            </a:r>
          </a:p>
        </p:txBody>
      </p:sp>
      <p:sp>
        <p:nvSpPr>
          <p:cNvPr id="7" name="TextBox 6"/>
          <p:cNvSpPr txBox="1"/>
          <p:nvPr/>
        </p:nvSpPr>
        <p:spPr>
          <a:xfrm>
            <a:off x="1097280" y="3474720"/>
            <a:ext cx="10058400" cy="1828800"/>
          </a:xfrm>
          <a:prstGeom prst="rect">
            <a:avLst/>
          </a:prstGeom>
          <a:noFill/>
        </p:spPr>
        <p:txBody>
          <a:bodyPr wrap="square">
            <a:spAutoFit/>
          </a:bodyPr>
          <a:lstStyle/>
          <a:p>
            <a:pPr>
              <a:defRPr sz="1400">
                <a:solidFill>
                  <a:srgbClr val="BBBBBB"/>
                </a:solidFill>
              </a:defRPr>
            </a:pPr>
            <a:r>
              <a:t>A user complains that searches for "shoe" are suddenly taking a long time. You need to verify exactly how many milliseconds the internal Lucene token-matching took.</a:t>
            </a:r>
          </a:p>
        </p:txBody>
      </p:sp>
      <p:sp>
        <p:nvSpPr>
          <p:cNvPr id="8" name="TextBox 7"/>
          <p:cNvSpPr txBox="1"/>
          <p:nvPr/>
        </p:nvSpPr>
        <p:spPr>
          <a:xfrm>
            <a:off x="731520" y="4846320"/>
            <a:ext cx="3657600" cy="365760"/>
          </a:xfrm>
          <a:prstGeom prst="rect">
            <a:avLst/>
          </a:prstGeom>
          <a:noFill/>
        </p:spPr>
        <p:txBody>
          <a:bodyPr wrap="none">
            <a:spAutoFit/>
          </a:bodyPr>
          <a:lstStyle/>
          <a:p>
            <a:pPr>
              <a:defRPr sz="1800" b="1">
                <a:solidFill>
                  <a:srgbClr val="66BB6A"/>
                </a:solidFill>
              </a:defRPr>
            </a:pPr>
            <a:r>
              <a:t>⚡  Prerequisites</a:t>
            </a:r>
          </a:p>
        </p:txBody>
      </p:sp>
      <p:sp>
        <p:nvSpPr>
          <p:cNvPr id="9" name="TextBox 8"/>
          <p:cNvSpPr txBox="1"/>
          <p:nvPr/>
        </p:nvSpPr>
        <p:spPr>
          <a:xfrm>
            <a:off x="1097280" y="5212080"/>
            <a:ext cx="10058400" cy="731520"/>
          </a:xfrm>
          <a:prstGeom prst="rect">
            <a:avLst/>
          </a:prstGeom>
          <a:noFill/>
        </p:spPr>
        <p:txBody>
          <a:bodyPr wrap="square">
            <a:spAutoFit/>
          </a:bodyPr>
          <a:lstStyle/>
          <a:p>
            <a:pPr>
              <a:defRPr sz="1400">
                <a:solidFill>
                  <a:srgbClr val="BBBBBB"/>
                </a:solidFill>
              </a:defRPr>
            </a:pPr>
            <a:r>
              <a:t>• Completion of Lab 6 (The `products` index must exist with sample data).</a:t>
            </a:r>
            <a:br/>
            <a:r>
              <a:t>• You must be logged into the Kibana Web UI and have the Dev Tools console open.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13: Analyzing Search Performance</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Verify Sample Data Exists</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Expected Output: If count is 0, go back to Lab 6 and re-run the Bulk API insertion.</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GET products/_count</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Execute a Query with Profiling Enabled</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Adding "profile": true forces Elasticsearch to attach a detailed timing breakdown to the end of the JSON response.</a:t>
            </a:r>
          </a:p>
        </p:txBody>
      </p:sp>
      <p:sp>
        <p:nvSpPr>
          <p:cNvPr id="9" name="TextBox 8"/>
          <p:cNvSpPr txBox="1"/>
          <p:nvPr/>
        </p:nvSpPr>
        <p:spPr>
          <a:xfrm>
            <a:off x="914400" y="3081527"/>
            <a:ext cx="10515600" cy="1097280"/>
          </a:xfrm>
          <a:prstGeom prst="rect">
            <a:avLst/>
          </a:prstGeom>
          <a:noFill/>
        </p:spPr>
        <p:txBody>
          <a:bodyPr wrap="square">
            <a:spAutoFit/>
          </a:bodyPr>
          <a:lstStyle/>
          <a:p>
            <a:pPr>
              <a:defRPr sz="1300">
                <a:solidFill>
                  <a:srgbClr val="80FF80"/>
                </a:solidFill>
                <a:latin typeface="Courier New"/>
              </a:defRPr>
            </a:pPr>
            <a:r>
              <a:t>GET products/_search</a:t>
            </a:r>
          </a:p>
          <a:p>
            <a:pPr>
              <a:defRPr sz="1300">
                <a:solidFill>
                  <a:srgbClr val="80FF80"/>
                </a:solidFill>
                <a:latin typeface="Courier New"/>
              </a:defRPr>
            </a:pPr>
            <a:r>
              <a:t>{</a:t>
            </a:r>
          </a:p>
          <a:p>
            <a:pPr>
              <a:defRPr sz="1300">
                <a:solidFill>
                  <a:srgbClr val="80FF80"/>
                </a:solidFill>
                <a:latin typeface="Courier New"/>
              </a:defRPr>
            </a:pPr>
            <a:r>
              <a:t>  "profile": true,</a:t>
            </a:r>
          </a:p>
          <a:p>
            <a:pPr>
              <a:defRPr sz="1300">
                <a:solidFill>
                  <a:srgbClr val="80FF80"/>
                </a:solidFill>
                <a:latin typeface="Courier New"/>
              </a:defRPr>
            </a:pPr>
            <a:r>
              <a:t>  "query": { "match": { "name": "shoe" } }</a:t>
            </a:r>
          </a:p>
          <a:p>
            <a:pPr>
              <a:defRPr sz="1300">
                <a:solidFill>
                  <a:srgbClr val="80FF80"/>
                </a:solidFill>
                <a:latin typeface="Courier New"/>
              </a:defRPr>
            </a:pPr>
            <a:r>
              <a: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13: Analyzing Search Performance</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Review the Profile Response</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Look for the "profile" object at the bottom of the response. Expected Output (key sections): Key fields to analyze: - time_in_nanos: Total execution time for this query component (in nanoseconds). - breakdown.score: Time</a:t>
            </a:r>
          </a:p>
        </p:txBody>
      </p:sp>
      <p:sp>
        <p:nvSpPr>
          <p:cNvPr id="6" name="TextBox 5"/>
          <p:cNvSpPr txBox="1"/>
          <p:nvPr/>
        </p:nvSpPr>
        <p:spPr>
          <a:xfrm>
            <a:off x="914400" y="1737360"/>
            <a:ext cx="10515600" cy="2103120"/>
          </a:xfrm>
          <a:prstGeom prst="rect">
            <a:avLst/>
          </a:prstGeom>
          <a:noFill/>
        </p:spPr>
        <p:txBody>
          <a:bodyPr wrap="square">
            <a:spAutoFit/>
          </a:bodyPr>
          <a:lstStyle/>
          <a:p>
            <a:pPr>
              <a:defRPr sz="1300">
                <a:solidFill>
                  <a:srgbClr val="80FF80"/>
                </a:solidFill>
                <a:latin typeface="Courier New"/>
              </a:defRPr>
            </a:pPr>
            <a:r>
              <a:t>{</a:t>
            </a:r>
          </a:p>
          <a:p>
            <a:pPr>
              <a:defRPr sz="1300">
                <a:solidFill>
                  <a:srgbClr val="80FF80"/>
                </a:solidFill>
                <a:latin typeface="Courier New"/>
              </a:defRPr>
            </a:pPr>
            <a:r>
              <a:t>  "hits": {</a:t>
            </a:r>
          </a:p>
          <a:p>
            <a:pPr>
              <a:defRPr sz="1300">
                <a:solidFill>
                  <a:srgbClr val="80FF80"/>
                </a:solidFill>
                <a:latin typeface="Courier New"/>
              </a:defRPr>
            </a:pPr>
            <a:r>
              <a:t>    "total": { "value": 2 },</a:t>
            </a:r>
          </a:p>
          <a:p>
            <a:pPr>
              <a:defRPr sz="1300">
                <a:solidFill>
                  <a:srgbClr val="80FF80"/>
                </a:solidFill>
                <a:latin typeface="Courier New"/>
              </a:defRPr>
            </a:pPr>
            <a:r>
              <a:t>    "hits": [</a:t>
            </a:r>
          </a:p>
          <a:p>
            <a:pPr>
              <a:defRPr sz="1300">
                <a:solidFill>
                  <a:srgbClr val="80FF80"/>
                </a:solidFill>
                <a:latin typeface="Courier New"/>
              </a:defRPr>
            </a:pPr>
            <a:r>
              <a:t>      { "_source": { "name": "Running Shoe", "price": 95 } },</a:t>
            </a:r>
          </a:p>
          <a:p>
            <a:pPr>
              <a:defRPr sz="1300">
                <a:solidFill>
                  <a:srgbClr val="80FF80"/>
                </a:solidFill>
                <a:latin typeface="Courier New"/>
              </a:defRPr>
            </a:pPr>
            <a:r>
              <a:t>      { "_source": { "name": "Walking Shoe", "price": 120 } }</a:t>
            </a:r>
          </a:p>
          <a:p>
            <a:pPr>
              <a:defRPr sz="1300">
                <a:solidFill>
                  <a:srgbClr val="80FF80"/>
                </a:solidFill>
                <a:latin typeface="Courier New"/>
              </a:defRPr>
            </a:pPr>
            <a:r>
              <a:t>    ]</a:t>
            </a:r>
          </a:p>
          <a:p>
            <a:pPr>
              <a:defRPr sz="1300">
                <a:solidFill>
                  <a:srgbClr val="80FF80"/>
                </a:solidFill>
                <a:latin typeface="Courier New"/>
              </a:defRPr>
            </a:pPr>
            <a:r>
              <a:t>  },</a:t>
            </a:r>
          </a:p>
          <a:p>
            <a:pPr>
              <a:defRPr sz="1300">
                <a:solidFill>
                  <a:srgbClr val="80FF80"/>
                </a:solidFill>
                <a:latin typeface="Courier New"/>
              </a:defRPr>
            </a:pPr>
            <a:r>
              <a:t>  "profile": {</a:t>
            </a:r>
          </a:p>
          <a:p>
            <a:pPr>
              <a:defRPr sz="1300">
                <a:solidFill>
                  <a:srgbClr val="80FF80"/>
                </a:solidFill>
                <a:latin typeface="Courier New"/>
              </a:defRPr>
            </a:pPr>
            <a:r>
              <a:t>    "shards": [</a:t>
            </a:r>
          </a:p>
        </p:txBody>
      </p:sp>
      <p:sp>
        <p:nvSpPr>
          <p:cNvPr id="7" name="TextBox 6"/>
          <p:cNvSpPr txBox="1"/>
          <p:nvPr/>
        </p:nvSpPr>
        <p:spPr>
          <a:xfrm>
            <a:off x="457200" y="4069080"/>
            <a:ext cx="10972800" cy="320040"/>
          </a:xfrm>
          <a:prstGeom prst="rect">
            <a:avLst/>
          </a:prstGeom>
          <a:noFill/>
        </p:spPr>
        <p:txBody>
          <a:bodyPr wrap="none">
            <a:spAutoFit/>
          </a:bodyPr>
          <a:lstStyle/>
          <a:p>
            <a:pPr>
              <a:defRPr sz="1700" b="1">
                <a:solidFill>
                  <a:srgbClr val="FFA726"/>
                </a:solidFill>
              </a:defRPr>
            </a:pPr>
            <a:r>
              <a:t>▸  Compare with a Filter Context (No Scoring)</a:t>
            </a:r>
          </a:p>
        </p:txBody>
      </p:sp>
      <p:sp>
        <p:nvSpPr>
          <p:cNvPr id="8" name="TextBox 7"/>
          <p:cNvSpPr txBox="1"/>
          <p:nvPr/>
        </p:nvSpPr>
        <p:spPr>
          <a:xfrm>
            <a:off x="914400" y="4434840"/>
            <a:ext cx="10515600" cy="548640"/>
          </a:xfrm>
          <a:prstGeom prst="rect">
            <a:avLst/>
          </a:prstGeom>
          <a:noFill/>
        </p:spPr>
        <p:txBody>
          <a:bodyPr wrap="square">
            <a:spAutoFit/>
          </a:bodyPr>
          <a:lstStyle/>
          <a:p>
            <a:pPr>
              <a:defRPr sz="1300">
                <a:solidFill>
                  <a:srgbClr val="BBBBBB"/>
                </a:solidFill>
              </a:defRPr>
            </a:pPr>
            <a:r>
              <a:t>Notice how breakdown.score is 0 because filter context skips relevance scoring entirely, making it faster.</a:t>
            </a:r>
          </a:p>
        </p:txBody>
      </p:sp>
      <p:sp>
        <p:nvSpPr>
          <p:cNvPr id="9" name="TextBox 8"/>
          <p:cNvSpPr txBox="1"/>
          <p:nvPr/>
        </p:nvSpPr>
        <p:spPr>
          <a:xfrm>
            <a:off x="914400" y="4892040"/>
            <a:ext cx="10515600" cy="1901952"/>
          </a:xfrm>
          <a:prstGeom prst="rect">
            <a:avLst/>
          </a:prstGeom>
          <a:noFill/>
        </p:spPr>
        <p:txBody>
          <a:bodyPr wrap="square">
            <a:spAutoFit/>
          </a:bodyPr>
          <a:lstStyle/>
          <a:p>
            <a:pPr>
              <a:defRPr sz="1300">
                <a:solidFill>
                  <a:srgbClr val="80FF80"/>
                </a:solidFill>
                <a:latin typeface="Courier New"/>
              </a:defRPr>
            </a:pPr>
            <a:r>
              <a:t>GET products/_search</a:t>
            </a:r>
          </a:p>
          <a:p>
            <a:pPr>
              <a:defRPr sz="1300">
                <a:solidFill>
                  <a:srgbClr val="80FF80"/>
                </a:solidFill>
                <a:latin typeface="Courier New"/>
              </a:defRPr>
            </a:pPr>
            <a:r>
              <a:t>{</a:t>
            </a:r>
          </a:p>
          <a:p>
            <a:pPr>
              <a:defRPr sz="1300">
                <a:solidFill>
                  <a:srgbClr val="80FF80"/>
                </a:solidFill>
                <a:latin typeface="Courier New"/>
              </a:defRPr>
            </a:pPr>
            <a:r>
              <a:t>  "profile": true,</a:t>
            </a:r>
          </a:p>
          <a:p>
            <a:pPr>
              <a:defRPr sz="1300">
                <a:solidFill>
                  <a:srgbClr val="80FF80"/>
                </a:solidFill>
                <a:latin typeface="Courier New"/>
              </a:defRPr>
            </a:pPr>
            <a:r>
              <a:t>  "query": {</a:t>
            </a:r>
          </a:p>
          <a:p>
            <a:pPr>
              <a:defRPr sz="1300">
                <a:solidFill>
                  <a:srgbClr val="80FF80"/>
                </a:solidFill>
                <a:latin typeface="Courier New"/>
              </a:defRPr>
            </a:pPr>
            <a:r>
              <a:t>    "bool": {</a:t>
            </a:r>
          </a:p>
          <a:p>
            <a:pPr>
              <a:defRPr sz="1300">
                <a:solidFill>
                  <a:srgbClr val="80FF80"/>
                </a:solidFill>
                <a:latin typeface="Courier New"/>
              </a:defRPr>
            </a:pPr>
            <a:r>
              <a:t>      "filter": { "term": { "category.keyword": "Footwear" } }</a:t>
            </a:r>
          </a:p>
          <a:p>
            <a:pPr>
              <a:defRPr sz="1300">
                <a:solidFill>
                  <a:srgbClr val="80FF80"/>
                </a:solidFill>
                <a:latin typeface="Courier New"/>
              </a:defRPr>
            </a:pPr>
            <a:r>
              <a:t>    }</a:t>
            </a:r>
          </a:p>
          <a:p>
            <a:pPr>
              <a:defRPr sz="1300">
                <a:solidFill>
                  <a:srgbClr val="80FF80"/>
                </a:solidFill>
                <a:latin typeface="Courier New"/>
              </a:defRPr>
            </a:pPr>
            <a:r>
              <a:t>  }</a:t>
            </a:r>
          </a:p>
          <a:p>
            <a:pPr>
              <a:defRPr sz="1300">
                <a:solidFill>
                  <a:srgbClr val="80FF80"/>
                </a:solidFill>
                <a:latin typeface="Courier New"/>
              </a:defRPr>
            </a:pPr>
            <a:r>
              <a: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3000" b="1">
                <a:solidFill>
                  <a:srgbClr val="00BBD4"/>
                </a:solidFill>
              </a:defRPr>
            </a:pPr>
            <a:r>
              <a:t>Lab 14: Querying with ES|QL, EQL, and SQL</a:t>
            </a:r>
          </a:p>
        </p:txBody>
      </p:sp>
      <p:sp>
        <p:nvSpPr>
          <p:cNvPr id="3" name="Rectangle 2"/>
          <p:cNvSpPr/>
          <p:nvPr/>
        </p:nvSpPr>
        <p:spPr>
          <a:xfrm>
            <a:off x="731520" y="1371600"/>
            <a:ext cx="10515600" cy="254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2743200" cy="365760"/>
          </a:xfrm>
          <a:prstGeom prst="rect">
            <a:avLst/>
          </a:prstGeom>
          <a:noFill/>
        </p:spPr>
        <p:txBody>
          <a:bodyPr wrap="none">
            <a:spAutoFit/>
          </a:bodyPr>
          <a:lstStyle/>
          <a:p>
            <a:pPr>
              <a:defRPr sz="2200" b="1">
                <a:solidFill>
                  <a:srgbClr val="FFA726"/>
                </a:solidFill>
              </a:defRPr>
            </a:pPr>
            <a:r>
              <a:t>🎯  Goal</a:t>
            </a:r>
          </a:p>
        </p:txBody>
      </p:sp>
      <p:sp>
        <p:nvSpPr>
          <p:cNvPr id="5" name="TextBox 4"/>
          <p:cNvSpPr txBox="1"/>
          <p:nvPr/>
        </p:nvSpPr>
        <p:spPr>
          <a:xfrm>
            <a:off x="1097280" y="2057400"/>
            <a:ext cx="10058400" cy="914400"/>
          </a:xfrm>
          <a:prstGeom prst="rect">
            <a:avLst/>
          </a:prstGeom>
          <a:noFill/>
        </p:spPr>
        <p:txBody>
          <a:bodyPr wrap="square">
            <a:spAutoFit/>
          </a:bodyPr>
          <a:lstStyle/>
          <a:p>
            <a:pPr>
              <a:defRPr sz="1600">
                <a:solidFill>
                  <a:srgbClr val="FFFFFF"/>
                </a:solidFill>
              </a:defRPr>
            </a:pPr>
            <a:r>
              <a:t>Execute queries using three alternative query languages beyond the standard Query DSL: ES|QL (pipe-based analytics), EQL (event sequences), and SQL (relational syntax).</a:t>
            </a:r>
          </a:p>
        </p:txBody>
      </p:sp>
      <p:sp>
        <p:nvSpPr>
          <p:cNvPr id="6" name="TextBox 5"/>
          <p:cNvSpPr txBox="1"/>
          <p:nvPr/>
        </p:nvSpPr>
        <p:spPr>
          <a:xfrm>
            <a:off x="731520" y="3063240"/>
            <a:ext cx="3657600" cy="365760"/>
          </a:xfrm>
          <a:prstGeom prst="rect">
            <a:avLst/>
          </a:prstGeom>
          <a:noFill/>
        </p:spPr>
        <p:txBody>
          <a:bodyPr wrap="none">
            <a:spAutoFit/>
          </a:bodyPr>
          <a:lstStyle/>
          <a:p>
            <a:pPr>
              <a:defRPr sz="2200" b="1">
                <a:solidFill>
                  <a:srgbClr val="FFA726"/>
                </a:solidFill>
              </a:defRPr>
            </a:pPr>
            <a:r>
              <a:t>📋  Scenario</a:t>
            </a:r>
          </a:p>
        </p:txBody>
      </p:sp>
      <p:sp>
        <p:nvSpPr>
          <p:cNvPr id="7" name="TextBox 6"/>
          <p:cNvSpPr txBox="1"/>
          <p:nvPr/>
        </p:nvSpPr>
        <p:spPr>
          <a:xfrm>
            <a:off x="1097280" y="3474720"/>
            <a:ext cx="10058400" cy="1828800"/>
          </a:xfrm>
          <a:prstGeom prst="rect">
            <a:avLst/>
          </a:prstGeom>
          <a:noFill/>
        </p:spPr>
        <p:txBody>
          <a:bodyPr wrap="square">
            <a:spAutoFit/>
          </a:bodyPr>
          <a:lstStyle/>
          <a:p>
            <a:pPr>
              <a:defRPr sz="1400">
                <a:solidFill>
                  <a:srgbClr val="BBBBBB"/>
                </a:solidFill>
              </a:defRPr>
            </a:pPr>
            <a:r>
              <a:t>Your team includes database administrators who think in SQL, security analysts who need event correlation via EQL, and data engineers who prefer pipeline-style analytics via ES|QL. You need to demonstrate all three approaches against the same dataset.</a:t>
            </a:r>
          </a:p>
        </p:txBody>
      </p:sp>
      <p:sp>
        <p:nvSpPr>
          <p:cNvPr id="8" name="TextBox 7"/>
          <p:cNvSpPr txBox="1"/>
          <p:nvPr/>
        </p:nvSpPr>
        <p:spPr>
          <a:xfrm>
            <a:off x="731520" y="4846320"/>
            <a:ext cx="3657600" cy="365760"/>
          </a:xfrm>
          <a:prstGeom prst="rect">
            <a:avLst/>
          </a:prstGeom>
          <a:noFill/>
        </p:spPr>
        <p:txBody>
          <a:bodyPr wrap="none">
            <a:spAutoFit/>
          </a:bodyPr>
          <a:lstStyle/>
          <a:p>
            <a:pPr>
              <a:defRPr sz="1800" b="1">
                <a:solidFill>
                  <a:srgbClr val="66BB6A"/>
                </a:solidFill>
              </a:defRPr>
            </a:pPr>
            <a:r>
              <a:t>⚡  Prerequisites</a:t>
            </a:r>
          </a:p>
        </p:txBody>
      </p:sp>
      <p:sp>
        <p:nvSpPr>
          <p:cNvPr id="9" name="TextBox 8"/>
          <p:cNvSpPr txBox="1"/>
          <p:nvPr/>
        </p:nvSpPr>
        <p:spPr>
          <a:xfrm>
            <a:off x="1097280" y="5212080"/>
            <a:ext cx="10058400" cy="731520"/>
          </a:xfrm>
          <a:prstGeom prst="rect">
            <a:avLst/>
          </a:prstGeom>
          <a:noFill/>
        </p:spPr>
        <p:txBody>
          <a:bodyPr wrap="square">
            <a:spAutoFit/>
          </a:bodyPr>
          <a:lstStyle/>
          <a:p>
            <a:pPr>
              <a:defRPr sz="1400">
                <a:solidFill>
                  <a:srgbClr val="BBBBBB"/>
                </a:solidFill>
              </a:defRPr>
            </a:pPr>
            <a:r>
              <a:t>• Completion of Lab 6 (The `products` index must exist with sample data).</a:t>
            </a:r>
            <a:br/>
            <a:r>
              <a:t>• You must be logged into the Kibana Web UI and have the Dev Tools console open.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371600"/>
            <a:ext cx="10058400" cy="1097280"/>
          </a:xfrm>
          <a:prstGeom prst="rect">
            <a:avLst/>
          </a:prstGeom>
          <a:noFill/>
        </p:spPr>
        <p:txBody>
          <a:bodyPr wrap="none">
            <a:spAutoFit/>
          </a:bodyPr>
          <a:lstStyle/>
          <a:p>
            <a:pPr algn="ctr">
              <a:defRPr sz="3600" b="1">
                <a:solidFill>
                  <a:srgbClr val="00BBD4"/>
                </a:solidFill>
              </a:defRPr>
            </a:pPr>
            <a:r>
              <a:t>Module 5: ILM, Down-sampling, Snapshots</a:t>
            </a:r>
          </a:p>
        </p:txBody>
      </p:sp>
      <p:sp>
        <p:nvSpPr>
          <p:cNvPr id="3" name="Rectangle 2"/>
          <p:cNvSpPr/>
          <p:nvPr/>
        </p:nvSpPr>
        <p:spPr>
          <a:xfrm>
            <a:off x="2743200" y="2560320"/>
            <a:ext cx="6400800" cy="381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017520"/>
            <a:ext cx="8229600" cy="365760"/>
          </a:xfrm>
          <a:prstGeom prst="rect">
            <a:avLst/>
          </a:prstGeom>
          <a:noFill/>
        </p:spPr>
        <p:txBody>
          <a:bodyPr wrap="none">
            <a:spAutoFit/>
          </a:bodyPr>
          <a:lstStyle/>
          <a:p>
            <a:pPr>
              <a:defRPr sz="2000">
                <a:solidFill>
                  <a:srgbClr val="FFFFFF"/>
                </a:solidFill>
              </a:defRPr>
            </a:pPr>
            <a:r>
              <a:t>Lab 15:  Index Lifecycle Management</a:t>
            </a:r>
          </a:p>
        </p:txBody>
      </p:sp>
      <p:sp>
        <p:nvSpPr>
          <p:cNvPr id="5" name="TextBox 4"/>
          <p:cNvSpPr txBox="1"/>
          <p:nvPr/>
        </p:nvSpPr>
        <p:spPr>
          <a:xfrm>
            <a:off x="1828800" y="3474720"/>
            <a:ext cx="8229600" cy="365760"/>
          </a:xfrm>
          <a:prstGeom prst="rect">
            <a:avLst/>
          </a:prstGeom>
          <a:noFill/>
        </p:spPr>
        <p:txBody>
          <a:bodyPr wrap="none">
            <a:spAutoFit/>
          </a:bodyPr>
          <a:lstStyle/>
          <a:p>
            <a:pPr>
              <a:defRPr sz="2000">
                <a:solidFill>
                  <a:srgbClr val="FFFFFF"/>
                </a:solidFill>
              </a:defRPr>
            </a:pPr>
            <a:r>
              <a:t>Lab 16:  Data Streams</a:t>
            </a:r>
          </a:p>
        </p:txBody>
      </p:sp>
      <p:sp>
        <p:nvSpPr>
          <p:cNvPr id="6" name="TextBox 5"/>
          <p:cNvSpPr txBox="1"/>
          <p:nvPr/>
        </p:nvSpPr>
        <p:spPr>
          <a:xfrm>
            <a:off x="1828800" y="3931920"/>
            <a:ext cx="8229600" cy="365760"/>
          </a:xfrm>
          <a:prstGeom prst="rect">
            <a:avLst/>
          </a:prstGeom>
          <a:noFill/>
        </p:spPr>
        <p:txBody>
          <a:bodyPr wrap="none">
            <a:spAutoFit/>
          </a:bodyPr>
          <a:lstStyle/>
          <a:p>
            <a:pPr>
              <a:defRPr sz="2000">
                <a:solidFill>
                  <a:srgbClr val="FFFFFF"/>
                </a:solidFill>
              </a:defRPr>
            </a:pPr>
            <a:r>
              <a:t>Lab 17:  Snapshots</a:t>
            </a:r>
          </a:p>
        </p:txBody>
      </p:sp>
      <p:sp>
        <p:nvSpPr>
          <p:cNvPr id="7" name="TextBox 6"/>
          <p:cNvSpPr txBox="1"/>
          <p:nvPr/>
        </p:nvSpPr>
        <p:spPr>
          <a:xfrm>
            <a:off x="1828800" y="4389120"/>
            <a:ext cx="8229600" cy="365760"/>
          </a:xfrm>
          <a:prstGeom prst="rect">
            <a:avLst/>
          </a:prstGeom>
          <a:noFill/>
        </p:spPr>
        <p:txBody>
          <a:bodyPr wrap="none">
            <a:spAutoFit/>
          </a:bodyPr>
          <a:lstStyle/>
          <a:p>
            <a:pPr>
              <a:defRPr sz="2000">
                <a:solidFill>
                  <a:srgbClr val="FFFFFF"/>
                </a:solidFill>
              </a:defRPr>
            </a:pPr>
            <a:r>
              <a:t>Lab 18:  Downsampling</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3000" b="1">
                <a:solidFill>
                  <a:srgbClr val="00BBD4"/>
                </a:solidFill>
              </a:defRPr>
            </a:pPr>
            <a:r>
              <a:t>Lab 15: Implementing Index Lifecycle Management (ILM)</a:t>
            </a:r>
          </a:p>
        </p:txBody>
      </p:sp>
      <p:sp>
        <p:nvSpPr>
          <p:cNvPr id="3" name="Rectangle 2"/>
          <p:cNvSpPr/>
          <p:nvPr/>
        </p:nvSpPr>
        <p:spPr>
          <a:xfrm>
            <a:off x="731520" y="1371600"/>
            <a:ext cx="10515600" cy="254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2743200" cy="365760"/>
          </a:xfrm>
          <a:prstGeom prst="rect">
            <a:avLst/>
          </a:prstGeom>
          <a:noFill/>
        </p:spPr>
        <p:txBody>
          <a:bodyPr wrap="none">
            <a:spAutoFit/>
          </a:bodyPr>
          <a:lstStyle/>
          <a:p>
            <a:pPr>
              <a:defRPr sz="2200" b="1">
                <a:solidFill>
                  <a:srgbClr val="FFA726"/>
                </a:solidFill>
              </a:defRPr>
            </a:pPr>
            <a:r>
              <a:t>🎯  Goal</a:t>
            </a:r>
          </a:p>
        </p:txBody>
      </p:sp>
      <p:sp>
        <p:nvSpPr>
          <p:cNvPr id="5" name="TextBox 4"/>
          <p:cNvSpPr txBox="1"/>
          <p:nvPr/>
        </p:nvSpPr>
        <p:spPr>
          <a:xfrm>
            <a:off x="1097280" y="2057400"/>
            <a:ext cx="10058400" cy="914400"/>
          </a:xfrm>
          <a:prstGeom prst="rect">
            <a:avLst/>
          </a:prstGeom>
          <a:noFill/>
        </p:spPr>
        <p:txBody>
          <a:bodyPr wrap="square">
            <a:spAutoFit/>
          </a:bodyPr>
          <a:lstStyle/>
          <a:p>
            <a:pPr>
              <a:defRPr sz="1600">
                <a:solidFill>
                  <a:srgbClr val="FFFFFF"/>
                </a:solidFill>
              </a:defRPr>
            </a:pPr>
            <a:r>
              <a:t>Create an automated ILM policy to roll over an index when it gets too large, and eventually delete it when it grows too old.</a:t>
            </a:r>
          </a:p>
        </p:txBody>
      </p:sp>
      <p:sp>
        <p:nvSpPr>
          <p:cNvPr id="6" name="TextBox 5"/>
          <p:cNvSpPr txBox="1"/>
          <p:nvPr/>
        </p:nvSpPr>
        <p:spPr>
          <a:xfrm>
            <a:off x="731520" y="3063240"/>
            <a:ext cx="3657600" cy="365760"/>
          </a:xfrm>
          <a:prstGeom prst="rect">
            <a:avLst/>
          </a:prstGeom>
          <a:noFill/>
        </p:spPr>
        <p:txBody>
          <a:bodyPr wrap="none">
            <a:spAutoFit/>
          </a:bodyPr>
          <a:lstStyle/>
          <a:p>
            <a:pPr>
              <a:defRPr sz="2200" b="1">
                <a:solidFill>
                  <a:srgbClr val="FFA726"/>
                </a:solidFill>
              </a:defRPr>
            </a:pPr>
            <a:r>
              <a:t>📋  Scenario</a:t>
            </a:r>
          </a:p>
        </p:txBody>
      </p:sp>
      <p:sp>
        <p:nvSpPr>
          <p:cNvPr id="7" name="TextBox 6"/>
          <p:cNvSpPr txBox="1"/>
          <p:nvPr/>
        </p:nvSpPr>
        <p:spPr>
          <a:xfrm>
            <a:off x="1097280" y="3474720"/>
            <a:ext cx="10058400" cy="1828800"/>
          </a:xfrm>
          <a:prstGeom prst="rect">
            <a:avLst/>
          </a:prstGeom>
          <a:noFill/>
        </p:spPr>
        <p:txBody>
          <a:bodyPr wrap="square">
            <a:spAutoFit/>
          </a:bodyPr>
          <a:lstStyle/>
          <a:p>
            <a:pPr>
              <a:defRPr sz="1400">
                <a:solidFill>
                  <a:srgbClr val="BBBBBB"/>
                </a:solidFill>
              </a:defRPr>
            </a:pPr>
            <a:r>
              <a:t>You are collecting daily log data from a swarm of microservices. To prevent the cluster's disk from filling up, you need a policy that automatically rolls over the active write-index when it hits 50GB or 1 day old, and deletes data after 30 days.</a:t>
            </a:r>
          </a:p>
        </p:txBody>
      </p:sp>
      <p:sp>
        <p:nvSpPr>
          <p:cNvPr id="8" name="TextBox 7"/>
          <p:cNvSpPr txBox="1"/>
          <p:nvPr/>
        </p:nvSpPr>
        <p:spPr>
          <a:xfrm>
            <a:off x="731520" y="4846320"/>
            <a:ext cx="3657600" cy="365760"/>
          </a:xfrm>
          <a:prstGeom prst="rect">
            <a:avLst/>
          </a:prstGeom>
          <a:noFill/>
        </p:spPr>
        <p:txBody>
          <a:bodyPr wrap="none">
            <a:spAutoFit/>
          </a:bodyPr>
          <a:lstStyle/>
          <a:p>
            <a:pPr>
              <a:defRPr sz="1800" b="1">
                <a:solidFill>
                  <a:srgbClr val="66BB6A"/>
                </a:solidFill>
              </a:defRPr>
            </a:pPr>
            <a:r>
              <a:t>⚡  Prerequisites</a:t>
            </a:r>
          </a:p>
        </p:txBody>
      </p:sp>
      <p:sp>
        <p:nvSpPr>
          <p:cNvPr id="9" name="TextBox 8"/>
          <p:cNvSpPr txBox="1"/>
          <p:nvPr/>
        </p:nvSpPr>
        <p:spPr>
          <a:xfrm>
            <a:off x="1097280" y="5212080"/>
            <a:ext cx="10058400" cy="731520"/>
          </a:xfrm>
          <a:prstGeom prst="rect">
            <a:avLst/>
          </a:prstGeom>
          <a:noFill/>
        </p:spPr>
        <p:txBody>
          <a:bodyPr wrap="square">
            <a:spAutoFit/>
          </a:bodyPr>
          <a:lstStyle/>
          <a:p>
            <a:pPr>
              <a:defRPr sz="1400">
                <a:solidFill>
                  <a:srgbClr val="BBBBBB"/>
                </a:solidFill>
              </a:defRPr>
            </a:pPr>
            <a:r>
              <a:t>• You must be logged into the Kibana Web UI and have the Dev Tools console open.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15: Implementing Index Lifecycle Management (ILM)</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Create the ILM Policy</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Expected Output:</a:t>
            </a:r>
          </a:p>
        </p:txBody>
      </p:sp>
      <p:sp>
        <p:nvSpPr>
          <p:cNvPr id="6" name="TextBox 5"/>
          <p:cNvSpPr txBox="1"/>
          <p:nvPr/>
        </p:nvSpPr>
        <p:spPr>
          <a:xfrm>
            <a:off x="914400" y="1737360"/>
            <a:ext cx="10515600" cy="2103120"/>
          </a:xfrm>
          <a:prstGeom prst="rect">
            <a:avLst/>
          </a:prstGeom>
          <a:noFill/>
        </p:spPr>
        <p:txBody>
          <a:bodyPr wrap="square">
            <a:spAutoFit/>
          </a:bodyPr>
          <a:lstStyle/>
          <a:p>
            <a:pPr>
              <a:defRPr sz="1300">
                <a:solidFill>
                  <a:srgbClr val="80FF80"/>
                </a:solidFill>
                <a:latin typeface="Courier New"/>
              </a:defRPr>
            </a:pPr>
            <a:r>
              <a:t>PUT _ilm/policy/logs_policy</a:t>
            </a:r>
          </a:p>
          <a:p>
            <a:pPr>
              <a:defRPr sz="1300">
                <a:solidFill>
                  <a:srgbClr val="80FF80"/>
                </a:solidFill>
                <a:latin typeface="Courier New"/>
              </a:defRPr>
            </a:pPr>
            <a:r>
              <a:t>{</a:t>
            </a:r>
          </a:p>
          <a:p>
            <a:pPr>
              <a:defRPr sz="1300">
                <a:solidFill>
                  <a:srgbClr val="80FF80"/>
                </a:solidFill>
                <a:latin typeface="Courier New"/>
              </a:defRPr>
            </a:pPr>
            <a:r>
              <a:t>  "policy": {</a:t>
            </a:r>
          </a:p>
          <a:p>
            <a:pPr>
              <a:defRPr sz="1300">
                <a:solidFill>
                  <a:srgbClr val="80FF80"/>
                </a:solidFill>
                <a:latin typeface="Courier New"/>
              </a:defRPr>
            </a:pPr>
            <a:r>
              <a:t>    "phases": {</a:t>
            </a:r>
          </a:p>
          <a:p>
            <a:pPr>
              <a:defRPr sz="1300">
                <a:solidFill>
                  <a:srgbClr val="80FF80"/>
                </a:solidFill>
                <a:latin typeface="Courier New"/>
              </a:defRPr>
            </a:pPr>
            <a:r>
              <a:t>      "hot": {</a:t>
            </a:r>
          </a:p>
          <a:p>
            <a:pPr>
              <a:defRPr sz="1300">
                <a:solidFill>
                  <a:srgbClr val="80FF80"/>
                </a:solidFill>
                <a:latin typeface="Courier New"/>
              </a:defRPr>
            </a:pPr>
            <a:r>
              <a:t>        "actions": { </a:t>
            </a:r>
          </a:p>
          <a:p>
            <a:pPr>
              <a:defRPr sz="1300">
                <a:solidFill>
                  <a:srgbClr val="80FF80"/>
                </a:solidFill>
                <a:latin typeface="Courier New"/>
              </a:defRPr>
            </a:pPr>
            <a:r>
              <a:t>          "rollover": { "max_age": "1d", "max_size": "50gb" } </a:t>
            </a:r>
          </a:p>
          <a:p>
            <a:pPr>
              <a:defRPr sz="1300">
                <a:solidFill>
                  <a:srgbClr val="80FF80"/>
                </a:solidFill>
                <a:latin typeface="Courier New"/>
              </a:defRPr>
            </a:pPr>
            <a:r>
              <a:t>        }</a:t>
            </a:r>
          </a:p>
          <a:p>
            <a:pPr>
              <a:defRPr sz="1300">
                <a:solidFill>
                  <a:srgbClr val="80FF80"/>
                </a:solidFill>
                <a:latin typeface="Courier New"/>
              </a:defRPr>
            </a:pPr>
            <a:r>
              <a:t>      },</a:t>
            </a:r>
          </a:p>
          <a:p>
            <a:pPr>
              <a:defRPr sz="1300">
                <a:solidFill>
                  <a:srgbClr val="80FF80"/>
                </a:solidFill>
                <a:latin typeface="Courier New"/>
              </a:defRPr>
            </a:pPr>
            <a:r>
              <a:t>      "delete": {</a:t>
            </a:r>
          </a:p>
        </p:txBody>
      </p:sp>
      <p:sp>
        <p:nvSpPr>
          <p:cNvPr id="7" name="TextBox 6"/>
          <p:cNvSpPr txBox="1"/>
          <p:nvPr/>
        </p:nvSpPr>
        <p:spPr>
          <a:xfrm>
            <a:off x="457200" y="4069080"/>
            <a:ext cx="10972800" cy="320040"/>
          </a:xfrm>
          <a:prstGeom prst="rect">
            <a:avLst/>
          </a:prstGeom>
          <a:noFill/>
        </p:spPr>
        <p:txBody>
          <a:bodyPr wrap="none">
            <a:spAutoFit/>
          </a:bodyPr>
          <a:lstStyle/>
          <a:p>
            <a:pPr>
              <a:defRPr sz="1700" b="1">
                <a:solidFill>
                  <a:srgbClr val="FFA726"/>
                </a:solidFill>
              </a:defRPr>
            </a:pPr>
            <a:r>
              <a:t>▸  Verify Policy Creation</a:t>
            </a:r>
          </a:p>
        </p:txBody>
      </p:sp>
      <p:sp>
        <p:nvSpPr>
          <p:cNvPr id="8" name="TextBox 7"/>
          <p:cNvSpPr txBox="1"/>
          <p:nvPr/>
        </p:nvSpPr>
        <p:spPr>
          <a:xfrm>
            <a:off x="914400" y="4434840"/>
            <a:ext cx="10515600" cy="548640"/>
          </a:xfrm>
          <a:prstGeom prst="rect">
            <a:avLst/>
          </a:prstGeom>
          <a:noFill/>
        </p:spPr>
        <p:txBody>
          <a:bodyPr wrap="square">
            <a:spAutoFit/>
          </a:bodyPr>
          <a:lstStyle/>
          <a:p>
            <a:pPr>
              <a:defRPr sz="1300">
                <a:solidFill>
                  <a:srgbClr val="BBBBBB"/>
                </a:solidFill>
              </a:defRPr>
            </a:pPr>
            <a:r>
              <a:t>Expected Output:</a:t>
            </a:r>
          </a:p>
        </p:txBody>
      </p:sp>
      <p:sp>
        <p:nvSpPr>
          <p:cNvPr id="9" name="TextBox 8"/>
          <p:cNvSpPr txBox="1"/>
          <p:nvPr/>
        </p:nvSpPr>
        <p:spPr>
          <a:xfrm>
            <a:off x="914400" y="4892040"/>
            <a:ext cx="10515600" cy="292608"/>
          </a:xfrm>
          <a:prstGeom prst="rect">
            <a:avLst/>
          </a:prstGeom>
          <a:noFill/>
        </p:spPr>
        <p:txBody>
          <a:bodyPr wrap="square">
            <a:spAutoFit/>
          </a:bodyPr>
          <a:lstStyle/>
          <a:p>
            <a:pPr>
              <a:defRPr sz="1300">
                <a:solidFill>
                  <a:srgbClr val="80FF80"/>
                </a:solidFill>
                <a:latin typeface="Courier New"/>
              </a:defRPr>
            </a:pPr>
            <a:r>
              <a:t>GET _ilm/policy/logs_policy</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15: Implementing Index Lifecycle Management (ILM)</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Create an Index Template that Attaches the Policy</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This template automatically applies logs_policy to any new index matching the logs- pattern. Expected Output:</a:t>
            </a:r>
          </a:p>
        </p:txBody>
      </p:sp>
      <p:sp>
        <p:nvSpPr>
          <p:cNvPr id="6" name="TextBox 5"/>
          <p:cNvSpPr txBox="1"/>
          <p:nvPr/>
        </p:nvSpPr>
        <p:spPr>
          <a:xfrm>
            <a:off x="914400" y="1737360"/>
            <a:ext cx="10515600" cy="2103120"/>
          </a:xfrm>
          <a:prstGeom prst="rect">
            <a:avLst/>
          </a:prstGeom>
          <a:noFill/>
        </p:spPr>
        <p:txBody>
          <a:bodyPr wrap="square">
            <a:spAutoFit/>
          </a:bodyPr>
          <a:lstStyle/>
          <a:p>
            <a:pPr>
              <a:defRPr sz="1300">
                <a:solidFill>
                  <a:srgbClr val="80FF80"/>
                </a:solidFill>
                <a:latin typeface="Courier New"/>
              </a:defRPr>
            </a:pPr>
            <a:r>
              <a:t>PUT _index_template/logs_template</a:t>
            </a:r>
          </a:p>
          <a:p>
            <a:pPr>
              <a:defRPr sz="1300">
                <a:solidFill>
                  <a:srgbClr val="80FF80"/>
                </a:solidFill>
                <a:latin typeface="Courier New"/>
              </a:defRPr>
            </a:pPr>
            <a:r>
              <a:t>{</a:t>
            </a:r>
          </a:p>
          <a:p>
            <a:pPr>
              <a:defRPr sz="1300">
                <a:solidFill>
                  <a:srgbClr val="80FF80"/>
                </a:solidFill>
                <a:latin typeface="Courier New"/>
              </a:defRPr>
            </a:pPr>
            <a:r>
              <a:t>  "index_patterns": ["logs-*"],</a:t>
            </a:r>
          </a:p>
          <a:p>
            <a:pPr>
              <a:defRPr sz="1300">
                <a:solidFill>
                  <a:srgbClr val="80FF80"/>
                </a:solidFill>
                <a:latin typeface="Courier New"/>
              </a:defRPr>
            </a:pPr>
            <a:r>
              <a:t>  "template": {</a:t>
            </a:r>
          </a:p>
          <a:p>
            <a:pPr>
              <a:defRPr sz="1300">
                <a:solidFill>
                  <a:srgbClr val="80FF80"/>
                </a:solidFill>
                <a:latin typeface="Courier New"/>
              </a:defRPr>
            </a:pPr>
            <a:r>
              <a:t>    "settings": {</a:t>
            </a:r>
          </a:p>
          <a:p>
            <a:pPr>
              <a:defRPr sz="1300">
                <a:solidFill>
                  <a:srgbClr val="80FF80"/>
                </a:solidFill>
                <a:latin typeface="Courier New"/>
              </a:defRPr>
            </a:pPr>
            <a:r>
              <a:t>      "number_of_shards": 1,</a:t>
            </a:r>
          </a:p>
          <a:p>
            <a:pPr>
              <a:defRPr sz="1300">
                <a:solidFill>
                  <a:srgbClr val="80FF80"/>
                </a:solidFill>
                <a:latin typeface="Courier New"/>
              </a:defRPr>
            </a:pPr>
            <a:r>
              <a:t>      "number_of_replicas": 0,</a:t>
            </a:r>
          </a:p>
          <a:p>
            <a:pPr>
              <a:defRPr sz="1300">
                <a:solidFill>
                  <a:srgbClr val="80FF80"/>
                </a:solidFill>
                <a:latin typeface="Courier New"/>
              </a:defRPr>
            </a:pPr>
            <a:r>
              <a:t>      "index.lifecycle.name": "logs_policy",</a:t>
            </a:r>
          </a:p>
          <a:p>
            <a:pPr>
              <a:defRPr sz="1300">
                <a:solidFill>
                  <a:srgbClr val="80FF80"/>
                </a:solidFill>
                <a:latin typeface="Courier New"/>
              </a:defRPr>
            </a:pPr>
            <a:r>
              <a:t>      "index.lifecycle.rollover_alias": "logs"</a:t>
            </a:r>
          </a:p>
          <a:p>
            <a:pPr>
              <a:defRPr sz="1300">
                <a:solidFill>
                  <a:srgbClr val="80FF80"/>
                </a:solidFill>
                <a:latin typeface="Courier New"/>
              </a:defRPr>
            </a:pPr>
            <a:r>
              <a:t>    }</a:t>
            </a:r>
          </a:p>
        </p:txBody>
      </p:sp>
      <p:sp>
        <p:nvSpPr>
          <p:cNvPr id="7" name="TextBox 6"/>
          <p:cNvSpPr txBox="1"/>
          <p:nvPr/>
        </p:nvSpPr>
        <p:spPr>
          <a:xfrm>
            <a:off x="457200" y="4069080"/>
            <a:ext cx="10972800" cy="320040"/>
          </a:xfrm>
          <a:prstGeom prst="rect">
            <a:avLst/>
          </a:prstGeom>
          <a:noFill/>
        </p:spPr>
        <p:txBody>
          <a:bodyPr wrap="none">
            <a:spAutoFit/>
          </a:bodyPr>
          <a:lstStyle/>
          <a:p>
            <a:pPr>
              <a:defRPr sz="1700" b="1">
                <a:solidFill>
                  <a:srgbClr val="FFA726"/>
                </a:solidFill>
              </a:defRPr>
            </a:pPr>
            <a:r>
              <a:t>▸  Create the Initial Write Index</a:t>
            </a:r>
          </a:p>
        </p:txBody>
      </p:sp>
      <p:sp>
        <p:nvSpPr>
          <p:cNvPr id="8" name="TextBox 7"/>
          <p:cNvSpPr txBox="1"/>
          <p:nvPr/>
        </p:nvSpPr>
        <p:spPr>
          <a:xfrm>
            <a:off x="914400" y="4434840"/>
            <a:ext cx="10515600" cy="548640"/>
          </a:xfrm>
          <a:prstGeom prst="rect">
            <a:avLst/>
          </a:prstGeom>
          <a:noFill/>
        </p:spPr>
        <p:txBody>
          <a:bodyPr wrap="square">
            <a:spAutoFit/>
          </a:bodyPr>
          <a:lstStyle/>
          <a:p>
            <a:pPr>
              <a:defRPr sz="1300">
                <a:solidFill>
                  <a:srgbClr val="BBBBBB"/>
                </a:solidFill>
              </a:defRPr>
            </a:pPr>
            <a:r>
              <a:t>The is_write_index flag tells Elasticsearch this is the active index for new writes. Expected Output:</a:t>
            </a:r>
          </a:p>
        </p:txBody>
      </p:sp>
      <p:sp>
        <p:nvSpPr>
          <p:cNvPr id="9" name="TextBox 8"/>
          <p:cNvSpPr txBox="1"/>
          <p:nvPr/>
        </p:nvSpPr>
        <p:spPr>
          <a:xfrm>
            <a:off x="914400" y="4892040"/>
            <a:ext cx="10515600" cy="1298448"/>
          </a:xfrm>
          <a:prstGeom prst="rect">
            <a:avLst/>
          </a:prstGeom>
          <a:noFill/>
        </p:spPr>
        <p:txBody>
          <a:bodyPr wrap="square">
            <a:spAutoFit/>
          </a:bodyPr>
          <a:lstStyle/>
          <a:p>
            <a:pPr>
              <a:defRPr sz="1300">
                <a:solidFill>
                  <a:srgbClr val="80FF80"/>
                </a:solidFill>
                <a:latin typeface="Courier New"/>
              </a:defRPr>
            </a:pPr>
            <a:r>
              <a:t>PUT logs-000001</a:t>
            </a:r>
          </a:p>
          <a:p>
            <a:pPr>
              <a:defRPr sz="1300">
                <a:solidFill>
                  <a:srgbClr val="80FF80"/>
                </a:solidFill>
                <a:latin typeface="Courier New"/>
              </a:defRPr>
            </a:pPr>
            <a:r>
              <a:t>{</a:t>
            </a:r>
          </a:p>
          <a:p>
            <a:pPr>
              <a:defRPr sz="1300">
                <a:solidFill>
                  <a:srgbClr val="80FF80"/>
                </a:solidFill>
                <a:latin typeface="Courier New"/>
              </a:defRPr>
            </a:pPr>
            <a:r>
              <a:t>  "aliases": {</a:t>
            </a:r>
          </a:p>
          <a:p>
            <a:pPr>
              <a:defRPr sz="1300">
                <a:solidFill>
                  <a:srgbClr val="80FF80"/>
                </a:solidFill>
                <a:latin typeface="Courier New"/>
              </a:defRPr>
            </a:pPr>
            <a:r>
              <a:t>    "logs": { "is_write_index": true }</a:t>
            </a:r>
          </a:p>
          <a:p>
            <a:pPr>
              <a:defRPr sz="1300">
                <a:solidFill>
                  <a:srgbClr val="80FF80"/>
                </a:solidFill>
                <a:latin typeface="Courier New"/>
              </a:defRPr>
            </a:pPr>
            <a:r>
              <a:t>  }</a:t>
            </a:r>
          </a:p>
          <a:p>
            <a:pPr>
              <a:defRPr sz="1300">
                <a:solidFill>
                  <a:srgbClr val="80FF80"/>
                </a:solidFill>
                <a:latin typeface="Courier New"/>
              </a:defRPr>
            </a:pPr>
            <a:r>
              <a: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15: Implementing Index Lifecycle Management (ILM)</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Index a Sample Document via the Alias</a:t>
            </a:r>
          </a:p>
        </p:txBody>
      </p:sp>
      <p:sp>
        <p:nvSpPr>
          <p:cNvPr id="5" name="TextBox 4"/>
          <p:cNvSpPr txBox="1"/>
          <p:nvPr/>
        </p:nvSpPr>
        <p:spPr>
          <a:xfrm>
            <a:off x="914400" y="1280160"/>
            <a:ext cx="10515600" cy="1298448"/>
          </a:xfrm>
          <a:prstGeom prst="rect">
            <a:avLst/>
          </a:prstGeom>
          <a:noFill/>
        </p:spPr>
        <p:txBody>
          <a:bodyPr wrap="square">
            <a:spAutoFit/>
          </a:bodyPr>
          <a:lstStyle/>
          <a:p>
            <a:pPr>
              <a:defRPr sz="1300">
                <a:solidFill>
                  <a:srgbClr val="80FF80"/>
                </a:solidFill>
                <a:latin typeface="Courier New"/>
              </a:defRPr>
            </a:pPr>
            <a:r>
              <a:t>POST logs/_doc</a:t>
            </a:r>
          </a:p>
          <a:p>
            <a:pPr>
              <a:defRPr sz="1300">
                <a:solidFill>
                  <a:srgbClr val="80FF80"/>
                </a:solidFill>
                <a:latin typeface="Courier New"/>
              </a:defRPr>
            </a:pPr>
            <a:r>
              <a:t>{</a:t>
            </a:r>
          </a:p>
          <a:p>
            <a:pPr>
              <a:defRPr sz="1300">
                <a:solidFill>
                  <a:srgbClr val="80FF80"/>
                </a:solidFill>
                <a:latin typeface="Courier New"/>
              </a:defRPr>
            </a:pPr>
            <a:r>
              <a:t>  "message": "Service started successfully",</a:t>
            </a:r>
          </a:p>
          <a:p>
            <a:pPr>
              <a:defRPr sz="1300">
                <a:solidFill>
                  <a:srgbClr val="80FF80"/>
                </a:solidFill>
                <a:latin typeface="Courier New"/>
              </a:defRPr>
            </a:pPr>
            <a:r>
              <a:t>  "level": "INFO",</a:t>
            </a:r>
          </a:p>
          <a:p>
            <a:pPr>
              <a:defRPr sz="1300">
                <a:solidFill>
                  <a:srgbClr val="80FF80"/>
                </a:solidFill>
                <a:latin typeface="Courier New"/>
              </a:defRPr>
            </a:pPr>
            <a:r>
              <a:t>  "@timestamp": "2024-10-15T10:00:00Z"</a:t>
            </a:r>
          </a:p>
          <a:p>
            <a:pPr>
              <a:defRPr sz="1300">
                <a:solidFill>
                  <a:srgbClr val="80FF80"/>
                </a:solidFill>
                <a:latin typeface="Courier New"/>
              </a:defRPr>
            </a:pPr>
            <a:r>
              <a:t>}</a:t>
            </a:r>
          </a:p>
        </p:txBody>
      </p:sp>
      <p:sp>
        <p:nvSpPr>
          <p:cNvPr id="6" name="TextBox 5"/>
          <p:cNvSpPr txBox="1"/>
          <p:nvPr/>
        </p:nvSpPr>
        <p:spPr>
          <a:xfrm>
            <a:off x="457200" y="2807208"/>
            <a:ext cx="10972800" cy="320040"/>
          </a:xfrm>
          <a:prstGeom prst="rect">
            <a:avLst/>
          </a:prstGeom>
          <a:noFill/>
        </p:spPr>
        <p:txBody>
          <a:bodyPr wrap="none">
            <a:spAutoFit/>
          </a:bodyPr>
          <a:lstStyle/>
          <a:p>
            <a:pPr>
              <a:defRPr sz="1700" b="1">
                <a:solidFill>
                  <a:srgbClr val="FFA726"/>
                </a:solidFill>
              </a:defRPr>
            </a:pPr>
            <a:r>
              <a:t>▸  Verify ILM is Attached</a:t>
            </a:r>
          </a:p>
        </p:txBody>
      </p:sp>
      <p:sp>
        <p:nvSpPr>
          <p:cNvPr id="7" name="TextBox 6"/>
          <p:cNvSpPr txBox="1"/>
          <p:nvPr/>
        </p:nvSpPr>
        <p:spPr>
          <a:xfrm>
            <a:off x="914400" y="3172968"/>
            <a:ext cx="10515600" cy="548640"/>
          </a:xfrm>
          <a:prstGeom prst="rect">
            <a:avLst/>
          </a:prstGeom>
          <a:noFill/>
        </p:spPr>
        <p:txBody>
          <a:bodyPr wrap="square">
            <a:spAutoFit/>
          </a:bodyPr>
          <a:lstStyle/>
          <a:p>
            <a:pPr>
              <a:defRPr sz="1300">
                <a:solidFill>
                  <a:srgbClr val="BBBBBB"/>
                </a:solidFill>
              </a:defRPr>
            </a:pPr>
            <a:r>
              <a:t>Expected Output:</a:t>
            </a:r>
          </a:p>
        </p:txBody>
      </p:sp>
      <p:sp>
        <p:nvSpPr>
          <p:cNvPr id="8" name="TextBox 7"/>
          <p:cNvSpPr txBox="1"/>
          <p:nvPr/>
        </p:nvSpPr>
        <p:spPr>
          <a:xfrm>
            <a:off x="914400" y="3630168"/>
            <a:ext cx="10515600" cy="292608"/>
          </a:xfrm>
          <a:prstGeom prst="rect">
            <a:avLst/>
          </a:prstGeom>
          <a:noFill/>
        </p:spPr>
        <p:txBody>
          <a:bodyPr wrap="square">
            <a:spAutoFit/>
          </a:bodyPr>
          <a:lstStyle/>
          <a:p>
            <a:pPr>
              <a:defRPr sz="1300">
                <a:solidFill>
                  <a:srgbClr val="80FF80"/>
                </a:solidFill>
                <a:latin typeface="Courier New"/>
              </a:defRPr>
            </a:pPr>
            <a:r>
              <a:t>GET logs-000001/_ilm/explain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3000" b="1">
                <a:solidFill>
                  <a:srgbClr val="00BBD4"/>
                </a:solidFill>
              </a:defRPr>
            </a:pPr>
            <a:r>
              <a:t>Lab 16: Working with Data Streams</a:t>
            </a:r>
          </a:p>
        </p:txBody>
      </p:sp>
      <p:sp>
        <p:nvSpPr>
          <p:cNvPr id="3" name="Rectangle 2"/>
          <p:cNvSpPr/>
          <p:nvPr/>
        </p:nvSpPr>
        <p:spPr>
          <a:xfrm>
            <a:off x="731520" y="1371600"/>
            <a:ext cx="10515600" cy="254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2743200" cy="365760"/>
          </a:xfrm>
          <a:prstGeom prst="rect">
            <a:avLst/>
          </a:prstGeom>
          <a:noFill/>
        </p:spPr>
        <p:txBody>
          <a:bodyPr wrap="none">
            <a:spAutoFit/>
          </a:bodyPr>
          <a:lstStyle/>
          <a:p>
            <a:pPr>
              <a:defRPr sz="2200" b="1">
                <a:solidFill>
                  <a:srgbClr val="FFA726"/>
                </a:solidFill>
              </a:defRPr>
            </a:pPr>
            <a:r>
              <a:t>🎯  Goal</a:t>
            </a:r>
          </a:p>
        </p:txBody>
      </p:sp>
      <p:sp>
        <p:nvSpPr>
          <p:cNvPr id="5" name="TextBox 4"/>
          <p:cNvSpPr txBox="1"/>
          <p:nvPr/>
        </p:nvSpPr>
        <p:spPr>
          <a:xfrm>
            <a:off x="1097280" y="2057400"/>
            <a:ext cx="10058400" cy="914400"/>
          </a:xfrm>
          <a:prstGeom prst="rect">
            <a:avLst/>
          </a:prstGeom>
          <a:noFill/>
        </p:spPr>
        <p:txBody>
          <a:bodyPr wrap="square">
            <a:spAutoFit/>
          </a:bodyPr>
          <a:lstStyle/>
          <a:p>
            <a:pPr>
              <a:defRPr sz="1600">
                <a:solidFill>
                  <a:srgbClr val="FFFFFF"/>
                </a:solidFill>
              </a:defRPr>
            </a:pPr>
            <a:r>
              <a:t>Create and manage a Data Stream — Elasticsearch's built-in mechanism for handling append-only, time-series data like logs or metrics.</a:t>
            </a:r>
          </a:p>
        </p:txBody>
      </p:sp>
      <p:sp>
        <p:nvSpPr>
          <p:cNvPr id="6" name="TextBox 5"/>
          <p:cNvSpPr txBox="1"/>
          <p:nvPr/>
        </p:nvSpPr>
        <p:spPr>
          <a:xfrm>
            <a:off x="731520" y="3063240"/>
            <a:ext cx="3657600" cy="365760"/>
          </a:xfrm>
          <a:prstGeom prst="rect">
            <a:avLst/>
          </a:prstGeom>
          <a:noFill/>
        </p:spPr>
        <p:txBody>
          <a:bodyPr wrap="none">
            <a:spAutoFit/>
          </a:bodyPr>
          <a:lstStyle/>
          <a:p>
            <a:pPr>
              <a:defRPr sz="2200" b="1">
                <a:solidFill>
                  <a:srgbClr val="FFA726"/>
                </a:solidFill>
              </a:defRPr>
            </a:pPr>
            <a:r>
              <a:t>📋  Scenario</a:t>
            </a:r>
          </a:p>
        </p:txBody>
      </p:sp>
      <p:sp>
        <p:nvSpPr>
          <p:cNvPr id="7" name="TextBox 6"/>
          <p:cNvSpPr txBox="1"/>
          <p:nvPr/>
        </p:nvSpPr>
        <p:spPr>
          <a:xfrm>
            <a:off x="1097280" y="3474720"/>
            <a:ext cx="10058400" cy="1828800"/>
          </a:xfrm>
          <a:prstGeom prst="rect">
            <a:avLst/>
          </a:prstGeom>
          <a:noFill/>
        </p:spPr>
        <p:txBody>
          <a:bodyPr wrap="square">
            <a:spAutoFit/>
          </a:bodyPr>
          <a:lstStyle/>
          <a:p>
            <a:pPr>
              <a:defRPr sz="1400">
                <a:solidFill>
                  <a:srgbClr val="BBBBBB"/>
                </a:solidFill>
              </a:defRPr>
            </a:pPr>
            <a:r>
              <a:t>Your monitoring system generates thousands of log events per minute. Instead of manually managing index rollovers, you use a Data Stream which automatically handles index creation, rotation, and querying across all backing indices transparently.</a:t>
            </a:r>
          </a:p>
        </p:txBody>
      </p:sp>
      <p:sp>
        <p:nvSpPr>
          <p:cNvPr id="8" name="TextBox 7"/>
          <p:cNvSpPr txBox="1"/>
          <p:nvPr/>
        </p:nvSpPr>
        <p:spPr>
          <a:xfrm>
            <a:off x="731520" y="4846320"/>
            <a:ext cx="3657600" cy="365760"/>
          </a:xfrm>
          <a:prstGeom prst="rect">
            <a:avLst/>
          </a:prstGeom>
          <a:noFill/>
        </p:spPr>
        <p:txBody>
          <a:bodyPr wrap="none">
            <a:spAutoFit/>
          </a:bodyPr>
          <a:lstStyle/>
          <a:p>
            <a:pPr>
              <a:defRPr sz="1800" b="1">
                <a:solidFill>
                  <a:srgbClr val="66BB6A"/>
                </a:solidFill>
              </a:defRPr>
            </a:pPr>
            <a:r>
              <a:t>⚡  Prerequisites</a:t>
            </a:r>
          </a:p>
        </p:txBody>
      </p:sp>
      <p:sp>
        <p:nvSpPr>
          <p:cNvPr id="9" name="TextBox 8"/>
          <p:cNvSpPr txBox="1"/>
          <p:nvPr/>
        </p:nvSpPr>
        <p:spPr>
          <a:xfrm>
            <a:off x="1097280" y="5212080"/>
            <a:ext cx="10058400" cy="731520"/>
          </a:xfrm>
          <a:prstGeom prst="rect">
            <a:avLst/>
          </a:prstGeom>
          <a:noFill/>
        </p:spPr>
        <p:txBody>
          <a:bodyPr wrap="square">
            <a:spAutoFit/>
          </a:bodyPr>
          <a:lstStyle/>
          <a:p>
            <a:pPr>
              <a:defRPr sz="1400">
                <a:solidFill>
                  <a:srgbClr val="BBBBBB"/>
                </a:solidFill>
              </a:defRPr>
            </a:pPr>
            <a:r>
              <a:t>• You must be logged into the Kibana Web UI and have the Dev Tools console open.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16: Working with Data Streams</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Create a Component Template (Mappings)</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Component templates are reusable building blocks. This one defines the field mappings. Expected Output:</a:t>
            </a:r>
          </a:p>
        </p:txBody>
      </p:sp>
      <p:sp>
        <p:nvSpPr>
          <p:cNvPr id="6" name="TextBox 5"/>
          <p:cNvSpPr txBox="1"/>
          <p:nvPr/>
        </p:nvSpPr>
        <p:spPr>
          <a:xfrm>
            <a:off x="914400" y="1737360"/>
            <a:ext cx="10515600" cy="2103120"/>
          </a:xfrm>
          <a:prstGeom prst="rect">
            <a:avLst/>
          </a:prstGeom>
          <a:noFill/>
        </p:spPr>
        <p:txBody>
          <a:bodyPr wrap="square">
            <a:spAutoFit/>
          </a:bodyPr>
          <a:lstStyle/>
          <a:p>
            <a:pPr>
              <a:defRPr sz="1300">
                <a:solidFill>
                  <a:srgbClr val="80FF80"/>
                </a:solidFill>
                <a:latin typeface="Courier New"/>
              </a:defRPr>
            </a:pPr>
            <a:r>
              <a:t>PUT _component_template/logs-mappings</a:t>
            </a:r>
          </a:p>
          <a:p>
            <a:pPr>
              <a:defRPr sz="1300">
                <a:solidFill>
                  <a:srgbClr val="80FF80"/>
                </a:solidFill>
                <a:latin typeface="Courier New"/>
              </a:defRPr>
            </a:pPr>
            <a:r>
              <a:t>{</a:t>
            </a:r>
          </a:p>
          <a:p>
            <a:pPr>
              <a:defRPr sz="1300">
                <a:solidFill>
                  <a:srgbClr val="80FF80"/>
                </a:solidFill>
                <a:latin typeface="Courier New"/>
              </a:defRPr>
            </a:pPr>
            <a:r>
              <a:t>  "template": {</a:t>
            </a:r>
          </a:p>
          <a:p>
            <a:pPr>
              <a:defRPr sz="1300">
                <a:solidFill>
                  <a:srgbClr val="80FF80"/>
                </a:solidFill>
                <a:latin typeface="Courier New"/>
              </a:defRPr>
            </a:pPr>
            <a:r>
              <a:t>    "mappings": {</a:t>
            </a:r>
          </a:p>
          <a:p>
            <a:pPr>
              <a:defRPr sz="1300">
                <a:solidFill>
                  <a:srgbClr val="80FF80"/>
                </a:solidFill>
                <a:latin typeface="Courier New"/>
              </a:defRPr>
            </a:pPr>
            <a:r>
              <a:t>      "properties": {</a:t>
            </a:r>
          </a:p>
          <a:p>
            <a:pPr>
              <a:defRPr sz="1300">
                <a:solidFill>
                  <a:srgbClr val="80FF80"/>
                </a:solidFill>
                <a:latin typeface="Courier New"/>
              </a:defRPr>
            </a:pPr>
            <a:r>
              <a:t>        "@timestamp": { "type": "date" },</a:t>
            </a:r>
          </a:p>
          <a:p>
            <a:pPr>
              <a:defRPr sz="1300">
                <a:solidFill>
                  <a:srgbClr val="80FF80"/>
                </a:solidFill>
                <a:latin typeface="Courier New"/>
              </a:defRPr>
            </a:pPr>
            <a:r>
              <a:t>        "message": { "type": "text" },</a:t>
            </a:r>
          </a:p>
          <a:p>
            <a:pPr>
              <a:defRPr sz="1300">
                <a:solidFill>
                  <a:srgbClr val="80FF80"/>
                </a:solidFill>
                <a:latin typeface="Courier New"/>
              </a:defRPr>
            </a:pPr>
            <a:r>
              <a:t>        "log.level": { "type": "keyword" },</a:t>
            </a:r>
          </a:p>
          <a:p>
            <a:pPr>
              <a:defRPr sz="1300">
                <a:solidFill>
                  <a:srgbClr val="80FF80"/>
                </a:solidFill>
                <a:latin typeface="Courier New"/>
              </a:defRPr>
            </a:pPr>
            <a:r>
              <a:t>        "service.name": { "type": "keyword" }</a:t>
            </a:r>
          </a:p>
          <a:p>
            <a:pPr>
              <a:defRPr sz="1300">
                <a:solidFill>
                  <a:srgbClr val="80FF80"/>
                </a:solidFill>
                <a:latin typeface="Courier New"/>
              </a:defRPr>
            </a:pPr>
            <a:r>
              <a:t>      }</a:t>
            </a:r>
          </a:p>
        </p:txBody>
      </p:sp>
      <p:sp>
        <p:nvSpPr>
          <p:cNvPr id="7" name="TextBox 6"/>
          <p:cNvSpPr txBox="1"/>
          <p:nvPr/>
        </p:nvSpPr>
        <p:spPr>
          <a:xfrm>
            <a:off x="457200" y="4069080"/>
            <a:ext cx="10972800" cy="320040"/>
          </a:xfrm>
          <a:prstGeom prst="rect">
            <a:avLst/>
          </a:prstGeom>
          <a:noFill/>
        </p:spPr>
        <p:txBody>
          <a:bodyPr wrap="none">
            <a:spAutoFit/>
          </a:bodyPr>
          <a:lstStyle/>
          <a:p>
            <a:pPr>
              <a:defRPr sz="1700" b="1">
                <a:solidFill>
                  <a:srgbClr val="FFA726"/>
                </a:solidFill>
              </a:defRPr>
            </a:pPr>
            <a:r>
              <a:t>▸  Create a Component Template (Settings)</a:t>
            </a:r>
          </a:p>
        </p:txBody>
      </p:sp>
      <p:sp>
        <p:nvSpPr>
          <p:cNvPr id="8" name="TextBox 7"/>
          <p:cNvSpPr txBox="1"/>
          <p:nvPr/>
        </p:nvSpPr>
        <p:spPr>
          <a:xfrm>
            <a:off x="914400" y="4434840"/>
            <a:ext cx="10515600" cy="1901952"/>
          </a:xfrm>
          <a:prstGeom prst="rect">
            <a:avLst/>
          </a:prstGeom>
          <a:noFill/>
        </p:spPr>
        <p:txBody>
          <a:bodyPr wrap="square">
            <a:spAutoFit/>
          </a:bodyPr>
          <a:lstStyle/>
          <a:p>
            <a:pPr>
              <a:defRPr sz="1300">
                <a:solidFill>
                  <a:srgbClr val="80FF80"/>
                </a:solidFill>
                <a:latin typeface="Courier New"/>
              </a:defRPr>
            </a:pPr>
            <a:r>
              <a:t>PUT _component_template/logs-settings</a:t>
            </a:r>
          </a:p>
          <a:p>
            <a:pPr>
              <a:defRPr sz="1300">
                <a:solidFill>
                  <a:srgbClr val="80FF80"/>
                </a:solidFill>
                <a:latin typeface="Courier New"/>
              </a:defRPr>
            </a:pPr>
            <a:r>
              <a:t>{</a:t>
            </a:r>
          </a:p>
          <a:p>
            <a:pPr>
              <a:defRPr sz="1300">
                <a:solidFill>
                  <a:srgbClr val="80FF80"/>
                </a:solidFill>
                <a:latin typeface="Courier New"/>
              </a:defRPr>
            </a:pPr>
            <a:r>
              <a:t>  "template": {</a:t>
            </a:r>
          </a:p>
          <a:p>
            <a:pPr>
              <a:defRPr sz="1300">
                <a:solidFill>
                  <a:srgbClr val="80FF80"/>
                </a:solidFill>
                <a:latin typeface="Courier New"/>
              </a:defRPr>
            </a:pPr>
            <a:r>
              <a:t>    "settings": {</a:t>
            </a:r>
          </a:p>
          <a:p>
            <a:pPr>
              <a:defRPr sz="1300">
                <a:solidFill>
                  <a:srgbClr val="80FF80"/>
                </a:solidFill>
                <a:latin typeface="Courier New"/>
              </a:defRPr>
            </a:pPr>
            <a:r>
              <a:t>      "number_of_shards": 1,</a:t>
            </a:r>
          </a:p>
          <a:p>
            <a:pPr>
              <a:defRPr sz="1300">
                <a:solidFill>
                  <a:srgbClr val="80FF80"/>
                </a:solidFill>
                <a:latin typeface="Courier New"/>
              </a:defRPr>
            </a:pPr>
            <a:r>
              <a:t>      "number_of_replicas": 0</a:t>
            </a:r>
          </a:p>
          <a:p>
            <a:pPr>
              <a:defRPr sz="1300">
                <a:solidFill>
                  <a:srgbClr val="80FF80"/>
                </a:solidFill>
                <a:latin typeface="Courier New"/>
              </a:defRPr>
            </a:pPr>
            <a:r>
              <a:t>    }</a:t>
            </a:r>
          </a:p>
          <a:p>
            <a:pPr>
              <a:defRPr sz="1300">
                <a:solidFill>
                  <a:srgbClr val="80FF80"/>
                </a:solidFill>
                <a:latin typeface="Courier New"/>
              </a:defRPr>
            </a:pPr>
            <a:r>
              <a:t>  }</a:t>
            </a:r>
          </a:p>
          <a:p>
            <a:pPr>
              <a:defRPr sz="1300">
                <a:solidFill>
                  <a:srgbClr val="80FF80"/>
                </a:solidFill>
                <a:latin typeface="Courier New"/>
              </a:defRPr>
            </a:pPr>
            <a:r>
              <a: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16: Working with Data Streams</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Create an Index Template for the Data Stream</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This template ties the components together and tells Elasticsearch that any index matching app-logs- should be a data stream. Expected Output:</a:t>
            </a:r>
          </a:p>
        </p:txBody>
      </p:sp>
      <p:sp>
        <p:nvSpPr>
          <p:cNvPr id="6" name="TextBox 5"/>
          <p:cNvSpPr txBox="1"/>
          <p:nvPr/>
        </p:nvSpPr>
        <p:spPr>
          <a:xfrm>
            <a:off x="914400" y="1737360"/>
            <a:ext cx="10515600" cy="1499616"/>
          </a:xfrm>
          <a:prstGeom prst="rect">
            <a:avLst/>
          </a:prstGeom>
          <a:noFill/>
        </p:spPr>
        <p:txBody>
          <a:bodyPr wrap="square">
            <a:spAutoFit/>
          </a:bodyPr>
          <a:lstStyle/>
          <a:p>
            <a:pPr>
              <a:defRPr sz="1300">
                <a:solidFill>
                  <a:srgbClr val="80FF80"/>
                </a:solidFill>
                <a:latin typeface="Courier New"/>
              </a:defRPr>
            </a:pPr>
            <a:r>
              <a:t>PUT _index_template/app-logs-template</a:t>
            </a:r>
          </a:p>
          <a:p>
            <a:pPr>
              <a:defRPr sz="1300">
                <a:solidFill>
                  <a:srgbClr val="80FF80"/>
                </a:solidFill>
                <a:latin typeface="Courier New"/>
              </a:defRPr>
            </a:pPr>
            <a:r>
              <a:t>{</a:t>
            </a:r>
          </a:p>
          <a:p>
            <a:pPr>
              <a:defRPr sz="1300">
                <a:solidFill>
                  <a:srgbClr val="80FF80"/>
                </a:solidFill>
                <a:latin typeface="Courier New"/>
              </a:defRPr>
            </a:pPr>
            <a:r>
              <a:t>  "index_patterns": ["app-logs-*"],</a:t>
            </a:r>
          </a:p>
          <a:p>
            <a:pPr>
              <a:defRPr sz="1300">
                <a:solidFill>
                  <a:srgbClr val="80FF80"/>
                </a:solidFill>
                <a:latin typeface="Courier New"/>
              </a:defRPr>
            </a:pPr>
            <a:r>
              <a:t>  "data_stream": {},</a:t>
            </a:r>
          </a:p>
          <a:p>
            <a:pPr>
              <a:defRPr sz="1300">
                <a:solidFill>
                  <a:srgbClr val="80FF80"/>
                </a:solidFill>
                <a:latin typeface="Courier New"/>
              </a:defRPr>
            </a:pPr>
            <a:r>
              <a:t>  "composed_of": ["logs-mappings", "logs-settings"],</a:t>
            </a:r>
          </a:p>
          <a:p>
            <a:pPr>
              <a:defRPr sz="1300">
                <a:solidFill>
                  <a:srgbClr val="80FF80"/>
                </a:solidFill>
                <a:latin typeface="Courier New"/>
              </a:defRPr>
            </a:pPr>
            <a:r>
              <a:t>  "priority": 500</a:t>
            </a:r>
          </a:p>
          <a:p>
            <a:pPr>
              <a:defRPr sz="1300">
                <a:solidFill>
                  <a:srgbClr val="80FF80"/>
                </a:solidFill>
                <a:latin typeface="Courier New"/>
              </a:defRPr>
            </a:pPr>
            <a:r>
              <a:t>}</a:t>
            </a:r>
          </a:p>
        </p:txBody>
      </p:sp>
      <p:sp>
        <p:nvSpPr>
          <p:cNvPr id="7" name="TextBox 6"/>
          <p:cNvSpPr txBox="1"/>
          <p:nvPr/>
        </p:nvSpPr>
        <p:spPr>
          <a:xfrm>
            <a:off x="457200" y="3465575"/>
            <a:ext cx="10972800" cy="320040"/>
          </a:xfrm>
          <a:prstGeom prst="rect">
            <a:avLst/>
          </a:prstGeom>
          <a:noFill/>
        </p:spPr>
        <p:txBody>
          <a:bodyPr wrap="none">
            <a:spAutoFit/>
          </a:bodyPr>
          <a:lstStyle/>
          <a:p>
            <a:pPr>
              <a:defRPr sz="1700" b="1">
                <a:solidFill>
                  <a:srgbClr val="FFA726"/>
                </a:solidFill>
              </a:defRPr>
            </a:pPr>
            <a:r>
              <a:t>▸  Index Documents into the Data Stream</a:t>
            </a:r>
          </a:p>
        </p:txBody>
      </p:sp>
      <p:sp>
        <p:nvSpPr>
          <p:cNvPr id="8" name="TextBox 7"/>
          <p:cNvSpPr txBox="1"/>
          <p:nvPr/>
        </p:nvSpPr>
        <p:spPr>
          <a:xfrm>
            <a:off x="914400" y="3831335"/>
            <a:ext cx="10515600" cy="548640"/>
          </a:xfrm>
          <a:prstGeom prst="rect">
            <a:avLst/>
          </a:prstGeom>
          <a:noFill/>
        </p:spPr>
        <p:txBody>
          <a:bodyPr wrap="square">
            <a:spAutoFit/>
          </a:bodyPr>
          <a:lstStyle/>
          <a:p>
            <a:pPr>
              <a:defRPr sz="1300">
                <a:solidFill>
                  <a:srgbClr val="BBBBBB"/>
                </a:solidFill>
              </a:defRPr>
            </a:pPr>
            <a:r>
              <a:t>Data streams require a @timestamp field. Simply POST documents — the data stream and its backing index are created automatically!</a:t>
            </a:r>
          </a:p>
        </p:txBody>
      </p:sp>
      <p:sp>
        <p:nvSpPr>
          <p:cNvPr id="9" name="TextBox 8"/>
          <p:cNvSpPr txBox="1"/>
          <p:nvPr/>
        </p:nvSpPr>
        <p:spPr>
          <a:xfrm>
            <a:off x="914400" y="4288536"/>
            <a:ext cx="10515600" cy="1499616"/>
          </a:xfrm>
          <a:prstGeom prst="rect">
            <a:avLst/>
          </a:prstGeom>
          <a:noFill/>
        </p:spPr>
        <p:txBody>
          <a:bodyPr wrap="square">
            <a:spAutoFit/>
          </a:bodyPr>
          <a:lstStyle/>
          <a:p>
            <a:pPr>
              <a:defRPr sz="1300">
                <a:solidFill>
                  <a:srgbClr val="80FF80"/>
                </a:solidFill>
                <a:latin typeface="Courier New"/>
              </a:defRPr>
            </a:pPr>
            <a:r>
              <a:t>POST app-logs-training/_doc</a:t>
            </a:r>
          </a:p>
          <a:p>
            <a:pPr>
              <a:defRPr sz="1300">
                <a:solidFill>
                  <a:srgbClr val="80FF80"/>
                </a:solidFill>
                <a:latin typeface="Courier New"/>
              </a:defRPr>
            </a:pPr>
            <a:r>
              <a:t>{</a:t>
            </a:r>
          </a:p>
          <a:p>
            <a:pPr>
              <a:defRPr sz="1300">
                <a:solidFill>
                  <a:srgbClr val="80FF80"/>
                </a:solidFill>
                <a:latin typeface="Courier New"/>
              </a:defRPr>
            </a:pPr>
            <a:r>
              <a:t>  "@timestamp": "2024-10-15T10:00:00Z",</a:t>
            </a:r>
          </a:p>
          <a:p>
            <a:pPr>
              <a:defRPr sz="1300">
                <a:solidFill>
                  <a:srgbClr val="80FF80"/>
                </a:solidFill>
                <a:latin typeface="Courier New"/>
              </a:defRPr>
            </a:pPr>
            <a:r>
              <a:t>  "message": "Application started successfully",</a:t>
            </a:r>
          </a:p>
          <a:p>
            <a:pPr>
              <a:defRPr sz="1300">
                <a:solidFill>
                  <a:srgbClr val="80FF80"/>
                </a:solidFill>
                <a:latin typeface="Courier New"/>
              </a:defRPr>
            </a:pPr>
            <a:r>
              <a:t>  "log.level": "INFO",</a:t>
            </a:r>
          </a:p>
          <a:p>
            <a:pPr>
              <a:defRPr sz="1300">
                <a:solidFill>
                  <a:srgbClr val="80FF80"/>
                </a:solidFill>
                <a:latin typeface="Courier New"/>
              </a:defRPr>
            </a:pPr>
            <a:r>
              <a:t>  "service.name": "auth-service"</a:t>
            </a:r>
          </a:p>
          <a:p>
            <a:pPr>
              <a:defRPr sz="1300">
                <a:solidFill>
                  <a:srgbClr val="80FF80"/>
                </a:solidFill>
                <a:latin typeface="Courier New"/>
              </a:defRPr>
            </a:pPr>
            <a:r>
              <a: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16: Working with Data Streams</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Verify the Data Stream Exists</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Expected Output: Notice how Elasticsearch automatically created a backing index (.ds-app-logs-training-...000001).</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GET _data_stream/app-logs-training</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Search the Data Stream</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You query the data stream name directly — Elasticsearch searches across all backing indices transparently. Expected Output:</a:t>
            </a:r>
          </a:p>
        </p:txBody>
      </p:sp>
      <p:sp>
        <p:nvSpPr>
          <p:cNvPr id="9" name="TextBox 8"/>
          <p:cNvSpPr txBox="1"/>
          <p:nvPr/>
        </p:nvSpPr>
        <p:spPr>
          <a:xfrm>
            <a:off x="914400" y="3081527"/>
            <a:ext cx="10515600" cy="1298448"/>
          </a:xfrm>
          <a:prstGeom prst="rect">
            <a:avLst/>
          </a:prstGeom>
          <a:noFill/>
        </p:spPr>
        <p:txBody>
          <a:bodyPr wrap="square">
            <a:spAutoFit/>
          </a:bodyPr>
          <a:lstStyle/>
          <a:p>
            <a:pPr>
              <a:defRPr sz="1300">
                <a:solidFill>
                  <a:srgbClr val="80FF80"/>
                </a:solidFill>
                <a:latin typeface="Courier New"/>
              </a:defRPr>
            </a:pPr>
            <a:r>
              <a:t>GET app-logs-training/_search</a:t>
            </a:r>
          </a:p>
          <a:p>
            <a:pPr>
              <a:defRPr sz="1300">
                <a:solidFill>
                  <a:srgbClr val="80FF80"/>
                </a:solidFill>
                <a:latin typeface="Courier New"/>
              </a:defRPr>
            </a:pPr>
            <a:r>
              <a:t>{</a:t>
            </a:r>
          </a:p>
          <a:p>
            <a:pPr>
              <a:defRPr sz="1300">
                <a:solidFill>
                  <a:srgbClr val="80FF80"/>
                </a:solidFill>
                <a:latin typeface="Courier New"/>
              </a:defRPr>
            </a:pPr>
            <a:r>
              <a:t>  "query": {</a:t>
            </a:r>
          </a:p>
          <a:p>
            <a:pPr>
              <a:defRPr sz="1300">
                <a:solidFill>
                  <a:srgbClr val="80FF80"/>
                </a:solidFill>
                <a:latin typeface="Courier New"/>
              </a:defRPr>
            </a:pPr>
            <a:r>
              <a:t>    "match": { "log.level": "ERROR" }</a:t>
            </a:r>
          </a:p>
          <a:p>
            <a:pPr>
              <a:defRPr sz="1300">
                <a:solidFill>
                  <a:srgbClr val="80FF80"/>
                </a:solidFill>
                <a:latin typeface="Courier New"/>
              </a:defRPr>
            </a:pPr>
            <a:r>
              <a:t>  }</a:t>
            </a:r>
          </a:p>
          <a:p>
            <a:pPr>
              <a:defRPr sz="1300">
                <a:solidFill>
                  <a:srgbClr val="80FF80"/>
                </a:solidFill>
                <a:latin typeface="Courier New"/>
              </a:defRPr>
            </a:pPr>
            <a:r>
              <a: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16: Working with Data Streams</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View the Backing Indices</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Expected Output:</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GET _cat/indices/.ds-app-logs-*?v&amp;h=index,docs.count,store.size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3000" b="1">
                <a:solidFill>
                  <a:srgbClr val="00BBD4"/>
                </a:solidFill>
              </a:defRPr>
            </a:pPr>
            <a:r>
              <a:t>Lab 17: Configuring Local Snapshots</a:t>
            </a:r>
          </a:p>
        </p:txBody>
      </p:sp>
      <p:sp>
        <p:nvSpPr>
          <p:cNvPr id="3" name="Rectangle 2"/>
          <p:cNvSpPr/>
          <p:nvPr/>
        </p:nvSpPr>
        <p:spPr>
          <a:xfrm>
            <a:off x="731520" y="1371600"/>
            <a:ext cx="10515600" cy="254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2743200" cy="365760"/>
          </a:xfrm>
          <a:prstGeom prst="rect">
            <a:avLst/>
          </a:prstGeom>
          <a:noFill/>
        </p:spPr>
        <p:txBody>
          <a:bodyPr wrap="none">
            <a:spAutoFit/>
          </a:bodyPr>
          <a:lstStyle/>
          <a:p>
            <a:pPr>
              <a:defRPr sz="2200" b="1">
                <a:solidFill>
                  <a:srgbClr val="FFA726"/>
                </a:solidFill>
              </a:defRPr>
            </a:pPr>
            <a:r>
              <a:t>🎯  Goal</a:t>
            </a:r>
          </a:p>
        </p:txBody>
      </p:sp>
      <p:sp>
        <p:nvSpPr>
          <p:cNvPr id="5" name="TextBox 4"/>
          <p:cNvSpPr txBox="1"/>
          <p:nvPr/>
        </p:nvSpPr>
        <p:spPr>
          <a:xfrm>
            <a:off x="1097280" y="2057400"/>
            <a:ext cx="10058400" cy="914400"/>
          </a:xfrm>
          <a:prstGeom prst="rect">
            <a:avLst/>
          </a:prstGeom>
          <a:noFill/>
        </p:spPr>
        <p:txBody>
          <a:bodyPr wrap="square">
            <a:spAutoFit/>
          </a:bodyPr>
          <a:lstStyle/>
          <a:p>
            <a:pPr>
              <a:defRPr sz="1600">
                <a:solidFill>
                  <a:srgbClr val="FFFFFF"/>
                </a:solidFill>
              </a:defRPr>
            </a:pPr>
            <a:r>
              <a:t>Configure a Local File System repository directly on the Ubuntu machine and execute a manual backup snapshot.</a:t>
            </a:r>
          </a:p>
        </p:txBody>
      </p:sp>
      <p:sp>
        <p:nvSpPr>
          <p:cNvPr id="6" name="TextBox 5"/>
          <p:cNvSpPr txBox="1"/>
          <p:nvPr/>
        </p:nvSpPr>
        <p:spPr>
          <a:xfrm>
            <a:off x="731520" y="3063240"/>
            <a:ext cx="3657600" cy="365760"/>
          </a:xfrm>
          <a:prstGeom prst="rect">
            <a:avLst/>
          </a:prstGeom>
          <a:noFill/>
        </p:spPr>
        <p:txBody>
          <a:bodyPr wrap="none">
            <a:spAutoFit/>
          </a:bodyPr>
          <a:lstStyle/>
          <a:p>
            <a:pPr>
              <a:defRPr sz="2200" b="1">
                <a:solidFill>
                  <a:srgbClr val="FFA726"/>
                </a:solidFill>
              </a:defRPr>
            </a:pPr>
            <a:r>
              <a:t>📋  Scenario</a:t>
            </a:r>
          </a:p>
        </p:txBody>
      </p:sp>
      <p:sp>
        <p:nvSpPr>
          <p:cNvPr id="7" name="TextBox 6"/>
          <p:cNvSpPr txBox="1"/>
          <p:nvPr/>
        </p:nvSpPr>
        <p:spPr>
          <a:xfrm>
            <a:off x="1097280" y="3474720"/>
            <a:ext cx="10058400" cy="1828800"/>
          </a:xfrm>
          <a:prstGeom prst="rect">
            <a:avLst/>
          </a:prstGeom>
          <a:noFill/>
        </p:spPr>
        <p:txBody>
          <a:bodyPr wrap="square">
            <a:spAutoFit/>
          </a:bodyPr>
          <a:lstStyle/>
          <a:p>
            <a:pPr>
              <a:defRPr sz="1400">
                <a:solidFill>
                  <a:srgbClr val="BBBBBB"/>
                </a:solidFill>
              </a:defRPr>
            </a:pPr>
            <a:r>
              <a:t>While backing up to S3 is standard for production, you need to execute a rapid, local backup of your cluster prior to performing a risky data migration.</a:t>
            </a:r>
          </a:p>
        </p:txBody>
      </p:sp>
      <p:sp>
        <p:nvSpPr>
          <p:cNvPr id="8" name="TextBox 7"/>
          <p:cNvSpPr txBox="1"/>
          <p:nvPr/>
        </p:nvSpPr>
        <p:spPr>
          <a:xfrm>
            <a:off x="731520" y="4846320"/>
            <a:ext cx="3657600" cy="365760"/>
          </a:xfrm>
          <a:prstGeom prst="rect">
            <a:avLst/>
          </a:prstGeom>
          <a:noFill/>
        </p:spPr>
        <p:txBody>
          <a:bodyPr wrap="none">
            <a:spAutoFit/>
          </a:bodyPr>
          <a:lstStyle/>
          <a:p>
            <a:pPr>
              <a:defRPr sz="1800" b="1">
                <a:solidFill>
                  <a:srgbClr val="66BB6A"/>
                </a:solidFill>
              </a:defRPr>
            </a:pPr>
            <a:r>
              <a:t>⚡  Prerequisites</a:t>
            </a:r>
          </a:p>
        </p:txBody>
      </p:sp>
      <p:sp>
        <p:nvSpPr>
          <p:cNvPr id="9" name="TextBox 8"/>
          <p:cNvSpPr txBox="1"/>
          <p:nvPr/>
        </p:nvSpPr>
        <p:spPr>
          <a:xfrm>
            <a:off x="1097280" y="5212080"/>
            <a:ext cx="10058400" cy="731520"/>
          </a:xfrm>
          <a:prstGeom prst="rect">
            <a:avLst/>
          </a:prstGeom>
          <a:noFill/>
        </p:spPr>
        <p:txBody>
          <a:bodyPr wrap="square">
            <a:spAutoFit/>
          </a:bodyPr>
          <a:lstStyle/>
          <a:p>
            <a:pPr>
              <a:defRPr sz="1400">
                <a:solidFill>
                  <a:srgbClr val="BBBBBB"/>
                </a:solidFill>
              </a:defRPr>
            </a:pPr>
            <a:r>
              <a:t>• You must be securely connected to your Ubuntu VM terminal with `sudo` privileges.</a:t>
            </a:r>
            <a:br/>
            <a:r>
              <a:t>• You must be logged into the Kibana Web UI and have the Dev Tools console open.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17: Configuring Local Snapshots</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Register the backup path in Elasticsearch</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By default, Elasticsearch blocks writing files outside of its data directory for security. We must explicitly permit a backup path in elasticsearch.yml.        (In your Ubuntu Terminal):</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echo 'path.repo: ["/var/backups/es_repo"]' | sudo tee -a /etc/elasticsearch/elasticsearch.yml</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Create the directory and assign permissions</a:t>
            </a:r>
          </a:p>
        </p:txBody>
      </p:sp>
      <p:sp>
        <p:nvSpPr>
          <p:cNvPr id="8" name="TextBox 7"/>
          <p:cNvSpPr txBox="1"/>
          <p:nvPr/>
        </p:nvSpPr>
        <p:spPr>
          <a:xfrm>
            <a:off x="914400" y="2624327"/>
            <a:ext cx="10515600" cy="493776"/>
          </a:xfrm>
          <a:prstGeom prst="rect">
            <a:avLst/>
          </a:prstGeom>
          <a:noFill/>
        </p:spPr>
        <p:txBody>
          <a:bodyPr wrap="square">
            <a:spAutoFit/>
          </a:bodyPr>
          <a:lstStyle/>
          <a:p>
            <a:pPr>
              <a:defRPr sz="1300">
                <a:solidFill>
                  <a:srgbClr val="80FF80"/>
                </a:solidFill>
                <a:latin typeface="Courier New"/>
              </a:defRPr>
            </a:pPr>
            <a:r>
              <a:t>sudo mkdir -p /var/backups/es_repo</a:t>
            </a:r>
          </a:p>
          <a:p>
            <a:pPr>
              <a:defRPr sz="1300">
                <a:solidFill>
                  <a:srgbClr val="80FF80"/>
                </a:solidFill>
                <a:latin typeface="Courier New"/>
              </a:defRPr>
            </a:pPr>
            <a:r>
              <a:t>   sudo chown -R elasticsearch:elasticsearch /var/backups/es_repo</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17: Configuring Local Snapshots</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Restart Elasticsearch to apply settings</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(Wait ~30 seconds for the node to come back online).</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sudo systemctl restart elasticsearch.service</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Register the Repository (in Kibana Dev Tools)</a:t>
            </a:r>
          </a:p>
        </p:txBody>
      </p:sp>
      <p:sp>
        <p:nvSpPr>
          <p:cNvPr id="8" name="TextBox 7"/>
          <p:cNvSpPr txBox="1"/>
          <p:nvPr/>
        </p:nvSpPr>
        <p:spPr>
          <a:xfrm>
            <a:off x="914400" y="2624327"/>
            <a:ext cx="10515600" cy="1097280"/>
          </a:xfrm>
          <a:prstGeom prst="rect">
            <a:avLst/>
          </a:prstGeom>
          <a:noFill/>
        </p:spPr>
        <p:txBody>
          <a:bodyPr wrap="square">
            <a:spAutoFit/>
          </a:bodyPr>
          <a:lstStyle/>
          <a:p>
            <a:pPr>
              <a:defRPr sz="1300">
                <a:solidFill>
                  <a:srgbClr val="80FF80"/>
                </a:solidFill>
                <a:latin typeface="Courier New"/>
              </a:defRPr>
            </a:pPr>
            <a:r>
              <a:t>PUT _snapshot/my_fs_backup</a:t>
            </a:r>
          </a:p>
          <a:p>
            <a:pPr>
              <a:defRPr sz="1300">
                <a:solidFill>
                  <a:srgbClr val="80FF80"/>
                </a:solidFill>
                <a:latin typeface="Courier New"/>
              </a:defRPr>
            </a:pPr>
            <a:r>
              <a:t>   {</a:t>
            </a:r>
          </a:p>
          <a:p>
            <a:pPr>
              <a:defRPr sz="1300">
                <a:solidFill>
                  <a:srgbClr val="80FF80"/>
                </a:solidFill>
                <a:latin typeface="Courier New"/>
              </a:defRPr>
            </a:pPr>
            <a:r>
              <a:t>     "type": "fs",</a:t>
            </a:r>
          </a:p>
          <a:p>
            <a:pPr>
              <a:defRPr sz="1300">
                <a:solidFill>
                  <a:srgbClr val="80FF80"/>
                </a:solidFill>
                <a:latin typeface="Courier New"/>
              </a:defRPr>
            </a:pPr>
            <a:r>
              <a:t>     "settings": { "location": "/var/backups/es_repo" }</a:t>
            </a:r>
          </a:p>
          <a:p>
            <a:pPr>
              <a:defRPr sz="1300">
                <a:solidFill>
                  <a:srgbClr val="80FF80"/>
                </a:solidFill>
                <a:latin typeface="Courier New"/>
              </a:defRPr>
            </a:pPr>
            <a:r>
              <a:t>   }</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17: Configuring Local Snapshots</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Execute a Snapshot</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The wait_for_completion flag blocks the HTTP response until the backup finishes.     Expected Output:</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PUT _snapshot/my_fs_backup/snapshot_1?wait_for_completion=true</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Delete the original index (Simulate Data Loss)</a:t>
            </a:r>
          </a:p>
        </p:txBody>
      </p:sp>
      <p:sp>
        <p:nvSpPr>
          <p:cNvPr id="8" name="TextBox 7"/>
          <p:cNvSpPr txBox="1"/>
          <p:nvPr/>
        </p:nvSpPr>
        <p:spPr>
          <a:xfrm>
            <a:off x="914400" y="2624327"/>
            <a:ext cx="10515600" cy="292608"/>
          </a:xfrm>
          <a:prstGeom prst="rect">
            <a:avLst/>
          </a:prstGeom>
          <a:noFill/>
        </p:spPr>
        <p:txBody>
          <a:bodyPr wrap="square">
            <a:spAutoFit/>
          </a:bodyPr>
          <a:lstStyle/>
          <a:p>
            <a:pPr>
              <a:defRPr sz="1300">
                <a:solidFill>
                  <a:srgbClr val="80FF80"/>
                </a:solidFill>
                <a:latin typeface="Courier New"/>
              </a:defRPr>
            </a:pPr>
            <a:r>
              <a:t>DELETE /products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17: Configuring Local Snapshots</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Restore from Snapshot</a:t>
            </a:r>
          </a:p>
        </p:txBody>
      </p:sp>
      <p:sp>
        <p:nvSpPr>
          <p:cNvPr id="5" name="TextBox 4"/>
          <p:cNvSpPr txBox="1"/>
          <p:nvPr/>
        </p:nvSpPr>
        <p:spPr>
          <a:xfrm>
            <a:off x="914400" y="1280160"/>
            <a:ext cx="10515600" cy="1298448"/>
          </a:xfrm>
          <a:prstGeom prst="rect">
            <a:avLst/>
          </a:prstGeom>
          <a:noFill/>
        </p:spPr>
        <p:txBody>
          <a:bodyPr wrap="square">
            <a:spAutoFit/>
          </a:bodyPr>
          <a:lstStyle/>
          <a:p>
            <a:pPr>
              <a:defRPr sz="1300">
                <a:solidFill>
                  <a:srgbClr val="80FF80"/>
                </a:solidFill>
                <a:latin typeface="Courier New"/>
              </a:defRPr>
            </a:pPr>
            <a:r>
              <a:t>POST /_snapshot/my_fs_backup/snapshot_1/_restore</a:t>
            </a:r>
          </a:p>
          <a:p>
            <a:pPr>
              <a:defRPr sz="1300">
                <a:solidFill>
                  <a:srgbClr val="80FF80"/>
                </a:solidFill>
                <a:latin typeface="Courier New"/>
              </a:defRPr>
            </a:pPr>
            <a:r>
              <a:t>   {</a:t>
            </a:r>
          </a:p>
          <a:p>
            <a:pPr>
              <a:defRPr sz="1300">
                <a:solidFill>
                  <a:srgbClr val="80FF80"/>
                </a:solidFill>
                <a:latin typeface="Courier New"/>
              </a:defRPr>
            </a:pPr>
            <a:r>
              <a:t>     "indices": "products",</a:t>
            </a:r>
          </a:p>
          <a:p>
            <a:pPr>
              <a:defRPr sz="1300">
                <a:solidFill>
                  <a:srgbClr val="80FF80"/>
                </a:solidFill>
                <a:latin typeface="Courier New"/>
              </a:defRPr>
            </a:pPr>
            <a:r>
              <a:t>     "ignore_unavailable": true,</a:t>
            </a:r>
          </a:p>
          <a:p>
            <a:pPr>
              <a:defRPr sz="1300">
                <a:solidFill>
                  <a:srgbClr val="80FF80"/>
                </a:solidFill>
                <a:latin typeface="Courier New"/>
              </a:defRPr>
            </a:pPr>
            <a:r>
              <a:t>     "include_global_state": false</a:t>
            </a:r>
          </a:p>
          <a:p>
            <a:pPr>
              <a:defRPr sz="1300">
                <a:solidFill>
                  <a:srgbClr val="80FF80"/>
                </a:solidFill>
                <a:latin typeface="Courier New"/>
              </a:defRPr>
            </a:pPr>
            <a:r>
              <a:t>   }</a:t>
            </a:r>
          </a:p>
        </p:txBody>
      </p:sp>
      <p:sp>
        <p:nvSpPr>
          <p:cNvPr id="6" name="TextBox 5"/>
          <p:cNvSpPr txBox="1"/>
          <p:nvPr/>
        </p:nvSpPr>
        <p:spPr>
          <a:xfrm>
            <a:off x="457200" y="2807208"/>
            <a:ext cx="10972800" cy="320040"/>
          </a:xfrm>
          <a:prstGeom prst="rect">
            <a:avLst/>
          </a:prstGeom>
          <a:noFill/>
        </p:spPr>
        <p:txBody>
          <a:bodyPr wrap="none">
            <a:spAutoFit/>
          </a:bodyPr>
          <a:lstStyle/>
          <a:p>
            <a:pPr>
              <a:defRPr sz="1700" b="1">
                <a:solidFill>
                  <a:srgbClr val="FFA726"/>
                </a:solidFill>
              </a:defRPr>
            </a:pPr>
            <a:r>
              <a:t>▸  Verify the Restored Index</a:t>
            </a:r>
          </a:p>
        </p:txBody>
      </p:sp>
      <p:sp>
        <p:nvSpPr>
          <p:cNvPr id="7" name="TextBox 6"/>
          <p:cNvSpPr txBox="1"/>
          <p:nvPr/>
        </p:nvSpPr>
        <p:spPr>
          <a:xfrm>
            <a:off x="914400" y="3172968"/>
            <a:ext cx="10515600" cy="548640"/>
          </a:xfrm>
          <a:prstGeom prst="rect">
            <a:avLst/>
          </a:prstGeom>
          <a:noFill/>
        </p:spPr>
        <p:txBody>
          <a:bodyPr wrap="square">
            <a:spAutoFit/>
          </a:bodyPr>
          <a:lstStyle/>
          <a:p>
            <a:pPr>
              <a:defRPr sz="1300">
                <a:solidFill>
                  <a:srgbClr val="BBBBBB"/>
                </a:solidFill>
              </a:defRPr>
            </a:pPr>
            <a:r>
              <a:t>Expected Output:        The data has been fully recovered from the snapshot!</a:t>
            </a:r>
          </a:p>
        </p:txBody>
      </p:sp>
      <p:sp>
        <p:nvSpPr>
          <p:cNvPr id="8" name="TextBox 7"/>
          <p:cNvSpPr txBox="1"/>
          <p:nvPr/>
        </p:nvSpPr>
        <p:spPr>
          <a:xfrm>
            <a:off x="914400" y="3630168"/>
            <a:ext cx="10515600" cy="292608"/>
          </a:xfrm>
          <a:prstGeom prst="rect">
            <a:avLst/>
          </a:prstGeom>
          <a:noFill/>
        </p:spPr>
        <p:txBody>
          <a:bodyPr wrap="square">
            <a:spAutoFit/>
          </a:bodyPr>
          <a:lstStyle/>
          <a:p>
            <a:pPr>
              <a:defRPr sz="1300">
                <a:solidFill>
                  <a:srgbClr val="80FF80"/>
                </a:solidFill>
                <a:latin typeface="Courier New"/>
              </a:defRPr>
            </a:pPr>
            <a:r>
              <a:t>GET products/_count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3000" b="1">
                <a:solidFill>
                  <a:srgbClr val="00BBD4"/>
                </a:solidFill>
              </a:defRPr>
            </a:pPr>
            <a:r>
              <a:t>Lab 18: Downsampling Time-Series Data</a:t>
            </a:r>
          </a:p>
        </p:txBody>
      </p:sp>
      <p:sp>
        <p:nvSpPr>
          <p:cNvPr id="3" name="Rectangle 2"/>
          <p:cNvSpPr/>
          <p:nvPr/>
        </p:nvSpPr>
        <p:spPr>
          <a:xfrm>
            <a:off x="731520" y="1371600"/>
            <a:ext cx="10515600" cy="254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2743200" cy="365760"/>
          </a:xfrm>
          <a:prstGeom prst="rect">
            <a:avLst/>
          </a:prstGeom>
          <a:noFill/>
        </p:spPr>
        <p:txBody>
          <a:bodyPr wrap="none">
            <a:spAutoFit/>
          </a:bodyPr>
          <a:lstStyle/>
          <a:p>
            <a:pPr>
              <a:defRPr sz="2200" b="1">
                <a:solidFill>
                  <a:srgbClr val="FFA726"/>
                </a:solidFill>
              </a:defRPr>
            </a:pPr>
            <a:r>
              <a:t>🎯  Goal</a:t>
            </a:r>
          </a:p>
        </p:txBody>
      </p:sp>
      <p:sp>
        <p:nvSpPr>
          <p:cNvPr id="5" name="TextBox 4"/>
          <p:cNvSpPr txBox="1"/>
          <p:nvPr/>
        </p:nvSpPr>
        <p:spPr>
          <a:xfrm>
            <a:off x="1097280" y="2057400"/>
            <a:ext cx="10058400" cy="914400"/>
          </a:xfrm>
          <a:prstGeom prst="rect">
            <a:avLst/>
          </a:prstGeom>
          <a:noFill/>
        </p:spPr>
        <p:txBody>
          <a:bodyPr wrap="square">
            <a:spAutoFit/>
          </a:bodyPr>
          <a:lstStyle/>
          <a:p>
            <a:pPr>
              <a:defRPr sz="1600">
                <a:solidFill>
                  <a:srgbClr val="FFFFFF"/>
                </a:solidFill>
              </a:defRPr>
            </a:pPr>
            <a:r>
              <a:t>Create a time-series data stream with sample metrics, then use a Transform to downsample the granular per-second data into summarized per-minute aggregates.</a:t>
            </a:r>
          </a:p>
        </p:txBody>
      </p:sp>
      <p:sp>
        <p:nvSpPr>
          <p:cNvPr id="6" name="TextBox 5"/>
          <p:cNvSpPr txBox="1"/>
          <p:nvPr/>
        </p:nvSpPr>
        <p:spPr>
          <a:xfrm>
            <a:off x="731520" y="3063240"/>
            <a:ext cx="3657600" cy="365760"/>
          </a:xfrm>
          <a:prstGeom prst="rect">
            <a:avLst/>
          </a:prstGeom>
          <a:noFill/>
        </p:spPr>
        <p:txBody>
          <a:bodyPr wrap="none">
            <a:spAutoFit/>
          </a:bodyPr>
          <a:lstStyle/>
          <a:p>
            <a:pPr>
              <a:defRPr sz="2200" b="1">
                <a:solidFill>
                  <a:srgbClr val="FFA726"/>
                </a:solidFill>
              </a:defRPr>
            </a:pPr>
            <a:r>
              <a:t>📋  Scenario</a:t>
            </a:r>
          </a:p>
        </p:txBody>
      </p:sp>
      <p:sp>
        <p:nvSpPr>
          <p:cNvPr id="7" name="TextBox 6"/>
          <p:cNvSpPr txBox="1"/>
          <p:nvPr/>
        </p:nvSpPr>
        <p:spPr>
          <a:xfrm>
            <a:off x="1097280" y="3474720"/>
            <a:ext cx="10058400" cy="1828800"/>
          </a:xfrm>
          <a:prstGeom prst="rect">
            <a:avLst/>
          </a:prstGeom>
          <a:noFill/>
        </p:spPr>
        <p:txBody>
          <a:bodyPr wrap="square">
            <a:spAutoFit/>
          </a:bodyPr>
          <a:lstStyle/>
          <a:p>
            <a:pPr>
              <a:defRPr sz="1400">
                <a:solidFill>
                  <a:srgbClr val="BBBBBB"/>
                </a:solidFill>
              </a:defRPr>
            </a:pPr>
            <a:r>
              <a:t>Your infrastructure monitoring system is ingesting CPU and memory metrics every second from 3 servers. After 7 days, you don't need per-second granularity anymore — per-minute averages are sufficient. Downsampling reduces storage costs dramatically while preserving analytical value.</a:t>
            </a:r>
          </a:p>
        </p:txBody>
      </p:sp>
      <p:sp>
        <p:nvSpPr>
          <p:cNvPr id="8" name="TextBox 7"/>
          <p:cNvSpPr txBox="1"/>
          <p:nvPr/>
        </p:nvSpPr>
        <p:spPr>
          <a:xfrm>
            <a:off x="731520" y="4846320"/>
            <a:ext cx="3657600" cy="365760"/>
          </a:xfrm>
          <a:prstGeom prst="rect">
            <a:avLst/>
          </a:prstGeom>
          <a:noFill/>
        </p:spPr>
        <p:txBody>
          <a:bodyPr wrap="none">
            <a:spAutoFit/>
          </a:bodyPr>
          <a:lstStyle/>
          <a:p>
            <a:pPr>
              <a:defRPr sz="1800" b="1">
                <a:solidFill>
                  <a:srgbClr val="66BB6A"/>
                </a:solidFill>
              </a:defRPr>
            </a:pPr>
            <a:r>
              <a:t>⚡  Prerequisites</a:t>
            </a:r>
          </a:p>
        </p:txBody>
      </p:sp>
      <p:sp>
        <p:nvSpPr>
          <p:cNvPr id="9" name="TextBox 8"/>
          <p:cNvSpPr txBox="1"/>
          <p:nvPr/>
        </p:nvSpPr>
        <p:spPr>
          <a:xfrm>
            <a:off x="1097280" y="5212080"/>
            <a:ext cx="10058400" cy="731520"/>
          </a:xfrm>
          <a:prstGeom prst="rect">
            <a:avLst/>
          </a:prstGeom>
          <a:noFill/>
        </p:spPr>
        <p:txBody>
          <a:bodyPr wrap="square">
            <a:spAutoFit/>
          </a:bodyPr>
          <a:lstStyle/>
          <a:p>
            <a:pPr>
              <a:defRPr sz="1400">
                <a:solidFill>
                  <a:srgbClr val="BBBBBB"/>
                </a:solidFill>
              </a:defRPr>
            </a:pPr>
            <a:r>
              <a:t>• You must be logged into the Kibana Web UI and have the Dev Tools console open.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18: Downsampling Time-Series Data</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Create a Sample Metrics Index with Timestamped Data</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Expected Output:</a:t>
            </a:r>
          </a:p>
        </p:txBody>
      </p:sp>
      <p:sp>
        <p:nvSpPr>
          <p:cNvPr id="6" name="TextBox 5"/>
          <p:cNvSpPr txBox="1"/>
          <p:nvPr/>
        </p:nvSpPr>
        <p:spPr>
          <a:xfrm>
            <a:off x="914400" y="1737360"/>
            <a:ext cx="10515600" cy="2103120"/>
          </a:xfrm>
          <a:prstGeom prst="rect">
            <a:avLst/>
          </a:prstGeom>
          <a:noFill/>
        </p:spPr>
        <p:txBody>
          <a:bodyPr wrap="square">
            <a:spAutoFit/>
          </a:bodyPr>
          <a:lstStyle/>
          <a:p>
            <a:pPr>
              <a:defRPr sz="1300">
                <a:solidFill>
                  <a:srgbClr val="80FF80"/>
                </a:solidFill>
                <a:latin typeface="Courier New"/>
              </a:defRPr>
            </a:pPr>
            <a:r>
              <a:t>PUT server_metrics</a:t>
            </a:r>
          </a:p>
          <a:p>
            <a:pPr>
              <a:defRPr sz="1300">
                <a:solidFill>
                  <a:srgbClr val="80FF80"/>
                </a:solidFill>
                <a:latin typeface="Courier New"/>
              </a:defRPr>
            </a:pPr>
            <a:r>
              <a:t>{</a:t>
            </a:r>
          </a:p>
          <a:p>
            <a:pPr>
              <a:defRPr sz="1300">
                <a:solidFill>
                  <a:srgbClr val="80FF80"/>
                </a:solidFill>
                <a:latin typeface="Courier New"/>
              </a:defRPr>
            </a:pPr>
            <a:r>
              <a:t>  "mappings": {</a:t>
            </a:r>
          </a:p>
          <a:p>
            <a:pPr>
              <a:defRPr sz="1300">
                <a:solidFill>
                  <a:srgbClr val="80FF80"/>
                </a:solidFill>
                <a:latin typeface="Courier New"/>
              </a:defRPr>
            </a:pPr>
            <a:r>
              <a:t>    "properties": {</a:t>
            </a:r>
          </a:p>
          <a:p>
            <a:pPr>
              <a:defRPr sz="1300">
                <a:solidFill>
                  <a:srgbClr val="80FF80"/>
                </a:solidFill>
                <a:latin typeface="Courier New"/>
              </a:defRPr>
            </a:pPr>
            <a:r>
              <a:t>      "hostname": { "type": "keyword" },</a:t>
            </a:r>
          </a:p>
          <a:p>
            <a:pPr>
              <a:defRPr sz="1300">
                <a:solidFill>
                  <a:srgbClr val="80FF80"/>
                </a:solidFill>
                <a:latin typeface="Courier New"/>
              </a:defRPr>
            </a:pPr>
            <a:r>
              <a:t>      "cpu_percent": { "type": "float" },</a:t>
            </a:r>
          </a:p>
          <a:p>
            <a:pPr>
              <a:defRPr sz="1300">
                <a:solidFill>
                  <a:srgbClr val="80FF80"/>
                </a:solidFill>
                <a:latin typeface="Courier New"/>
              </a:defRPr>
            </a:pPr>
            <a:r>
              <a:t>      "memory_percent": { "type": "float" },</a:t>
            </a:r>
          </a:p>
          <a:p>
            <a:pPr>
              <a:defRPr sz="1300">
                <a:solidFill>
                  <a:srgbClr val="80FF80"/>
                </a:solidFill>
                <a:latin typeface="Courier New"/>
              </a:defRPr>
            </a:pPr>
            <a:r>
              <a:t>      "@timestamp": { "type": "date" }</a:t>
            </a:r>
          </a:p>
          <a:p>
            <a:pPr>
              <a:defRPr sz="1300">
                <a:solidFill>
                  <a:srgbClr val="80FF80"/>
                </a:solidFill>
                <a:latin typeface="Courier New"/>
              </a:defRPr>
            </a:pPr>
            <a:r>
              <a:t>    }</a:t>
            </a:r>
          </a:p>
          <a:p>
            <a:pPr>
              <a:defRPr sz="1300">
                <a:solidFill>
                  <a:srgbClr val="80FF80"/>
                </a:solidFill>
                <a:latin typeface="Courier New"/>
              </a:defRPr>
            </a:pPr>
            <a:r>
              <a:t>  }</a:t>
            </a:r>
          </a:p>
        </p:txBody>
      </p:sp>
      <p:sp>
        <p:nvSpPr>
          <p:cNvPr id="7" name="TextBox 6"/>
          <p:cNvSpPr txBox="1"/>
          <p:nvPr/>
        </p:nvSpPr>
        <p:spPr>
          <a:xfrm>
            <a:off x="457200" y="4069080"/>
            <a:ext cx="10972800" cy="320040"/>
          </a:xfrm>
          <a:prstGeom prst="rect">
            <a:avLst/>
          </a:prstGeom>
          <a:noFill/>
        </p:spPr>
        <p:txBody>
          <a:bodyPr wrap="none">
            <a:spAutoFit/>
          </a:bodyPr>
          <a:lstStyle/>
          <a:p>
            <a:pPr>
              <a:defRPr sz="1700" b="1">
                <a:solidFill>
                  <a:srgbClr val="FFA726"/>
                </a:solidFill>
              </a:defRPr>
            </a:pPr>
            <a:r>
              <a:t>▸  Insert Sample Time-Series Data</a:t>
            </a:r>
          </a:p>
        </p:txBody>
      </p:sp>
      <p:sp>
        <p:nvSpPr>
          <p:cNvPr id="8" name="TextBox 7"/>
          <p:cNvSpPr txBox="1"/>
          <p:nvPr/>
        </p:nvSpPr>
        <p:spPr>
          <a:xfrm>
            <a:off x="914400" y="4434840"/>
            <a:ext cx="10515600" cy="2103120"/>
          </a:xfrm>
          <a:prstGeom prst="rect">
            <a:avLst/>
          </a:prstGeom>
          <a:noFill/>
        </p:spPr>
        <p:txBody>
          <a:bodyPr wrap="square">
            <a:spAutoFit/>
          </a:bodyPr>
          <a:lstStyle/>
          <a:p>
            <a:pPr>
              <a:defRPr sz="1300">
                <a:solidFill>
                  <a:srgbClr val="80FF80"/>
                </a:solidFill>
                <a:latin typeface="Courier New"/>
              </a:defRPr>
            </a:pPr>
            <a:r>
              <a:t>POST server_metrics/_bulk</a:t>
            </a:r>
          </a:p>
          <a:p>
            <a:pPr>
              <a:defRPr sz="1300">
                <a:solidFill>
                  <a:srgbClr val="80FF80"/>
                </a:solidFill>
                <a:latin typeface="Courier New"/>
              </a:defRPr>
            </a:pPr>
            <a:r>
              <a:t>{"index":{}}</a:t>
            </a:r>
          </a:p>
          <a:p>
            <a:pPr>
              <a:defRPr sz="1300">
                <a:solidFill>
                  <a:srgbClr val="80FF80"/>
                </a:solidFill>
                <a:latin typeface="Courier New"/>
              </a:defRPr>
            </a:pPr>
            <a:r>
              <a:t>{"hostname": "web-01", "cpu_percent": 45.2, "memory_percent": 68.1, "@timestamp": "2024-10-15T10:00:00Z"}</a:t>
            </a:r>
          </a:p>
          <a:p>
            <a:pPr>
              <a:defRPr sz="1300">
                <a:solidFill>
                  <a:srgbClr val="80FF80"/>
                </a:solidFill>
                <a:latin typeface="Courier New"/>
              </a:defRPr>
            </a:pPr>
            <a:r>
              <a:t>{"index":{}}</a:t>
            </a:r>
          </a:p>
          <a:p>
            <a:pPr>
              <a:defRPr sz="1300">
                <a:solidFill>
                  <a:srgbClr val="80FF80"/>
                </a:solidFill>
                <a:latin typeface="Courier New"/>
              </a:defRPr>
            </a:pPr>
            <a:r>
              <a:t>{"hostname": "web-01", "cpu_percent": 52.8, "memory_percent": 70.3, "@timestamp": "2024-10-15T10:00:30Z"}</a:t>
            </a:r>
          </a:p>
          <a:p>
            <a:pPr>
              <a:defRPr sz="1300">
                <a:solidFill>
                  <a:srgbClr val="80FF80"/>
                </a:solidFill>
                <a:latin typeface="Courier New"/>
              </a:defRPr>
            </a:pPr>
            <a:r>
              <a:t>{"index":{}}</a:t>
            </a:r>
          </a:p>
          <a:p>
            <a:pPr>
              <a:defRPr sz="1300">
                <a:solidFill>
                  <a:srgbClr val="80FF80"/>
                </a:solidFill>
                <a:latin typeface="Courier New"/>
              </a:defRPr>
            </a:pPr>
            <a:r>
              <a:t>{"hostname": "web-01", "cpu_percent": 48.1, "memory_percent": 69.5, "@timestamp": "2024-10-15T10:01:00Z"}</a:t>
            </a:r>
          </a:p>
          <a:p>
            <a:pPr>
              <a:defRPr sz="1300">
                <a:solidFill>
                  <a:srgbClr val="80FF80"/>
                </a:solidFill>
                <a:latin typeface="Courier New"/>
              </a:defRPr>
            </a:pPr>
            <a:r>
              <a:t>{"index":{}}</a:t>
            </a:r>
          </a:p>
          <a:p>
            <a:pPr>
              <a:defRPr sz="1300">
                <a:solidFill>
                  <a:srgbClr val="80FF80"/>
                </a:solidFill>
                <a:latin typeface="Courier New"/>
              </a:defRPr>
            </a:pPr>
            <a:r>
              <a:t>{"hostname": "web-02", "cpu_percent": 30.5, "memory_percent": 55.2, "@timestamp": "2024-10-15T10:00:00Z"}</a:t>
            </a:r>
          </a:p>
          <a:p>
            <a:pPr>
              <a:defRPr sz="1300">
                <a:solidFill>
                  <a:srgbClr val="80FF80"/>
                </a:solidFill>
                <a:latin typeface="Courier New"/>
              </a:defRPr>
            </a:pPr>
            <a:r>
              <a:t>{"index":{}}</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18: Downsampling Time-Series Data</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Verify the Raw Data</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Expected Output:</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GET server_metrics/_count</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Create a Transform to Downsample</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This Transform groups raw data by hostname and 1-minute time intervals, computing the average, min, and max of CPU and memory metrics. Expected Output:</a:t>
            </a:r>
          </a:p>
        </p:txBody>
      </p:sp>
      <p:sp>
        <p:nvSpPr>
          <p:cNvPr id="9" name="TextBox 8"/>
          <p:cNvSpPr txBox="1"/>
          <p:nvPr/>
        </p:nvSpPr>
        <p:spPr>
          <a:xfrm>
            <a:off x="914400" y="3081527"/>
            <a:ext cx="10515600" cy="2103120"/>
          </a:xfrm>
          <a:prstGeom prst="rect">
            <a:avLst/>
          </a:prstGeom>
          <a:noFill/>
        </p:spPr>
        <p:txBody>
          <a:bodyPr wrap="square">
            <a:spAutoFit/>
          </a:bodyPr>
          <a:lstStyle/>
          <a:p>
            <a:pPr>
              <a:defRPr sz="1300">
                <a:solidFill>
                  <a:srgbClr val="80FF80"/>
                </a:solidFill>
                <a:latin typeface="Courier New"/>
              </a:defRPr>
            </a:pPr>
            <a:r>
              <a:t>PUT _transform/downsample_metrics</a:t>
            </a:r>
          </a:p>
          <a:p>
            <a:pPr>
              <a:defRPr sz="1300">
                <a:solidFill>
                  <a:srgbClr val="80FF80"/>
                </a:solidFill>
                <a:latin typeface="Courier New"/>
              </a:defRPr>
            </a:pPr>
            <a:r>
              <a:t>{</a:t>
            </a:r>
          </a:p>
          <a:p>
            <a:pPr>
              <a:defRPr sz="1300">
                <a:solidFill>
                  <a:srgbClr val="80FF80"/>
                </a:solidFill>
                <a:latin typeface="Courier New"/>
              </a:defRPr>
            </a:pPr>
            <a:r>
              <a:t>  "source": { "index": "server_metrics" },</a:t>
            </a:r>
          </a:p>
          <a:p>
            <a:pPr>
              <a:defRPr sz="1300">
                <a:solidFill>
                  <a:srgbClr val="80FF80"/>
                </a:solidFill>
                <a:latin typeface="Courier New"/>
              </a:defRPr>
            </a:pPr>
            <a:r>
              <a:t>  "dest": { "index": "server_metrics_1m" },</a:t>
            </a:r>
          </a:p>
          <a:p>
            <a:pPr>
              <a:defRPr sz="1300">
                <a:solidFill>
                  <a:srgbClr val="80FF80"/>
                </a:solidFill>
                <a:latin typeface="Courier New"/>
              </a:defRPr>
            </a:pPr>
            <a:r>
              <a:t>  "pivot": {</a:t>
            </a:r>
          </a:p>
          <a:p>
            <a:pPr>
              <a:defRPr sz="1300">
                <a:solidFill>
                  <a:srgbClr val="80FF80"/>
                </a:solidFill>
                <a:latin typeface="Courier New"/>
              </a:defRPr>
            </a:pPr>
            <a:r>
              <a:t>    "group_by": {</a:t>
            </a:r>
          </a:p>
          <a:p>
            <a:pPr>
              <a:defRPr sz="1300">
                <a:solidFill>
                  <a:srgbClr val="80FF80"/>
                </a:solidFill>
                <a:latin typeface="Courier New"/>
              </a:defRPr>
            </a:pPr>
            <a:r>
              <a:t>      "hostname": { "terms": { "field": "hostname" } },</a:t>
            </a:r>
          </a:p>
          <a:p>
            <a:pPr>
              <a:defRPr sz="1300">
                <a:solidFill>
                  <a:srgbClr val="80FF80"/>
                </a:solidFill>
                <a:latin typeface="Courier New"/>
              </a:defRPr>
            </a:pPr>
            <a:r>
              <a:t>      "timestamp": { "date_histogram": { "field": "@timestamp", "fixed_interval": "1m" } }</a:t>
            </a:r>
          </a:p>
          <a:p>
            <a:pPr>
              <a:defRPr sz="1300">
                <a:solidFill>
                  <a:srgbClr val="80FF80"/>
                </a:solidFill>
                <a:latin typeface="Courier New"/>
              </a:defRPr>
            </a:pPr>
            <a:r>
              <a:t>    },</a:t>
            </a:r>
          </a:p>
          <a:p>
            <a:pPr>
              <a:defRPr sz="1300">
                <a:solidFill>
                  <a:srgbClr val="80FF80"/>
                </a:solidFill>
                <a:latin typeface="Courier New"/>
              </a:defRPr>
            </a:pPr>
            <a:r>
              <a:t>    "aggregations": {</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18: Downsampling Time-Series Data</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Start the Transform</a:t>
            </a:r>
          </a:p>
        </p:txBody>
      </p:sp>
      <p:sp>
        <p:nvSpPr>
          <p:cNvPr id="5" name="TextBox 4"/>
          <p:cNvSpPr txBox="1"/>
          <p:nvPr/>
        </p:nvSpPr>
        <p:spPr>
          <a:xfrm>
            <a:off x="914400" y="1280160"/>
            <a:ext cx="10515600" cy="292608"/>
          </a:xfrm>
          <a:prstGeom prst="rect">
            <a:avLst/>
          </a:prstGeom>
          <a:noFill/>
        </p:spPr>
        <p:txBody>
          <a:bodyPr wrap="square">
            <a:spAutoFit/>
          </a:bodyPr>
          <a:lstStyle/>
          <a:p>
            <a:pPr>
              <a:defRPr sz="1300">
                <a:solidFill>
                  <a:srgbClr val="80FF80"/>
                </a:solidFill>
                <a:latin typeface="Courier New"/>
              </a:defRPr>
            </a:pPr>
            <a:r>
              <a:t>POST _transform/downsample_metrics/_start</a:t>
            </a:r>
          </a:p>
        </p:txBody>
      </p:sp>
      <p:sp>
        <p:nvSpPr>
          <p:cNvPr id="6" name="TextBox 5"/>
          <p:cNvSpPr txBox="1"/>
          <p:nvPr/>
        </p:nvSpPr>
        <p:spPr>
          <a:xfrm>
            <a:off x="457200" y="1801367"/>
            <a:ext cx="10972800" cy="320040"/>
          </a:xfrm>
          <a:prstGeom prst="rect">
            <a:avLst/>
          </a:prstGeom>
          <a:noFill/>
        </p:spPr>
        <p:txBody>
          <a:bodyPr wrap="none">
            <a:spAutoFit/>
          </a:bodyPr>
          <a:lstStyle/>
          <a:p>
            <a:pPr>
              <a:defRPr sz="1700" b="1">
                <a:solidFill>
                  <a:srgbClr val="FFA726"/>
                </a:solidFill>
              </a:defRPr>
            </a:pPr>
            <a:r>
              <a:t>▸  Verify the Downsampled Data</a:t>
            </a:r>
          </a:p>
        </p:txBody>
      </p:sp>
      <p:sp>
        <p:nvSpPr>
          <p:cNvPr id="7" name="TextBox 6"/>
          <p:cNvSpPr txBox="1"/>
          <p:nvPr/>
        </p:nvSpPr>
        <p:spPr>
          <a:xfrm>
            <a:off x="914400" y="2167127"/>
            <a:ext cx="10515600" cy="548640"/>
          </a:xfrm>
          <a:prstGeom prst="rect">
            <a:avLst/>
          </a:prstGeom>
          <a:noFill/>
        </p:spPr>
        <p:txBody>
          <a:bodyPr wrap="square">
            <a:spAutoFit/>
          </a:bodyPr>
          <a:lstStyle/>
          <a:p>
            <a:pPr>
              <a:defRPr sz="1300">
                <a:solidFill>
                  <a:srgbClr val="BBBBBB"/>
                </a:solidFill>
              </a:defRPr>
            </a:pPr>
            <a:r>
              <a:t>Wait a few seconds, then query the summarized index: Expected Output (example): 9 raw documents were compressed into ~6 summarized records — one per hostname per minute!</a:t>
            </a:r>
          </a:p>
        </p:txBody>
      </p:sp>
      <p:sp>
        <p:nvSpPr>
          <p:cNvPr id="8" name="TextBox 7"/>
          <p:cNvSpPr txBox="1"/>
          <p:nvPr/>
        </p:nvSpPr>
        <p:spPr>
          <a:xfrm>
            <a:off x="914400" y="2624327"/>
            <a:ext cx="10515600" cy="896112"/>
          </a:xfrm>
          <a:prstGeom prst="rect">
            <a:avLst/>
          </a:prstGeom>
          <a:noFill/>
        </p:spPr>
        <p:txBody>
          <a:bodyPr wrap="square">
            <a:spAutoFit/>
          </a:bodyPr>
          <a:lstStyle/>
          <a:p>
            <a:pPr>
              <a:defRPr sz="1300">
                <a:solidFill>
                  <a:srgbClr val="80FF80"/>
                </a:solidFill>
                <a:latin typeface="Courier New"/>
              </a:defRPr>
            </a:pPr>
            <a:r>
              <a:t>GET server_metrics_1m/_search</a:t>
            </a:r>
          </a:p>
          <a:p>
            <a:pPr>
              <a:defRPr sz="1300">
                <a:solidFill>
                  <a:srgbClr val="80FF80"/>
                </a:solidFill>
                <a:latin typeface="Courier New"/>
              </a:defRPr>
            </a:pPr>
            <a:r>
              <a:t>{</a:t>
            </a:r>
          </a:p>
          <a:p>
            <a:pPr>
              <a:defRPr sz="1300">
                <a:solidFill>
                  <a:srgbClr val="80FF80"/>
                </a:solidFill>
                <a:latin typeface="Courier New"/>
              </a:defRPr>
            </a:pPr>
            <a:r>
              <a:t>  "sort": [{"hostname": "asc"}, {"timestamp": "asc"}]</a:t>
            </a:r>
          </a:p>
          <a:p>
            <a:pPr>
              <a:defRPr sz="1300">
                <a:solidFill>
                  <a:srgbClr val="80FF80"/>
                </a:solidFill>
                <a:latin typeface="Courier New"/>
              </a:defRPr>
            </a:pPr>
            <a:r>
              <a:t>}</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371600"/>
            <a:ext cx="10058400" cy="1097280"/>
          </a:xfrm>
          <a:prstGeom prst="rect">
            <a:avLst/>
          </a:prstGeom>
          <a:noFill/>
        </p:spPr>
        <p:txBody>
          <a:bodyPr wrap="none">
            <a:spAutoFit/>
          </a:bodyPr>
          <a:lstStyle/>
          <a:p>
            <a:pPr algn="ctr">
              <a:defRPr sz="3600" b="1">
                <a:solidFill>
                  <a:srgbClr val="00BBD4"/>
                </a:solidFill>
              </a:defRPr>
            </a:pPr>
            <a:r>
              <a:t>Module 6: REST APIs, Clients, Painless</a:t>
            </a:r>
          </a:p>
        </p:txBody>
      </p:sp>
      <p:sp>
        <p:nvSpPr>
          <p:cNvPr id="3" name="Rectangle 2"/>
          <p:cNvSpPr/>
          <p:nvPr/>
        </p:nvSpPr>
        <p:spPr>
          <a:xfrm>
            <a:off x="2743200" y="2560320"/>
            <a:ext cx="6400800" cy="381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017520"/>
            <a:ext cx="8229600" cy="365760"/>
          </a:xfrm>
          <a:prstGeom prst="rect">
            <a:avLst/>
          </a:prstGeom>
          <a:noFill/>
        </p:spPr>
        <p:txBody>
          <a:bodyPr wrap="none">
            <a:spAutoFit/>
          </a:bodyPr>
          <a:lstStyle/>
          <a:p>
            <a:pPr>
              <a:defRPr sz="2000">
                <a:solidFill>
                  <a:srgbClr val="FFFFFF"/>
                </a:solidFill>
              </a:defRPr>
            </a:pPr>
            <a:r>
              <a:t>Lab 19:  Painless Scripts</a:t>
            </a:r>
          </a:p>
        </p:txBody>
      </p:sp>
      <p:sp>
        <p:nvSpPr>
          <p:cNvPr id="5" name="TextBox 4"/>
          <p:cNvSpPr txBox="1"/>
          <p:nvPr/>
        </p:nvSpPr>
        <p:spPr>
          <a:xfrm>
            <a:off x="1828800" y="3474720"/>
            <a:ext cx="8229600" cy="365760"/>
          </a:xfrm>
          <a:prstGeom prst="rect">
            <a:avLst/>
          </a:prstGeom>
          <a:noFill/>
        </p:spPr>
        <p:txBody>
          <a:bodyPr wrap="none">
            <a:spAutoFit/>
          </a:bodyPr>
          <a:lstStyle/>
          <a:p>
            <a:pPr>
              <a:defRPr sz="2000">
                <a:solidFill>
                  <a:srgbClr val="FFFFFF"/>
                </a:solidFill>
              </a:defRPr>
            </a:pPr>
            <a:r>
              <a:t>Lab 20:  REST API &amp; Python Client</a:t>
            </a:r>
          </a:p>
        </p:txBody>
      </p:sp>
      <p:sp>
        <p:nvSpPr>
          <p:cNvPr id="6" name="TextBox 5"/>
          <p:cNvSpPr txBox="1"/>
          <p:nvPr/>
        </p:nvSpPr>
        <p:spPr>
          <a:xfrm>
            <a:off x="1828800" y="3931920"/>
            <a:ext cx="8229600" cy="365760"/>
          </a:xfrm>
          <a:prstGeom prst="rect">
            <a:avLst/>
          </a:prstGeom>
          <a:noFill/>
        </p:spPr>
        <p:txBody>
          <a:bodyPr wrap="none">
            <a:spAutoFit/>
          </a:bodyPr>
          <a:lstStyle/>
          <a:p>
            <a:pPr>
              <a:defRPr sz="2000">
                <a:solidFill>
                  <a:srgbClr val="FFFFFF"/>
                </a:solidFill>
              </a:defRPr>
            </a:pPr>
            <a:r>
              <a:t>Lab 21:  Plugins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3000" b="1">
                <a:solidFill>
                  <a:srgbClr val="00BBD4"/>
                </a:solidFill>
              </a:defRPr>
            </a:pPr>
            <a:r>
              <a:t>Lab 19: Using Painless Scripts</a:t>
            </a:r>
          </a:p>
        </p:txBody>
      </p:sp>
      <p:sp>
        <p:nvSpPr>
          <p:cNvPr id="3" name="Rectangle 2"/>
          <p:cNvSpPr/>
          <p:nvPr/>
        </p:nvSpPr>
        <p:spPr>
          <a:xfrm>
            <a:off x="731520" y="1371600"/>
            <a:ext cx="10515600" cy="254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2743200" cy="365760"/>
          </a:xfrm>
          <a:prstGeom prst="rect">
            <a:avLst/>
          </a:prstGeom>
          <a:noFill/>
        </p:spPr>
        <p:txBody>
          <a:bodyPr wrap="none">
            <a:spAutoFit/>
          </a:bodyPr>
          <a:lstStyle/>
          <a:p>
            <a:pPr>
              <a:defRPr sz="2200" b="1">
                <a:solidFill>
                  <a:srgbClr val="FFA726"/>
                </a:solidFill>
              </a:defRPr>
            </a:pPr>
            <a:r>
              <a:t>🎯  Goal</a:t>
            </a:r>
          </a:p>
        </p:txBody>
      </p:sp>
      <p:sp>
        <p:nvSpPr>
          <p:cNvPr id="5" name="TextBox 4"/>
          <p:cNvSpPr txBox="1"/>
          <p:nvPr/>
        </p:nvSpPr>
        <p:spPr>
          <a:xfrm>
            <a:off x="1097280" y="2057400"/>
            <a:ext cx="10058400" cy="914400"/>
          </a:xfrm>
          <a:prstGeom prst="rect">
            <a:avLst/>
          </a:prstGeom>
          <a:noFill/>
        </p:spPr>
        <p:txBody>
          <a:bodyPr wrap="square">
            <a:spAutoFit/>
          </a:bodyPr>
          <a:lstStyle/>
          <a:p>
            <a:pPr>
              <a:defRPr sz="1600">
                <a:solidFill>
                  <a:srgbClr val="FFFFFF"/>
                </a:solidFill>
              </a:defRPr>
            </a:pPr>
            <a:r>
              <a:t>Update a document field dynamically using a Painless script without having to pull the document out of Elasticsearch, modify it in application code, and send it back.</a:t>
            </a:r>
          </a:p>
        </p:txBody>
      </p:sp>
      <p:sp>
        <p:nvSpPr>
          <p:cNvPr id="6" name="TextBox 5"/>
          <p:cNvSpPr txBox="1"/>
          <p:nvPr/>
        </p:nvSpPr>
        <p:spPr>
          <a:xfrm>
            <a:off x="731520" y="3063240"/>
            <a:ext cx="3657600" cy="365760"/>
          </a:xfrm>
          <a:prstGeom prst="rect">
            <a:avLst/>
          </a:prstGeom>
          <a:noFill/>
        </p:spPr>
        <p:txBody>
          <a:bodyPr wrap="none">
            <a:spAutoFit/>
          </a:bodyPr>
          <a:lstStyle/>
          <a:p>
            <a:pPr>
              <a:defRPr sz="2200" b="1">
                <a:solidFill>
                  <a:srgbClr val="FFA726"/>
                </a:solidFill>
              </a:defRPr>
            </a:pPr>
            <a:r>
              <a:t>📋  Scenario</a:t>
            </a:r>
          </a:p>
        </p:txBody>
      </p:sp>
      <p:sp>
        <p:nvSpPr>
          <p:cNvPr id="7" name="TextBox 6"/>
          <p:cNvSpPr txBox="1"/>
          <p:nvPr/>
        </p:nvSpPr>
        <p:spPr>
          <a:xfrm>
            <a:off x="1097280" y="3474720"/>
            <a:ext cx="10058400" cy="1828800"/>
          </a:xfrm>
          <a:prstGeom prst="rect">
            <a:avLst/>
          </a:prstGeom>
          <a:noFill/>
        </p:spPr>
        <p:txBody>
          <a:bodyPr wrap="square">
            <a:spAutoFit/>
          </a:bodyPr>
          <a:lstStyle/>
          <a:p>
            <a:pPr>
              <a:defRPr sz="1400">
                <a:solidFill>
                  <a:srgbClr val="BBBBBB"/>
                </a:solidFill>
              </a:defRPr>
            </a:pPr>
            <a:r>
              <a:t>Inflation has hit! You need to increase the price of a specific product ("Running Shoe", ID 1) by a flat amount natively inside the cluster.</a:t>
            </a:r>
          </a:p>
        </p:txBody>
      </p:sp>
      <p:sp>
        <p:nvSpPr>
          <p:cNvPr id="8" name="TextBox 7"/>
          <p:cNvSpPr txBox="1"/>
          <p:nvPr/>
        </p:nvSpPr>
        <p:spPr>
          <a:xfrm>
            <a:off x="731520" y="4846320"/>
            <a:ext cx="3657600" cy="365760"/>
          </a:xfrm>
          <a:prstGeom prst="rect">
            <a:avLst/>
          </a:prstGeom>
          <a:noFill/>
        </p:spPr>
        <p:txBody>
          <a:bodyPr wrap="none">
            <a:spAutoFit/>
          </a:bodyPr>
          <a:lstStyle/>
          <a:p>
            <a:pPr>
              <a:defRPr sz="1800" b="1">
                <a:solidFill>
                  <a:srgbClr val="66BB6A"/>
                </a:solidFill>
              </a:defRPr>
            </a:pPr>
            <a:r>
              <a:t>⚡  Prerequisites</a:t>
            </a:r>
          </a:p>
        </p:txBody>
      </p:sp>
      <p:sp>
        <p:nvSpPr>
          <p:cNvPr id="9" name="TextBox 8"/>
          <p:cNvSpPr txBox="1"/>
          <p:nvPr/>
        </p:nvSpPr>
        <p:spPr>
          <a:xfrm>
            <a:off x="1097280" y="5212080"/>
            <a:ext cx="10058400" cy="731520"/>
          </a:xfrm>
          <a:prstGeom prst="rect">
            <a:avLst/>
          </a:prstGeom>
          <a:noFill/>
        </p:spPr>
        <p:txBody>
          <a:bodyPr wrap="square">
            <a:spAutoFit/>
          </a:bodyPr>
          <a:lstStyle/>
          <a:p>
            <a:pPr>
              <a:defRPr sz="1400">
                <a:solidFill>
                  <a:srgbClr val="BBBBBB"/>
                </a:solidFill>
              </a:defRPr>
            </a:pPr>
            <a:r>
              <a:t>• Completion of Lab 6 (The `products` index must exist).</a:t>
            </a:r>
            <a:br/>
            <a:r>
              <a:t>• You must be logged into the Kibana Web UI and have the Dev Tools console open.</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19: Using Painless Scripts</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Verify Current Price</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Expected Output:</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GET products/_doc/1</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Execute the Update Script</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We use ctx._source to access the document's fields. We also use a parameterized variable markup rather than hardcoding the added value. This enables Elasticsearch to cache the compiled bytecode of the script! Expected Ou</a:t>
            </a:r>
          </a:p>
        </p:txBody>
      </p:sp>
      <p:sp>
        <p:nvSpPr>
          <p:cNvPr id="9" name="TextBox 8"/>
          <p:cNvSpPr txBox="1"/>
          <p:nvPr/>
        </p:nvSpPr>
        <p:spPr>
          <a:xfrm>
            <a:off x="914400" y="3081527"/>
            <a:ext cx="10515600" cy="1499616"/>
          </a:xfrm>
          <a:prstGeom prst="rect">
            <a:avLst/>
          </a:prstGeom>
          <a:noFill/>
        </p:spPr>
        <p:txBody>
          <a:bodyPr wrap="square">
            <a:spAutoFit/>
          </a:bodyPr>
          <a:lstStyle/>
          <a:p>
            <a:pPr>
              <a:defRPr sz="1300">
                <a:solidFill>
                  <a:srgbClr val="80FF80"/>
                </a:solidFill>
                <a:latin typeface="Courier New"/>
              </a:defRPr>
            </a:pPr>
            <a:r>
              <a:t>POST products/_update/1</a:t>
            </a:r>
          </a:p>
          <a:p>
            <a:pPr>
              <a:defRPr sz="1300">
                <a:solidFill>
                  <a:srgbClr val="80FF80"/>
                </a:solidFill>
                <a:latin typeface="Courier New"/>
              </a:defRPr>
            </a:pPr>
            <a:r>
              <a:t>{</a:t>
            </a:r>
          </a:p>
          <a:p>
            <a:pPr>
              <a:defRPr sz="1300">
                <a:solidFill>
                  <a:srgbClr val="80FF80"/>
                </a:solidFill>
                <a:latin typeface="Courier New"/>
              </a:defRPr>
            </a:pPr>
            <a:r>
              <a:t>  "script": {</a:t>
            </a:r>
          </a:p>
          <a:p>
            <a:pPr>
              <a:defRPr sz="1300">
                <a:solidFill>
                  <a:srgbClr val="80FF80"/>
                </a:solidFill>
                <a:latin typeface="Courier New"/>
              </a:defRPr>
            </a:pPr>
            <a:r>
              <a:t>    "source": "ctx._source.price += params.markup",</a:t>
            </a:r>
          </a:p>
          <a:p>
            <a:pPr>
              <a:defRPr sz="1300">
                <a:solidFill>
                  <a:srgbClr val="80FF80"/>
                </a:solidFill>
                <a:latin typeface="Courier New"/>
              </a:defRPr>
            </a:pPr>
            <a:r>
              <a:t>    "params": { "markup": 10 }</a:t>
            </a:r>
          </a:p>
          <a:p>
            <a:pPr>
              <a:defRPr sz="1300">
                <a:solidFill>
                  <a:srgbClr val="80FF80"/>
                </a:solidFill>
                <a:latin typeface="Courier New"/>
              </a:defRPr>
            </a:pPr>
            <a:r>
              <a:t>  }</a:t>
            </a:r>
          </a:p>
          <a:p>
            <a:pPr>
              <a:defRPr sz="1300">
                <a:solidFill>
                  <a:srgbClr val="80FF80"/>
                </a:solidFill>
                <a:latin typeface="Courier New"/>
              </a:defRPr>
            </a:pPr>
            <a:r>
              <a: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19: Using Painless Scripts</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Verify the Increment</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Expected Output: The price increased from 90 to 100!</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GET products/_doc/1</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Conditional Painless Script</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Apply a 20% discount, but ONLY if the current price is above $50. This demonstrates conditional logic inside Painless. Expected Output:</a:t>
            </a:r>
          </a:p>
        </p:txBody>
      </p:sp>
      <p:sp>
        <p:nvSpPr>
          <p:cNvPr id="9" name="TextBox 8"/>
          <p:cNvSpPr txBox="1"/>
          <p:nvPr/>
        </p:nvSpPr>
        <p:spPr>
          <a:xfrm>
            <a:off x="914400" y="3081527"/>
            <a:ext cx="10515600" cy="1499616"/>
          </a:xfrm>
          <a:prstGeom prst="rect">
            <a:avLst/>
          </a:prstGeom>
          <a:noFill/>
        </p:spPr>
        <p:txBody>
          <a:bodyPr wrap="square">
            <a:spAutoFit/>
          </a:bodyPr>
          <a:lstStyle/>
          <a:p>
            <a:pPr>
              <a:defRPr sz="1300">
                <a:solidFill>
                  <a:srgbClr val="80FF80"/>
                </a:solidFill>
                <a:latin typeface="Courier New"/>
              </a:defRPr>
            </a:pPr>
            <a:r>
              <a:t>POST products/_update/1</a:t>
            </a:r>
          </a:p>
          <a:p>
            <a:pPr>
              <a:defRPr sz="1300">
                <a:solidFill>
                  <a:srgbClr val="80FF80"/>
                </a:solidFill>
                <a:latin typeface="Courier New"/>
              </a:defRPr>
            </a:pPr>
            <a:r>
              <a:t>{</a:t>
            </a:r>
          </a:p>
          <a:p>
            <a:pPr>
              <a:defRPr sz="1300">
                <a:solidFill>
                  <a:srgbClr val="80FF80"/>
                </a:solidFill>
                <a:latin typeface="Courier New"/>
              </a:defRPr>
            </a:pPr>
            <a:r>
              <a:t>  "script": {</a:t>
            </a:r>
          </a:p>
          <a:p>
            <a:pPr>
              <a:defRPr sz="1300">
                <a:solidFill>
                  <a:srgbClr val="80FF80"/>
                </a:solidFill>
                <a:latin typeface="Courier New"/>
              </a:defRPr>
            </a:pPr>
            <a:r>
              <a:t>    "source": "if (ctx._source.price &gt; params.threshold) { ctx._source.price = (int)(ctx._source.price * 0.8) }",</a:t>
            </a:r>
          </a:p>
          <a:p>
            <a:pPr>
              <a:defRPr sz="1300">
                <a:solidFill>
                  <a:srgbClr val="80FF80"/>
                </a:solidFill>
                <a:latin typeface="Courier New"/>
              </a:defRPr>
            </a:pPr>
            <a:r>
              <a:t>    "params": { "threshold": 50 }</a:t>
            </a:r>
          </a:p>
          <a:p>
            <a:pPr>
              <a:defRPr sz="1300">
                <a:solidFill>
                  <a:srgbClr val="80FF80"/>
                </a:solidFill>
                <a:latin typeface="Courier New"/>
              </a:defRPr>
            </a:pPr>
            <a:r>
              <a:t>  }</a:t>
            </a:r>
          </a:p>
          <a:p>
            <a:pPr>
              <a:defRPr sz="1300">
                <a:solidFill>
                  <a:srgbClr val="80FF80"/>
                </a:solidFill>
                <a:latin typeface="Courier New"/>
              </a:defRPr>
            </a:pPr>
            <a:r>
              <a: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19: Using Painless Scripts</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Verify the Conditional Update</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Expected Output: The price dropped from 100 to 80 (20% discount applied because 100 &gt; 50).</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GET products/_doc/1</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Painless Script in a Search Query (Script Fields)</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You can also use Painless at search time to compute virtual fields on the fly: This adds a computed price_with_tax field (15% tax) to every result without modifying the stored data.</a:t>
            </a:r>
          </a:p>
        </p:txBody>
      </p:sp>
      <p:sp>
        <p:nvSpPr>
          <p:cNvPr id="9" name="TextBox 8"/>
          <p:cNvSpPr txBox="1"/>
          <p:nvPr/>
        </p:nvSpPr>
        <p:spPr>
          <a:xfrm>
            <a:off x="914400" y="3081527"/>
            <a:ext cx="10515600" cy="2103120"/>
          </a:xfrm>
          <a:prstGeom prst="rect">
            <a:avLst/>
          </a:prstGeom>
          <a:noFill/>
        </p:spPr>
        <p:txBody>
          <a:bodyPr wrap="square">
            <a:spAutoFit/>
          </a:bodyPr>
          <a:lstStyle/>
          <a:p>
            <a:pPr>
              <a:defRPr sz="1300">
                <a:solidFill>
                  <a:srgbClr val="80FF80"/>
                </a:solidFill>
                <a:latin typeface="Courier New"/>
              </a:defRPr>
            </a:pPr>
            <a:r>
              <a:t>GET products/_search</a:t>
            </a:r>
          </a:p>
          <a:p>
            <a:pPr>
              <a:defRPr sz="1300">
                <a:solidFill>
                  <a:srgbClr val="80FF80"/>
                </a:solidFill>
                <a:latin typeface="Courier New"/>
              </a:defRPr>
            </a:pPr>
            <a:r>
              <a:t>{</a:t>
            </a:r>
          </a:p>
          <a:p>
            <a:pPr>
              <a:defRPr sz="1300">
                <a:solidFill>
                  <a:srgbClr val="80FF80"/>
                </a:solidFill>
                <a:latin typeface="Courier New"/>
              </a:defRPr>
            </a:pPr>
            <a:r>
              <a:t>  "query": { "match_all": {} },</a:t>
            </a:r>
          </a:p>
          <a:p>
            <a:pPr>
              <a:defRPr sz="1300">
                <a:solidFill>
                  <a:srgbClr val="80FF80"/>
                </a:solidFill>
                <a:latin typeface="Courier New"/>
              </a:defRPr>
            </a:pPr>
            <a:r>
              <a:t>  "script_fields": {</a:t>
            </a:r>
          </a:p>
          <a:p>
            <a:pPr>
              <a:defRPr sz="1300">
                <a:solidFill>
                  <a:srgbClr val="80FF80"/>
                </a:solidFill>
                <a:latin typeface="Courier New"/>
              </a:defRPr>
            </a:pPr>
            <a:r>
              <a:t>    "price_with_tax": {</a:t>
            </a:r>
          </a:p>
          <a:p>
            <a:pPr>
              <a:defRPr sz="1300">
                <a:solidFill>
                  <a:srgbClr val="80FF80"/>
                </a:solidFill>
                <a:latin typeface="Courier New"/>
              </a:defRPr>
            </a:pPr>
            <a:r>
              <a:t>      "script": {</a:t>
            </a:r>
          </a:p>
          <a:p>
            <a:pPr>
              <a:defRPr sz="1300">
                <a:solidFill>
                  <a:srgbClr val="80FF80"/>
                </a:solidFill>
                <a:latin typeface="Courier New"/>
              </a:defRPr>
            </a:pPr>
            <a:r>
              <a:t>        "source": "doc['price'].value * 1.15"</a:t>
            </a:r>
          </a:p>
          <a:p>
            <a:pPr>
              <a:defRPr sz="1300">
                <a:solidFill>
                  <a:srgbClr val="80FF80"/>
                </a:solidFill>
                <a:latin typeface="Courier New"/>
              </a:defRPr>
            </a:pPr>
            <a:r>
              <a:t>      }</a:t>
            </a:r>
          </a:p>
          <a:p>
            <a:pPr>
              <a:defRPr sz="1300">
                <a:solidFill>
                  <a:srgbClr val="80FF80"/>
                </a:solidFill>
                <a:latin typeface="Courier New"/>
              </a:defRPr>
            </a:pPr>
            <a:r>
              <a:t>    }</a:t>
            </a:r>
          </a:p>
          <a:p>
            <a:pPr>
              <a:defRPr sz="1300">
                <a:solidFill>
                  <a:srgbClr val="80FF80"/>
                </a:solidFill>
                <a:latin typeface="Courier New"/>
              </a:defRPr>
            </a:pPr>
            <a:r>
              <a:t>  }</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3000" b="1">
                <a:solidFill>
                  <a:srgbClr val="00BBD4"/>
                </a:solidFill>
              </a:defRPr>
            </a:pPr>
            <a:r>
              <a:t>Lab 20: REST API Deep Dive &amp; Python Client</a:t>
            </a:r>
          </a:p>
        </p:txBody>
      </p:sp>
      <p:sp>
        <p:nvSpPr>
          <p:cNvPr id="3" name="Rectangle 2"/>
          <p:cNvSpPr/>
          <p:nvPr/>
        </p:nvSpPr>
        <p:spPr>
          <a:xfrm>
            <a:off x="731520" y="1371600"/>
            <a:ext cx="10515600" cy="254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2743200" cy="365760"/>
          </a:xfrm>
          <a:prstGeom prst="rect">
            <a:avLst/>
          </a:prstGeom>
          <a:noFill/>
        </p:spPr>
        <p:txBody>
          <a:bodyPr wrap="none">
            <a:spAutoFit/>
          </a:bodyPr>
          <a:lstStyle/>
          <a:p>
            <a:pPr>
              <a:defRPr sz="2200" b="1">
                <a:solidFill>
                  <a:srgbClr val="FFA726"/>
                </a:solidFill>
              </a:defRPr>
            </a:pPr>
            <a:r>
              <a:t>🎯  Goal</a:t>
            </a:r>
          </a:p>
        </p:txBody>
      </p:sp>
      <p:sp>
        <p:nvSpPr>
          <p:cNvPr id="5" name="TextBox 4"/>
          <p:cNvSpPr txBox="1"/>
          <p:nvPr/>
        </p:nvSpPr>
        <p:spPr>
          <a:xfrm>
            <a:off x="1097280" y="2057400"/>
            <a:ext cx="10058400" cy="914400"/>
          </a:xfrm>
          <a:prstGeom prst="rect">
            <a:avLst/>
          </a:prstGeom>
          <a:noFill/>
        </p:spPr>
        <p:txBody>
          <a:bodyPr wrap="square">
            <a:spAutoFit/>
          </a:bodyPr>
          <a:lstStyle/>
          <a:p>
            <a:pPr>
              <a:defRPr sz="1600">
                <a:solidFill>
                  <a:srgbClr val="FFFFFF"/>
                </a:solidFill>
              </a:defRPr>
            </a:pPr>
            <a:r>
              <a:t>Master the essential Elasticsearch REST APIs beyond basic CRUD, and connect to the cluster programmatically using the official Python client.</a:t>
            </a:r>
          </a:p>
        </p:txBody>
      </p:sp>
      <p:sp>
        <p:nvSpPr>
          <p:cNvPr id="6" name="TextBox 5"/>
          <p:cNvSpPr txBox="1"/>
          <p:nvPr/>
        </p:nvSpPr>
        <p:spPr>
          <a:xfrm>
            <a:off x="731520" y="3063240"/>
            <a:ext cx="3657600" cy="365760"/>
          </a:xfrm>
          <a:prstGeom prst="rect">
            <a:avLst/>
          </a:prstGeom>
          <a:noFill/>
        </p:spPr>
        <p:txBody>
          <a:bodyPr wrap="none">
            <a:spAutoFit/>
          </a:bodyPr>
          <a:lstStyle/>
          <a:p>
            <a:pPr>
              <a:defRPr sz="2200" b="1">
                <a:solidFill>
                  <a:srgbClr val="FFA726"/>
                </a:solidFill>
              </a:defRPr>
            </a:pPr>
            <a:r>
              <a:t>📋  Scenario</a:t>
            </a:r>
          </a:p>
        </p:txBody>
      </p:sp>
      <p:sp>
        <p:nvSpPr>
          <p:cNvPr id="7" name="TextBox 6"/>
          <p:cNvSpPr txBox="1"/>
          <p:nvPr/>
        </p:nvSpPr>
        <p:spPr>
          <a:xfrm>
            <a:off x="1097280" y="3474720"/>
            <a:ext cx="10058400" cy="1828800"/>
          </a:xfrm>
          <a:prstGeom prst="rect">
            <a:avLst/>
          </a:prstGeom>
          <a:noFill/>
        </p:spPr>
        <p:txBody>
          <a:bodyPr wrap="square">
            <a:spAutoFit/>
          </a:bodyPr>
          <a:lstStyle/>
          <a:p>
            <a:pPr>
              <a:defRPr sz="1400">
                <a:solidFill>
                  <a:srgbClr val="BBBBBB"/>
                </a:solidFill>
              </a:defRPr>
            </a:pPr>
            <a:r>
              <a:t>You are building an operations dashboard. You need to programmatically query cluster health, node statistics, and index metadata. Additionally, your data engineering team uses Python and needs a working example of indexing and searching via the official `elasticsearch-py` client library.</a:t>
            </a:r>
          </a:p>
        </p:txBody>
      </p:sp>
      <p:sp>
        <p:nvSpPr>
          <p:cNvPr id="8" name="TextBox 7"/>
          <p:cNvSpPr txBox="1"/>
          <p:nvPr/>
        </p:nvSpPr>
        <p:spPr>
          <a:xfrm>
            <a:off x="731520" y="4846320"/>
            <a:ext cx="3657600" cy="365760"/>
          </a:xfrm>
          <a:prstGeom prst="rect">
            <a:avLst/>
          </a:prstGeom>
          <a:noFill/>
        </p:spPr>
        <p:txBody>
          <a:bodyPr wrap="none">
            <a:spAutoFit/>
          </a:bodyPr>
          <a:lstStyle/>
          <a:p>
            <a:pPr>
              <a:defRPr sz="1800" b="1">
                <a:solidFill>
                  <a:srgbClr val="66BB6A"/>
                </a:solidFill>
              </a:defRPr>
            </a:pPr>
            <a:r>
              <a:t>⚡  Prerequisites</a:t>
            </a:r>
          </a:p>
        </p:txBody>
      </p:sp>
      <p:sp>
        <p:nvSpPr>
          <p:cNvPr id="9" name="TextBox 8"/>
          <p:cNvSpPr txBox="1"/>
          <p:nvPr/>
        </p:nvSpPr>
        <p:spPr>
          <a:xfrm>
            <a:off x="1097280" y="5212080"/>
            <a:ext cx="10058400" cy="731520"/>
          </a:xfrm>
          <a:prstGeom prst="rect">
            <a:avLst/>
          </a:prstGeom>
          <a:noFill/>
        </p:spPr>
        <p:txBody>
          <a:bodyPr wrap="square">
            <a:spAutoFit/>
          </a:bodyPr>
          <a:lstStyle/>
          <a:p>
            <a:pPr>
              <a:defRPr sz="1400">
                <a:solidFill>
                  <a:srgbClr val="BBBBBB"/>
                </a:solidFill>
              </a:defRPr>
            </a:pPr>
            <a:r>
              <a:t>• Completion of Lab 6 (The `products` index must exist with sample data).</a:t>
            </a:r>
            <a:br/>
            <a:r>
              <a:t>• You must be logged into the Kibana Web UI and have the Dev Tools console open.</a:t>
            </a:r>
            <a:br/>
            <a:r>
              <a:t>• Python 3 must be installed on your Ubuntu V</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20: REST API Deep Dive &amp; Python Client</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Cluster Health API</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Expected Output: #### 2. Node Information API Expected Output (key sections): #### 3. Cat APIs (Human-Readable Tables) Expected Output: #### 4. Index Stats API Expected Output: #### 5. Cluster Settings API (View Dynamic </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GET _cluster/health</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Install the Official Client</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 2. Create a Python Script #### 3. Run the Script Expected Output:</a:t>
            </a:r>
          </a:p>
        </p:txBody>
      </p:sp>
      <p:sp>
        <p:nvSpPr>
          <p:cNvPr id="9" name="TextBox 8"/>
          <p:cNvSpPr txBox="1"/>
          <p:nvPr/>
        </p:nvSpPr>
        <p:spPr>
          <a:xfrm>
            <a:off x="914400" y="3081527"/>
            <a:ext cx="10515600" cy="292608"/>
          </a:xfrm>
          <a:prstGeom prst="rect">
            <a:avLst/>
          </a:prstGeom>
          <a:noFill/>
        </p:spPr>
        <p:txBody>
          <a:bodyPr wrap="square">
            <a:spAutoFit/>
          </a:bodyPr>
          <a:lstStyle/>
          <a:p>
            <a:pPr>
              <a:defRPr sz="1300">
                <a:solidFill>
                  <a:srgbClr val="80FF80"/>
                </a:solidFill>
                <a:latin typeface="Courier New"/>
              </a:defRPr>
            </a:pPr>
            <a:r>
              <a:t>pip3 install elasticsearch</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3000" b="1">
                <a:solidFill>
                  <a:srgbClr val="00BBD4"/>
                </a:solidFill>
              </a:defRPr>
            </a:pPr>
            <a:r>
              <a:t>Lab 21: Installing and Managing Plugins</a:t>
            </a:r>
          </a:p>
        </p:txBody>
      </p:sp>
      <p:sp>
        <p:nvSpPr>
          <p:cNvPr id="3" name="Rectangle 2"/>
          <p:cNvSpPr/>
          <p:nvPr/>
        </p:nvSpPr>
        <p:spPr>
          <a:xfrm>
            <a:off x="731520" y="1371600"/>
            <a:ext cx="10515600" cy="254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2743200" cy="365760"/>
          </a:xfrm>
          <a:prstGeom prst="rect">
            <a:avLst/>
          </a:prstGeom>
          <a:noFill/>
        </p:spPr>
        <p:txBody>
          <a:bodyPr wrap="none">
            <a:spAutoFit/>
          </a:bodyPr>
          <a:lstStyle/>
          <a:p>
            <a:pPr>
              <a:defRPr sz="2200" b="1">
                <a:solidFill>
                  <a:srgbClr val="FFA726"/>
                </a:solidFill>
              </a:defRPr>
            </a:pPr>
            <a:r>
              <a:t>🎯  Goal</a:t>
            </a:r>
          </a:p>
        </p:txBody>
      </p:sp>
      <p:sp>
        <p:nvSpPr>
          <p:cNvPr id="5" name="TextBox 4"/>
          <p:cNvSpPr txBox="1"/>
          <p:nvPr/>
        </p:nvSpPr>
        <p:spPr>
          <a:xfrm>
            <a:off x="1097280" y="2057400"/>
            <a:ext cx="10058400" cy="914400"/>
          </a:xfrm>
          <a:prstGeom prst="rect">
            <a:avLst/>
          </a:prstGeom>
          <a:noFill/>
        </p:spPr>
        <p:txBody>
          <a:bodyPr wrap="square">
            <a:spAutoFit/>
          </a:bodyPr>
          <a:lstStyle/>
          <a:p>
            <a:pPr>
              <a:defRPr sz="1600">
                <a:solidFill>
                  <a:srgbClr val="FFFFFF"/>
                </a:solidFill>
              </a:defRPr>
            </a:pPr>
            <a:r>
              <a:t>Install an Elasticsearch plugin, verify it is loaded, and use it in practice. Plugins extend Elasticsearch with custom analyzers, security features, and data processing capabilities.</a:t>
            </a:r>
          </a:p>
        </p:txBody>
      </p:sp>
      <p:sp>
        <p:nvSpPr>
          <p:cNvPr id="6" name="TextBox 5"/>
          <p:cNvSpPr txBox="1"/>
          <p:nvPr/>
        </p:nvSpPr>
        <p:spPr>
          <a:xfrm>
            <a:off x="731520" y="3063240"/>
            <a:ext cx="3657600" cy="365760"/>
          </a:xfrm>
          <a:prstGeom prst="rect">
            <a:avLst/>
          </a:prstGeom>
          <a:noFill/>
        </p:spPr>
        <p:txBody>
          <a:bodyPr wrap="none">
            <a:spAutoFit/>
          </a:bodyPr>
          <a:lstStyle/>
          <a:p>
            <a:pPr>
              <a:defRPr sz="2200" b="1">
                <a:solidFill>
                  <a:srgbClr val="FFA726"/>
                </a:solidFill>
              </a:defRPr>
            </a:pPr>
            <a:r>
              <a:t>📋  Scenario</a:t>
            </a:r>
          </a:p>
        </p:txBody>
      </p:sp>
      <p:sp>
        <p:nvSpPr>
          <p:cNvPr id="7" name="TextBox 6"/>
          <p:cNvSpPr txBox="1"/>
          <p:nvPr/>
        </p:nvSpPr>
        <p:spPr>
          <a:xfrm>
            <a:off x="1097280" y="3474720"/>
            <a:ext cx="10058400" cy="1828800"/>
          </a:xfrm>
          <a:prstGeom prst="rect">
            <a:avLst/>
          </a:prstGeom>
          <a:noFill/>
        </p:spPr>
        <p:txBody>
          <a:bodyPr wrap="square">
            <a:spAutoFit/>
          </a:bodyPr>
          <a:lstStyle/>
          <a:p>
            <a:pPr>
              <a:defRPr sz="1400">
                <a:solidFill>
                  <a:srgbClr val="BBBBBB"/>
                </a:solidFill>
              </a:defRPr>
            </a:pPr>
            <a:r>
              <a:t>Your team needs to index multilingual documents containing Chinese, Japanese, and Korean (CJK) text. The default analyzer doesn't handle CJK tokenization well, so you install the `analysis-icu` plugin which provides the ICU Analyzer for proper Unicode text analysis.</a:t>
            </a:r>
          </a:p>
        </p:txBody>
      </p:sp>
      <p:sp>
        <p:nvSpPr>
          <p:cNvPr id="8" name="TextBox 7"/>
          <p:cNvSpPr txBox="1"/>
          <p:nvPr/>
        </p:nvSpPr>
        <p:spPr>
          <a:xfrm>
            <a:off x="731520" y="4846320"/>
            <a:ext cx="3657600" cy="365760"/>
          </a:xfrm>
          <a:prstGeom prst="rect">
            <a:avLst/>
          </a:prstGeom>
          <a:noFill/>
        </p:spPr>
        <p:txBody>
          <a:bodyPr wrap="none">
            <a:spAutoFit/>
          </a:bodyPr>
          <a:lstStyle/>
          <a:p>
            <a:pPr>
              <a:defRPr sz="1800" b="1">
                <a:solidFill>
                  <a:srgbClr val="66BB6A"/>
                </a:solidFill>
              </a:defRPr>
            </a:pPr>
            <a:r>
              <a:t>⚡  Prerequisites</a:t>
            </a:r>
          </a:p>
        </p:txBody>
      </p:sp>
      <p:sp>
        <p:nvSpPr>
          <p:cNvPr id="9" name="TextBox 8"/>
          <p:cNvSpPr txBox="1"/>
          <p:nvPr/>
        </p:nvSpPr>
        <p:spPr>
          <a:xfrm>
            <a:off x="1097280" y="5212080"/>
            <a:ext cx="10058400" cy="731520"/>
          </a:xfrm>
          <a:prstGeom prst="rect">
            <a:avLst/>
          </a:prstGeom>
          <a:noFill/>
        </p:spPr>
        <p:txBody>
          <a:bodyPr wrap="square">
            <a:spAutoFit/>
          </a:bodyPr>
          <a:lstStyle/>
          <a:p>
            <a:pPr>
              <a:defRPr sz="1400">
                <a:solidFill>
                  <a:srgbClr val="BBBBBB"/>
                </a:solidFill>
              </a:defRPr>
            </a:pPr>
            <a:r>
              <a:t>• You must have `sudo` access on your Ubuntu VM.</a:t>
            </a:r>
            <a:br/>
            <a:r>
              <a:t>• Elasticsearch must be running.</a:t>
            </a:r>
            <a:br/>
            <a:r>
              <a:t>• You must be logged into the Kibana Web UI and have the Dev Tools console open.</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21: Installing and Managing Plugins</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List Currently Installed Plugins</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Expected Output:</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sudo /usr/share/elasticsearch/bin/elasticsearch-plugin list</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Install the ICU Analysis Plugin</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Expected Output:</a:t>
            </a:r>
          </a:p>
        </p:txBody>
      </p:sp>
      <p:sp>
        <p:nvSpPr>
          <p:cNvPr id="9" name="TextBox 8"/>
          <p:cNvSpPr txBox="1"/>
          <p:nvPr/>
        </p:nvSpPr>
        <p:spPr>
          <a:xfrm>
            <a:off x="914400" y="3081527"/>
            <a:ext cx="10515600" cy="292608"/>
          </a:xfrm>
          <a:prstGeom prst="rect">
            <a:avLst/>
          </a:prstGeom>
          <a:noFill/>
        </p:spPr>
        <p:txBody>
          <a:bodyPr wrap="square">
            <a:spAutoFit/>
          </a:bodyPr>
          <a:lstStyle/>
          <a:p>
            <a:pPr>
              <a:defRPr sz="1300">
                <a:solidFill>
                  <a:srgbClr val="80FF80"/>
                </a:solidFill>
                <a:latin typeface="Courier New"/>
              </a:defRPr>
            </a:pPr>
            <a:r>
              <a:t>sudo /usr/share/elasticsearch/bin/elasticsearch-plugin install analysis-icu</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21: Installing and Managing Plugins</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Restart Elasticsearch</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Wait ~30 seconds for the node to come back online.</a:t>
            </a:r>
          </a:p>
        </p:txBody>
      </p:sp>
      <p:sp>
        <p:nvSpPr>
          <p:cNvPr id="6" name="TextBox 5"/>
          <p:cNvSpPr txBox="1"/>
          <p:nvPr/>
        </p:nvSpPr>
        <p:spPr>
          <a:xfrm>
            <a:off x="914400" y="1737360"/>
            <a:ext cx="10515600" cy="292608"/>
          </a:xfrm>
          <a:prstGeom prst="rect">
            <a:avLst/>
          </a:prstGeom>
          <a:noFill/>
        </p:spPr>
        <p:txBody>
          <a:bodyPr wrap="square">
            <a:spAutoFit/>
          </a:bodyPr>
          <a:lstStyle/>
          <a:p>
            <a:pPr>
              <a:defRPr sz="1300">
                <a:solidFill>
                  <a:srgbClr val="80FF80"/>
                </a:solidFill>
                <a:latin typeface="Courier New"/>
              </a:defRPr>
            </a:pPr>
            <a:r>
              <a:t>sudo systemctl restart elasticsearch.service</a:t>
            </a:r>
          </a:p>
        </p:txBody>
      </p:sp>
      <p:sp>
        <p:nvSpPr>
          <p:cNvPr id="7" name="TextBox 6"/>
          <p:cNvSpPr txBox="1"/>
          <p:nvPr/>
        </p:nvSpPr>
        <p:spPr>
          <a:xfrm>
            <a:off x="457200" y="2258568"/>
            <a:ext cx="10972800" cy="320040"/>
          </a:xfrm>
          <a:prstGeom prst="rect">
            <a:avLst/>
          </a:prstGeom>
          <a:noFill/>
        </p:spPr>
        <p:txBody>
          <a:bodyPr wrap="none">
            <a:spAutoFit/>
          </a:bodyPr>
          <a:lstStyle/>
          <a:p>
            <a:pPr>
              <a:defRPr sz="1700" b="1">
                <a:solidFill>
                  <a:srgbClr val="FFA726"/>
                </a:solidFill>
              </a:defRPr>
            </a:pPr>
            <a:r>
              <a:t>▸  Verify the Plugin is Loaded</a:t>
            </a:r>
          </a:p>
        </p:txBody>
      </p:sp>
      <p:sp>
        <p:nvSpPr>
          <p:cNvPr id="8" name="TextBox 7"/>
          <p:cNvSpPr txBox="1"/>
          <p:nvPr/>
        </p:nvSpPr>
        <p:spPr>
          <a:xfrm>
            <a:off x="914400" y="2624327"/>
            <a:ext cx="10515600" cy="548640"/>
          </a:xfrm>
          <a:prstGeom prst="rect">
            <a:avLst/>
          </a:prstGeom>
          <a:noFill/>
        </p:spPr>
        <p:txBody>
          <a:bodyPr wrap="square">
            <a:spAutoFit/>
          </a:bodyPr>
          <a:lstStyle/>
          <a:p>
            <a:pPr>
              <a:defRPr sz="1300">
                <a:solidFill>
                  <a:srgbClr val="BBBBBB"/>
                </a:solidFill>
              </a:defRPr>
            </a:pPr>
            <a:r>
              <a:t>Expected Output: You can also verify from Kibana Dev Tools: Expected Output:</a:t>
            </a:r>
          </a:p>
        </p:txBody>
      </p:sp>
      <p:sp>
        <p:nvSpPr>
          <p:cNvPr id="9" name="TextBox 8"/>
          <p:cNvSpPr txBox="1"/>
          <p:nvPr/>
        </p:nvSpPr>
        <p:spPr>
          <a:xfrm>
            <a:off x="914400" y="3081527"/>
            <a:ext cx="10515600" cy="292608"/>
          </a:xfrm>
          <a:prstGeom prst="rect">
            <a:avLst/>
          </a:prstGeom>
          <a:noFill/>
        </p:spPr>
        <p:txBody>
          <a:bodyPr wrap="square">
            <a:spAutoFit/>
          </a:bodyPr>
          <a:lstStyle/>
          <a:p>
            <a:pPr>
              <a:defRPr sz="1300">
                <a:solidFill>
                  <a:srgbClr val="80FF80"/>
                </a:solidFill>
                <a:latin typeface="Courier New"/>
              </a:defRPr>
            </a:pPr>
            <a:r>
              <a:t>sudo /usr/share/elasticsearch/bin/elasticsearch-plugin list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21: Installing and Managing Plugins</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Test the Default Analyzer vs ICU Analyzer</a:t>
            </a:r>
          </a:p>
        </p:txBody>
      </p:sp>
      <p:sp>
        <p:nvSpPr>
          <p:cNvPr id="5" name="TextBox 4"/>
          <p:cNvSpPr txBox="1"/>
          <p:nvPr/>
        </p:nvSpPr>
        <p:spPr>
          <a:xfrm>
            <a:off x="914400" y="1280160"/>
            <a:ext cx="10515600" cy="548640"/>
          </a:xfrm>
          <a:prstGeom prst="rect">
            <a:avLst/>
          </a:prstGeom>
          <a:noFill/>
        </p:spPr>
        <p:txBody>
          <a:bodyPr wrap="square">
            <a:spAutoFit/>
          </a:bodyPr>
          <a:lstStyle/>
          <a:p>
            <a:pPr>
              <a:defRPr sz="1300">
                <a:solidFill>
                  <a:srgbClr val="BBBBBB"/>
                </a:solidFill>
              </a:defRPr>
            </a:pPr>
            <a:r>
              <a:t>Default analyzer on CJK text: Expected Output: Each character is treated as a separate token (not ideal): ICU analyzer on the same text: Expected Output: Properly tokenized into meaningful words:</a:t>
            </a:r>
          </a:p>
        </p:txBody>
      </p:sp>
      <p:sp>
        <p:nvSpPr>
          <p:cNvPr id="6" name="TextBox 5"/>
          <p:cNvSpPr txBox="1"/>
          <p:nvPr/>
        </p:nvSpPr>
        <p:spPr>
          <a:xfrm>
            <a:off x="914400" y="1737360"/>
            <a:ext cx="10515600" cy="1097280"/>
          </a:xfrm>
          <a:prstGeom prst="rect">
            <a:avLst/>
          </a:prstGeom>
          <a:noFill/>
        </p:spPr>
        <p:txBody>
          <a:bodyPr wrap="square">
            <a:spAutoFit/>
          </a:bodyPr>
          <a:lstStyle/>
          <a:p>
            <a:pPr>
              <a:defRPr sz="1300">
                <a:solidFill>
                  <a:srgbClr val="80FF80"/>
                </a:solidFill>
                <a:latin typeface="Courier New"/>
              </a:defRPr>
            </a:pPr>
            <a:r>
              <a:t>POST _analyze</a:t>
            </a:r>
          </a:p>
          <a:p>
            <a:pPr>
              <a:defRPr sz="1300">
                <a:solidFill>
                  <a:srgbClr val="80FF80"/>
                </a:solidFill>
                <a:latin typeface="Courier New"/>
              </a:defRPr>
            </a:pPr>
            <a:r>
              <a:t>{</a:t>
            </a:r>
          </a:p>
          <a:p>
            <a:pPr>
              <a:defRPr sz="1300">
                <a:solidFill>
                  <a:srgbClr val="80FF80"/>
                </a:solidFill>
                <a:latin typeface="Courier New"/>
              </a:defRPr>
            </a:pPr>
            <a:r>
              <a:t>  "analyzer": "standard",</a:t>
            </a:r>
          </a:p>
          <a:p>
            <a:pPr>
              <a:defRPr sz="1300">
                <a:solidFill>
                  <a:srgbClr val="80FF80"/>
                </a:solidFill>
                <a:latin typeface="Courier New"/>
              </a:defRPr>
            </a:pPr>
            <a:r>
              <a:t>  "text": "東京は日本の首都です"</a:t>
            </a:r>
          </a:p>
          <a:p>
            <a:pPr>
              <a:defRPr sz="1300">
                <a:solidFill>
                  <a:srgbClr val="80FF80"/>
                </a:solidFill>
                <a:latin typeface="Courier New"/>
              </a:defRPr>
            </a:pPr>
            <a:r>
              <a:t>}</a:t>
            </a:r>
          </a:p>
        </p:txBody>
      </p:sp>
      <p:sp>
        <p:nvSpPr>
          <p:cNvPr id="7" name="TextBox 6"/>
          <p:cNvSpPr txBox="1"/>
          <p:nvPr/>
        </p:nvSpPr>
        <p:spPr>
          <a:xfrm>
            <a:off x="457200" y="3063240"/>
            <a:ext cx="10972800" cy="320040"/>
          </a:xfrm>
          <a:prstGeom prst="rect">
            <a:avLst/>
          </a:prstGeom>
          <a:noFill/>
        </p:spPr>
        <p:txBody>
          <a:bodyPr wrap="none">
            <a:spAutoFit/>
          </a:bodyPr>
          <a:lstStyle/>
          <a:p>
            <a:pPr>
              <a:defRPr sz="1700" b="1">
                <a:solidFill>
                  <a:srgbClr val="FFA726"/>
                </a:solidFill>
              </a:defRPr>
            </a:pPr>
            <a:r>
              <a:t>▸  Create an Index Using the ICU Analyzer</a:t>
            </a:r>
          </a:p>
        </p:txBody>
      </p:sp>
      <p:sp>
        <p:nvSpPr>
          <p:cNvPr id="8" name="TextBox 7"/>
          <p:cNvSpPr txBox="1"/>
          <p:nvPr/>
        </p:nvSpPr>
        <p:spPr>
          <a:xfrm>
            <a:off x="914400" y="3429000"/>
            <a:ext cx="10515600" cy="2103120"/>
          </a:xfrm>
          <a:prstGeom prst="rect">
            <a:avLst/>
          </a:prstGeom>
          <a:noFill/>
        </p:spPr>
        <p:txBody>
          <a:bodyPr wrap="square">
            <a:spAutoFit/>
          </a:bodyPr>
          <a:lstStyle/>
          <a:p>
            <a:pPr>
              <a:defRPr sz="1300">
                <a:solidFill>
                  <a:srgbClr val="80FF80"/>
                </a:solidFill>
                <a:latin typeface="Courier New"/>
              </a:defRPr>
            </a:pPr>
            <a:r>
              <a:t>PUT multilingual_docs</a:t>
            </a:r>
          </a:p>
          <a:p>
            <a:pPr>
              <a:defRPr sz="1300">
                <a:solidFill>
                  <a:srgbClr val="80FF80"/>
                </a:solidFill>
                <a:latin typeface="Courier New"/>
              </a:defRPr>
            </a:pPr>
            <a:r>
              <a:t>{</a:t>
            </a:r>
          </a:p>
          <a:p>
            <a:pPr>
              <a:defRPr sz="1300">
                <a:solidFill>
                  <a:srgbClr val="80FF80"/>
                </a:solidFill>
                <a:latin typeface="Courier New"/>
              </a:defRPr>
            </a:pPr>
            <a:r>
              <a:t>  "settings": {</a:t>
            </a:r>
          </a:p>
          <a:p>
            <a:pPr>
              <a:defRPr sz="1300">
                <a:solidFill>
                  <a:srgbClr val="80FF80"/>
                </a:solidFill>
                <a:latin typeface="Courier New"/>
              </a:defRPr>
            </a:pPr>
            <a:r>
              <a:t>    "analysis": {</a:t>
            </a:r>
          </a:p>
          <a:p>
            <a:pPr>
              <a:defRPr sz="1300">
                <a:solidFill>
                  <a:srgbClr val="80FF80"/>
                </a:solidFill>
                <a:latin typeface="Courier New"/>
              </a:defRPr>
            </a:pPr>
            <a:r>
              <a:t>      "analyzer": {</a:t>
            </a:r>
          </a:p>
          <a:p>
            <a:pPr>
              <a:defRPr sz="1300">
                <a:solidFill>
                  <a:srgbClr val="80FF80"/>
                </a:solidFill>
                <a:latin typeface="Courier New"/>
              </a:defRPr>
            </a:pPr>
            <a:r>
              <a:t>        "my_icu": {</a:t>
            </a:r>
          </a:p>
          <a:p>
            <a:pPr>
              <a:defRPr sz="1300">
                <a:solidFill>
                  <a:srgbClr val="80FF80"/>
                </a:solidFill>
                <a:latin typeface="Courier New"/>
              </a:defRPr>
            </a:pPr>
            <a:r>
              <a:t>          "type": "icu_analyzer"</a:t>
            </a:r>
          </a:p>
          <a:p>
            <a:pPr>
              <a:defRPr sz="1300">
                <a:solidFill>
                  <a:srgbClr val="80FF80"/>
                </a:solidFill>
                <a:latin typeface="Courier New"/>
              </a:defRPr>
            </a:pPr>
            <a:r>
              <a:t>        }</a:t>
            </a:r>
          </a:p>
          <a:p>
            <a:pPr>
              <a:defRPr sz="1300">
                <a:solidFill>
                  <a:srgbClr val="80FF80"/>
                </a:solidFill>
                <a:latin typeface="Courier New"/>
              </a:defRPr>
            </a:pPr>
            <a:r>
              <a:t>      }</a:t>
            </a:r>
          </a:p>
          <a:p>
            <a:pPr>
              <a:defRPr sz="1300">
                <a:solidFill>
                  <a:srgbClr val="80FF80"/>
                </a:solidFill>
                <a:latin typeface="Courier New"/>
              </a:defRPr>
            </a:pPr>
            <a:r>
              <a:t>    }</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000" b="1">
                <a:solidFill>
                  <a:srgbClr val="FFFFFF"/>
                </a:solidFill>
              </a:defRPr>
            </a:pPr>
            <a:r>
              <a:t>Lab 21: Installing and Managing Plugins</a:t>
            </a:r>
          </a:p>
        </p:txBody>
      </p:sp>
      <p:sp>
        <p:nvSpPr>
          <p:cNvPr id="3" name="Rectangle 2"/>
          <p:cNvSpPr/>
          <p:nvPr/>
        </p:nvSpPr>
        <p:spPr>
          <a:xfrm>
            <a:off x="457200" y="685800"/>
            <a:ext cx="10972800" cy="12700"/>
          </a:xfrm>
          <a:prstGeom prst="rect">
            <a:avLst/>
          </a:prstGeom>
          <a:solidFill>
            <a:srgbClr val="00B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320040"/>
          </a:xfrm>
          <a:prstGeom prst="rect">
            <a:avLst/>
          </a:prstGeom>
          <a:noFill/>
        </p:spPr>
        <p:txBody>
          <a:bodyPr wrap="none">
            <a:spAutoFit/>
          </a:bodyPr>
          <a:lstStyle/>
          <a:p>
            <a:pPr>
              <a:defRPr sz="1700" b="1">
                <a:solidFill>
                  <a:srgbClr val="FFA726"/>
                </a:solidFill>
              </a:defRPr>
            </a:pPr>
            <a:r>
              <a:t>▸  Index a Multilingual Document</a:t>
            </a:r>
          </a:p>
        </p:txBody>
      </p:sp>
      <p:sp>
        <p:nvSpPr>
          <p:cNvPr id="5" name="TextBox 4"/>
          <p:cNvSpPr txBox="1"/>
          <p:nvPr/>
        </p:nvSpPr>
        <p:spPr>
          <a:xfrm>
            <a:off x="914400" y="1280160"/>
            <a:ext cx="10515600" cy="1097280"/>
          </a:xfrm>
          <a:prstGeom prst="rect">
            <a:avLst/>
          </a:prstGeom>
          <a:noFill/>
        </p:spPr>
        <p:txBody>
          <a:bodyPr wrap="square">
            <a:spAutoFit/>
          </a:bodyPr>
          <a:lstStyle/>
          <a:p>
            <a:pPr>
              <a:defRPr sz="1300">
                <a:solidFill>
                  <a:srgbClr val="80FF80"/>
                </a:solidFill>
                <a:latin typeface="Courier New"/>
              </a:defRPr>
            </a:pPr>
            <a:r>
              <a:t>POST multilingual_docs/_doc/1</a:t>
            </a:r>
          </a:p>
          <a:p>
            <a:pPr>
              <a:defRPr sz="1300">
                <a:solidFill>
                  <a:srgbClr val="80FF80"/>
                </a:solidFill>
                <a:latin typeface="Courier New"/>
              </a:defRPr>
            </a:pPr>
            <a:r>
              <a:t>{</a:t>
            </a:r>
          </a:p>
          <a:p>
            <a:pPr>
              <a:defRPr sz="1300">
                <a:solidFill>
                  <a:srgbClr val="80FF80"/>
                </a:solidFill>
                <a:latin typeface="Courier New"/>
              </a:defRPr>
            </a:pPr>
            <a:r>
              <a:t>  "title": "東京タワーの歴史",</a:t>
            </a:r>
          </a:p>
          <a:p>
            <a:pPr>
              <a:defRPr sz="1300">
                <a:solidFill>
                  <a:srgbClr val="80FF80"/>
                </a:solidFill>
                <a:latin typeface="Courier New"/>
              </a:defRPr>
            </a:pPr>
            <a:r>
              <a:t>  "content": "東京タワーは1958年に完成した電波塔です"</a:t>
            </a:r>
          </a:p>
          <a:p>
            <a:pPr>
              <a:defRPr sz="1300">
                <a:solidFill>
                  <a:srgbClr val="80FF80"/>
                </a:solidFill>
                <a:latin typeface="Courier New"/>
              </a:defRPr>
            </a:pPr>
            <a:r>
              <a:t>}</a:t>
            </a:r>
          </a:p>
        </p:txBody>
      </p:sp>
      <p:sp>
        <p:nvSpPr>
          <p:cNvPr id="6" name="TextBox 5"/>
          <p:cNvSpPr txBox="1"/>
          <p:nvPr/>
        </p:nvSpPr>
        <p:spPr>
          <a:xfrm>
            <a:off x="457200" y="2606040"/>
            <a:ext cx="10972800" cy="320040"/>
          </a:xfrm>
          <a:prstGeom prst="rect">
            <a:avLst/>
          </a:prstGeom>
          <a:noFill/>
        </p:spPr>
        <p:txBody>
          <a:bodyPr wrap="none">
            <a:spAutoFit/>
          </a:bodyPr>
          <a:lstStyle/>
          <a:p>
            <a:pPr>
              <a:defRPr sz="1700" b="1">
                <a:solidFill>
                  <a:srgbClr val="FFA726"/>
                </a:solidFill>
              </a:defRPr>
            </a:pPr>
            <a:r>
              <a:t>▸  Search for It</a:t>
            </a:r>
          </a:p>
        </p:txBody>
      </p:sp>
      <p:sp>
        <p:nvSpPr>
          <p:cNvPr id="7" name="TextBox 6"/>
          <p:cNvSpPr txBox="1"/>
          <p:nvPr/>
        </p:nvSpPr>
        <p:spPr>
          <a:xfrm>
            <a:off x="914400" y="2971800"/>
            <a:ext cx="10515600" cy="548640"/>
          </a:xfrm>
          <a:prstGeom prst="rect">
            <a:avLst/>
          </a:prstGeom>
          <a:noFill/>
        </p:spPr>
        <p:txBody>
          <a:bodyPr wrap="square">
            <a:spAutoFit/>
          </a:bodyPr>
          <a:lstStyle/>
          <a:p>
            <a:pPr>
              <a:defRPr sz="1300">
                <a:solidFill>
                  <a:srgbClr val="BBBBBB"/>
                </a:solidFill>
              </a:defRPr>
            </a:pPr>
            <a:r>
              <a:t>Expected Output:</a:t>
            </a:r>
          </a:p>
        </p:txBody>
      </p:sp>
      <p:sp>
        <p:nvSpPr>
          <p:cNvPr id="8" name="TextBox 7"/>
          <p:cNvSpPr txBox="1"/>
          <p:nvPr/>
        </p:nvSpPr>
        <p:spPr>
          <a:xfrm>
            <a:off x="914400" y="3429000"/>
            <a:ext cx="10515600" cy="896112"/>
          </a:xfrm>
          <a:prstGeom prst="rect">
            <a:avLst/>
          </a:prstGeom>
          <a:noFill/>
        </p:spPr>
        <p:txBody>
          <a:bodyPr wrap="square">
            <a:spAutoFit/>
          </a:bodyPr>
          <a:lstStyle/>
          <a:p>
            <a:pPr>
              <a:defRPr sz="1300">
                <a:solidFill>
                  <a:srgbClr val="80FF80"/>
                </a:solidFill>
                <a:latin typeface="Courier New"/>
              </a:defRPr>
            </a:pPr>
            <a:r>
              <a:t>GET multilingual_docs/_search</a:t>
            </a:r>
          </a:p>
          <a:p>
            <a:pPr>
              <a:defRPr sz="1300">
                <a:solidFill>
                  <a:srgbClr val="80FF80"/>
                </a:solidFill>
                <a:latin typeface="Courier New"/>
              </a:defRPr>
            </a:pPr>
            <a:r>
              <a:t>{</a:t>
            </a:r>
          </a:p>
          <a:p>
            <a:pPr>
              <a:defRPr sz="1300">
                <a:solidFill>
                  <a:srgbClr val="80FF80"/>
                </a:solidFill>
                <a:latin typeface="Courier New"/>
              </a:defRPr>
            </a:pPr>
            <a:r>
              <a:t>  "query": { "match": { "content": "東京" } }</a:t>
            </a:r>
          </a:p>
          <a:p>
            <a:pPr>
              <a:defRPr sz="1300">
                <a:solidFill>
                  <a:srgbClr val="80FF80"/>
                </a:solidFill>
                <a:latin typeface="Courier New"/>
              </a:defRPr>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